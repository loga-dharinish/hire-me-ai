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2F2C1507-CE9F-486A-8478-6515A772C030}">
          <p14:sldIdLst>
            <p14:sldId id="256"/>
            <p14:sldId id="257"/>
            <p14:sldId id="258"/>
            <p14:sldId id="259"/>
            <p14:sldId id="260"/>
            <p14:sldId id="261"/>
            <p14:sldId id="262"/>
          </p14:sldIdLst>
        </p14:section>
        <p14:section name="Untitled Section" id="{1CEE0A96-74BB-4807-8088-29F603487050}">
          <p14:sldIdLst>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47C9BEA-6194-4350-8763-1165BE206493}">
  <a:tblStyle styleId="{447C9BEA-6194-4350-8763-1165BE20649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 name="Google Shape;4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3" name="Google Shape;4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3" name="Google Shape;103;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0" name="Google Shape;120;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7" name="Google Shape;147;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1" name="Google Shape;16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75" name="Google Shape;175;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9" name="Google Shape;219;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20" name="Google Shape;220;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60" name="Google Shape;260;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5" name="Google Shape;275;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76" name="Google Shape;276;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8" name="Google Shape;348;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49" name="Google Shape;349;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7" name="Google Shape;397;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98" name="Google Shape;398;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3" name="Google Shape;463;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64" name="Google Shape;464;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6" name="Google Shape;646;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47" name="Google Shape;647;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0" name="Google Shape;680;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81" name="Google Shape;681;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sp>
        <p:nvSpPr>
          <p:cNvPr id="12" name="Google Shape;12;p3"/>
          <p:cNvSpPr/>
          <p:nvPr/>
        </p:nvSpPr>
        <p:spPr>
          <a:xfrm>
            <a:off x="0" y="0"/>
            <a:ext cx="12191695" cy="201168"/>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3" descr="SRIT__logo.png"/>
          <p:cNvPicPr preferRelativeResize="0"/>
          <p:nvPr/>
        </p:nvPicPr>
        <p:blipFill rotWithShape="1">
          <a:blip r:embed="rId3">
            <a:alphaModFix/>
          </a:blip>
          <a:srcRect/>
          <a:stretch/>
        </p:blipFill>
        <p:spPr>
          <a:xfrm>
            <a:off x="411480" y="292608"/>
            <a:ext cx="822960" cy="822960"/>
          </a:xfrm>
          <a:prstGeom prst="rect">
            <a:avLst/>
          </a:prstGeom>
          <a:noFill/>
          <a:ln>
            <a:noFill/>
          </a:ln>
        </p:spPr>
      </p:pic>
      <p:pic>
        <p:nvPicPr>
          <p:cNvPr id="14" name="Google Shape;14;p3" descr="SNR_tRUST_logo.png"/>
          <p:cNvPicPr preferRelativeResize="0"/>
          <p:nvPr/>
        </p:nvPicPr>
        <p:blipFill rotWithShape="1">
          <a:blip r:embed="rId4">
            <a:alphaModFix/>
          </a:blip>
          <a:srcRect/>
          <a:stretch/>
        </p:blipFill>
        <p:spPr>
          <a:xfrm>
            <a:off x="10957255" y="292608"/>
            <a:ext cx="822960" cy="822960"/>
          </a:xfrm>
          <a:prstGeom prst="rect">
            <a:avLst/>
          </a:prstGeom>
          <a:noFill/>
          <a:ln>
            <a:noFill/>
          </a:ln>
        </p:spPr>
      </p:pic>
      <p:sp>
        <p:nvSpPr>
          <p:cNvPr id="15" name="Google Shape;15;p3"/>
          <p:cNvSpPr/>
          <p:nvPr/>
        </p:nvSpPr>
        <p:spPr>
          <a:xfrm>
            <a:off x="0" y="320040"/>
            <a:ext cx="12191695"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A3A"/>
              </a:buClr>
              <a:buSzPts val="2000"/>
              <a:buFont typeface="Cambria"/>
              <a:buNone/>
            </a:pPr>
            <a:r>
              <a:rPr lang="en-US" sz="2000" b="1" i="0" u="none" strike="noStrike" cap="none">
                <a:solidFill>
                  <a:srgbClr val="1F4A3A"/>
                </a:solidFill>
                <a:latin typeface="Cambria"/>
                <a:ea typeface="Cambria"/>
                <a:cs typeface="Cambria"/>
                <a:sym typeface="Cambria"/>
              </a:rPr>
              <a:t>SRI RAMAKRISHNA INSTITUTE OF TECHNOLOGY</a:t>
            </a:r>
            <a:endParaRPr sz="2000" b="0" i="0" u="none" strike="noStrike" cap="none">
              <a:solidFill>
                <a:schemeClr val="dk1"/>
              </a:solidFill>
              <a:latin typeface="Calibri"/>
              <a:ea typeface="Calibri"/>
              <a:cs typeface="Calibri"/>
              <a:sym typeface="Calibri"/>
            </a:endParaRPr>
          </a:p>
        </p:txBody>
      </p:sp>
      <p:sp>
        <p:nvSpPr>
          <p:cNvPr id="16" name="Google Shape;16;p3"/>
          <p:cNvSpPr/>
          <p:nvPr/>
        </p:nvSpPr>
        <p:spPr>
          <a:xfrm>
            <a:off x="0" y="713232"/>
            <a:ext cx="12191695"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1050"/>
              <a:buFont typeface="Calibri"/>
              <a:buNone/>
            </a:pPr>
            <a:r>
              <a:rPr lang="en-US" sz="1050" b="0" i="1" u="none" strike="noStrike" cap="none">
                <a:solidFill>
                  <a:srgbClr val="6B7B73"/>
                </a:solidFill>
                <a:latin typeface="Calibri"/>
                <a:ea typeface="Calibri"/>
                <a:cs typeface="Calibri"/>
                <a:sym typeface="Calibri"/>
              </a:rPr>
              <a:t>(An Autonomous Institution)  ·  Pachapalayam, Perur Chettipalayam, Coimbatore - 641 010</a:t>
            </a:r>
            <a:endParaRPr sz="1050" b="0" i="0" u="none" strike="noStrike" cap="none">
              <a:solidFill>
                <a:schemeClr val="dk1"/>
              </a:solidFill>
              <a:latin typeface="Calibri"/>
              <a:ea typeface="Calibri"/>
              <a:cs typeface="Calibri"/>
              <a:sym typeface="Calibri"/>
            </a:endParaRPr>
          </a:p>
        </p:txBody>
      </p:sp>
      <p:sp>
        <p:nvSpPr>
          <p:cNvPr id="17" name="Google Shape;17;p3"/>
          <p:cNvSpPr/>
          <p:nvPr/>
        </p:nvSpPr>
        <p:spPr>
          <a:xfrm>
            <a:off x="0" y="960120"/>
            <a:ext cx="12191695"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A3A"/>
              </a:buClr>
              <a:buSzPts val="1250"/>
              <a:buFont typeface="Calibri"/>
              <a:buNone/>
            </a:pPr>
            <a:r>
              <a:rPr lang="en-US" sz="1250" b="1" i="0" u="none" strike="noStrike" cap="none">
                <a:solidFill>
                  <a:srgbClr val="1F4A3A"/>
                </a:solidFill>
                <a:latin typeface="Calibri"/>
                <a:ea typeface="Calibri"/>
                <a:cs typeface="Calibri"/>
                <a:sym typeface="Calibri"/>
              </a:rPr>
              <a:t>DEPARTMENT OF COMPUTER SCIENCE AND ENGINEERING</a:t>
            </a:r>
            <a:endParaRPr sz="1250" b="0" i="0" u="none" strike="noStrike" cap="none">
              <a:solidFill>
                <a:schemeClr val="dk1"/>
              </a:solidFill>
              <a:latin typeface="Calibri"/>
              <a:ea typeface="Calibri"/>
              <a:cs typeface="Calibri"/>
              <a:sym typeface="Calibri"/>
            </a:endParaRPr>
          </a:p>
        </p:txBody>
      </p:sp>
      <p:cxnSp>
        <p:nvCxnSpPr>
          <p:cNvPr id="18" name="Google Shape;18;p3"/>
          <p:cNvCxnSpPr/>
          <p:nvPr/>
        </p:nvCxnSpPr>
        <p:spPr>
          <a:xfrm>
            <a:off x="3200400" y="1316736"/>
            <a:ext cx="5788152" cy="0"/>
          </a:xfrm>
          <a:prstGeom prst="straightConnector1">
            <a:avLst/>
          </a:prstGeom>
          <a:noFill/>
          <a:ln w="15225" cap="flat" cmpd="sng">
            <a:solidFill>
              <a:srgbClr val="C9A841"/>
            </a:solidFill>
            <a:prstDash val="solid"/>
            <a:round/>
            <a:headEnd type="none" w="sm" len="sm"/>
            <a:tailEnd type="none" w="sm" len="sm"/>
          </a:ln>
        </p:spPr>
      </p:cxnSp>
      <p:sp>
        <p:nvSpPr>
          <p:cNvPr id="19" name="Google Shape;19;p3"/>
          <p:cNvSpPr/>
          <p:nvPr/>
        </p:nvSpPr>
        <p:spPr>
          <a:xfrm>
            <a:off x="0" y="1408176"/>
            <a:ext cx="12191695"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200"/>
              <a:buFont typeface="Calibri"/>
              <a:buNone/>
            </a:pPr>
            <a:r>
              <a:rPr lang="en-US" sz="1200" b="0" i="0" u="none" strike="noStrike" cap="none" dirty="0">
                <a:solidFill>
                  <a:srgbClr val="C9A841"/>
                </a:solidFill>
                <a:latin typeface="Calibri"/>
                <a:ea typeface="Calibri"/>
                <a:cs typeface="Calibri"/>
                <a:sym typeface="Calibri"/>
              </a:rPr>
              <a:t>20CS902 — FINAL YEAR PROJECT PHASE I  |  SECOND  REVIEW</a:t>
            </a:r>
            <a:endParaRPr sz="1200" b="0" i="0" u="none" strike="noStrike" cap="none" dirty="0">
              <a:solidFill>
                <a:schemeClr val="dk1"/>
              </a:solidFill>
              <a:latin typeface="Calibri"/>
              <a:ea typeface="Calibri"/>
              <a:cs typeface="Calibri"/>
              <a:sym typeface="Calibri"/>
            </a:endParaRPr>
          </a:p>
        </p:txBody>
      </p:sp>
      <p:sp>
        <p:nvSpPr>
          <p:cNvPr id="20" name="Google Shape;20;p3"/>
          <p:cNvSpPr/>
          <p:nvPr/>
        </p:nvSpPr>
        <p:spPr>
          <a:xfrm>
            <a:off x="914400" y="1810512"/>
            <a:ext cx="10362895" cy="1051560"/>
          </a:xfrm>
          <a:prstGeom prst="roundRect">
            <a:avLst>
              <a:gd name="adj" fmla="val 6957"/>
            </a:avLst>
          </a:prstGeom>
          <a:solidFill>
            <a:srgbClr val="E8F5F0"/>
          </a:solidFill>
          <a:ln w="19050" cap="flat" cmpd="sng">
            <a:solidFill>
              <a:srgbClr val="1F4A3A"/>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005855" y="1860837"/>
            <a:ext cx="9997200" cy="1051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A3A"/>
              </a:buClr>
              <a:buSzPts val="2000"/>
              <a:buFont typeface="Cambria"/>
              <a:buNone/>
            </a:pPr>
            <a:r>
              <a:rPr lang="en-US" sz="2000" b="1" i="1">
                <a:solidFill>
                  <a:srgbClr val="1F4A3A"/>
                </a:solidFill>
                <a:latin typeface="Cambria"/>
                <a:ea typeface="Cambria"/>
                <a:cs typeface="Cambria"/>
                <a:sym typeface="Cambria"/>
              </a:rPr>
              <a:t>AI COLLEGE PLACEMENT INTELLIGENCE PLATFORM</a:t>
            </a:r>
            <a:endParaRPr sz="2000" b="0" i="0" u="none" strike="noStrike" cap="none">
              <a:solidFill>
                <a:schemeClr val="dk1"/>
              </a:solidFill>
              <a:latin typeface="Calibri"/>
              <a:ea typeface="Calibri"/>
              <a:cs typeface="Calibri"/>
              <a:sym typeface="Calibri"/>
            </a:endParaRPr>
          </a:p>
        </p:txBody>
      </p:sp>
      <p:sp>
        <p:nvSpPr>
          <p:cNvPr id="22" name="Google Shape;22;p3"/>
          <p:cNvSpPr/>
          <p:nvPr/>
        </p:nvSpPr>
        <p:spPr>
          <a:xfrm>
            <a:off x="0" y="2926080"/>
            <a:ext cx="12191695"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1200"/>
              <a:buFont typeface="Calibri"/>
              <a:buNone/>
            </a:pPr>
            <a:r>
              <a:rPr lang="en-US" sz="1200" b="0" i="0" u="none" strike="noStrike" cap="none" dirty="0">
                <a:solidFill>
                  <a:srgbClr val="6B7B73"/>
                </a:solidFill>
                <a:latin typeface="Calibri"/>
                <a:ea typeface="Calibri"/>
                <a:cs typeface="Calibri"/>
                <a:sym typeface="Calibri"/>
              </a:rPr>
              <a:t>Batch No: [</a:t>
            </a:r>
            <a:r>
              <a:rPr lang="en-US" sz="1200" dirty="0">
                <a:solidFill>
                  <a:srgbClr val="6B7B73"/>
                </a:solidFill>
                <a:latin typeface="Calibri"/>
                <a:ea typeface="Calibri"/>
                <a:cs typeface="Calibri"/>
                <a:sym typeface="Calibri"/>
              </a:rPr>
              <a:t>06</a:t>
            </a:r>
            <a:r>
              <a:rPr lang="en-US" sz="1200" b="0" i="0" u="none" strike="noStrike" cap="none" dirty="0">
                <a:solidFill>
                  <a:srgbClr val="6B7B73"/>
                </a:solidFill>
                <a:latin typeface="Calibri"/>
                <a:ea typeface="Calibri"/>
                <a:cs typeface="Calibri"/>
                <a:sym typeface="Calibri"/>
              </a:rPr>
              <a:t>]  ·  Review No: [2]</a:t>
            </a:r>
            <a:endParaRPr sz="1200" b="0" i="0" u="none" strike="noStrike" cap="none" dirty="0">
              <a:solidFill>
                <a:schemeClr val="dk1"/>
              </a:solidFill>
              <a:latin typeface="Calibri"/>
              <a:ea typeface="Calibri"/>
              <a:cs typeface="Calibri"/>
              <a:sym typeface="Calibri"/>
            </a:endParaRPr>
          </a:p>
        </p:txBody>
      </p:sp>
      <p:sp>
        <p:nvSpPr>
          <p:cNvPr id="23" name="Google Shape;23;p3"/>
          <p:cNvSpPr/>
          <p:nvPr/>
        </p:nvSpPr>
        <p:spPr>
          <a:xfrm>
            <a:off x="590805" y="3268977"/>
            <a:ext cx="10911600" cy="2377500"/>
          </a:xfrm>
          <a:prstGeom prst="roundRect">
            <a:avLst>
              <a:gd name="adj" fmla="val 3077"/>
            </a:avLst>
          </a:prstGeom>
          <a:solidFill>
            <a:srgbClr val="E8F5F0"/>
          </a:solidFill>
          <a:ln w="12700" cap="flat" cmpd="sng">
            <a:solidFill>
              <a:srgbClr val="D4E2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1005840" y="3456432"/>
            <a:ext cx="4114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841"/>
              </a:buClr>
              <a:buSzPts val="1050"/>
              <a:buFont typeface="Calibri"/>
              <a:buNone/>
            </a:pPr>
            <a:r>
              <a:rPr lang="en-US" sz="1050" b="1" i="0" u="none" strike="noStrike" cap="none">
                <a:solidFill>
                  <a:srgbClr val="C9A841"/>
                </a:solidFill>
                <a:latin typeface="Calibri"/>
                <a:ea typeface="Calibri"/>
                <a:cs typeface="Calibri"/>
                <a:sym typeface="Calibri"/>
              </a:rPr>
              <a:t>PRESENTED BY</a:t>
            </a:r>
            <a:endParaRPr sz="1050" b="0" i="0" u="none" strike="noStrike" cap="none">
              <a:solidFill>
                <a:schemeClr val="dk1"/>
              </a:solidFill>
              <a:latin typeface="Calibri"/>
              <a:ea typeface="Calibri"/>
              <a:cs typeface="Calibri"/>
              <a:sym typeface="Calibri"/>
            </a:endParaRPr>
          </a:p>
        </p:txBody>
      </p:sp>
      <p:sp>
        <p:nvSpPr>
          <p:cNvPr id="25" name="Google Shape;25;p3"/>
          <p:cNvSpPr/>
          <p:nvPr/>
        </p:nvSpPr>
        <p:spPr>
          <a:xfrm>
            <a:off x="1188720" y="3767328"/>
            <a:ext cx="5029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00"/>
              <a:buFont typeface="Calibri"/>
              <a:buNone/>
            </a:pPr>
            <a:r>
              <a:rPr lang="en-US" sz="1200">
                <a:solidFill>
                  <a:srgbClr val="1C2526"/>
                </a:solidFill>
                <a:latin typeface="Calibri"/>
                <a:ea typeface="Calibri"/>
                <a:cs typeface="Calibri"/>
                <a:sym typeface="Calibri"/>
              </a:rPr>
              <a:t>LOGADHARANISH V</a:t>
            </a:r>
            <a:r>
              <a:rPr lang="en-US" sz="1200" b="0" i="0" u="none" strike="noStrike" cap="none">
                <a:solidFill>
                  <a:srgbClr val="1C2526"/>
                </a:solidFill>
                <a:latin typeface="Calibri"/>
                <a:ea typeface="Calibri"/>
                <a:cs typeface="Calibri"/>
                <a:sym typeface="Calibri"/>
              </a:rPr>
              <a:t>  —  </a:t>
            </a:r>
            <a:r>
              <a:rPr lang="en-US" sz="1200">
                <a:solidFill>
                  <a:srgbClr val="1C2526"/>
                </a:solidFill>
                <a:latin typeface="Calibri"/>
                <a:ea typeface="Calibri"/>
                <a:cs typeface="Calibri"/>
                <a:sym typeface="Calibri"/>
              </a:rPr>
              <a:t>71382302086</a:t>
            </a:r>
            <a:endParaRPr sz="1200" b="0" i="0" u="none" strike="noStrike" cap="none">
              <a:solidFill>
                <a:schemeClr val="dk1"/>
              </a:solidFill>
              <a:latin typeface="Calibri"/>
              <a:ea typeface="Calibri"/>
              <a:cs typeface="Calibri"/>
              <a:sym typeface="Calibri"/>
            </a:endParaRPr>
          </a:p>
        </p:txBody>
      </p:sp>
      <p:sp>
        <p:nvSpPr>
          <p:cNvPr id="26" name="Google Shape;26;p3"/>
          <p:cNvSpPr/>
          <p:nvPr/>
        </p:nvSpPr>
        <p:spPr>
          <a:xfrm>
            <a:off x="1188720" y="4187952"/>
            <a:ext cx="5029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00"/>
              <a:buFont typeface="Calibri"/>
              <a:buNone/>
            </a:pPr>
            <a:r>
              <a:rPr lang="en-US" sz="1200">
                <a:solidFill>
                  <a:srgbClr val="1C2526"/>
                </a:solidFill>
                <a:latin typeface="Calibri"/>
                <a:ea typeface="Calibri"/>
                <a:cs typeface="Calibri"/>
                <a:sym typeface="Calibri"/>
              </a:rPr>
              <a:t>LEENASRI J                 </a:t>
            </a:r>
            <a:r>
              <a:rPr lang="en-US" sz="1200" b="0" i="0" u="none" strike="noStrike" cap="none">
                <a:solidFill>
                  <a:srgbClr val="1C2526"/>
                </a:solidFill>
                <a:latin typeface="Calibri"/>
                <a:ea typeface="Calibri"/>
                <a:cs typeface="Calibri"/>
                <a:sym typeface="Calibri"/>
              </a:rPr>
              <a:t> —  </a:t>
            </a:r>
            <a:r>
              <a:rPr lang="en-US" sz="1200">
                <a:solidFill>
                  <a:srgbClr val="1C2526"/>
                </a:solidFill>
                <a:latin typeface="Calibri"/>
                <a:ea typeface="Calibri"/>
                <a:cs typeface="Calibri"/>
                <a:sym typeface="Calibri"/>
              </a:rPr>
              <a:t>71382302085</a:t>
            </a:r>
            <a:endParaRPr sz="1200" b="0" i="0" u="none" strike="noStrike" cap="none">
              <a:solidFill>
                <a:schemeClr val="dk1"/>
              </a:solidFill>
              <a:latin typeface="Calibri"/>
              <a:ea typeface="Calibri"/>
              <a:cs typeface="Calibri"/>
              <a:sym typeface="Calibri"/>
            </a:endParaRPr>
          </a:p>
        </p:txBody>
      </p:sp>
      <p:sp>
        <p:nvSpPr>
          <p:cNvPr id="27" name="Google Shape;27;p3"/>
          <p:cNvSpPr/>
          <p:nvPr/>
        </p:nvSpPr>
        <p:spPr>
          <a:xfrm>
            <a:off x="1188720" y="4608576"/>
            <a:ext cx="5029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00"/>
              <a:buFont typeface="Calibri"/>
              <a:buNone/>
            </a:pPr>
            <a:r>
              <a:rPr lang="en-US" sz="1200">
                <a:solidFill>
                  <a:srgbClr val="1C2526"/>
                </a:solidFill>
                <a:latin typeface="Calibri"/>
                <a:ea typeface="Calibri"/>
                <a:cs typeface="Calibri"/>
                <a:sym typeface="Calibri"/>
              </a:rPr>
              <a:t>MONISHA S                </a:t>
            </a:r>
            <a:r>
              <a:rPr lang="en-US" sz="1200" b="0" i="0" u="none" strike="noStrike" cap="none">
                <a:solidFill>
                  <a:srgbClr val="1C2526"/>
                </a:solidFill>
                <a:latin typeface="Calibri"/>
                <a:ea typeface="Calibri"/>
                <a:cs typeface="Calibri"/>
                <a:sym typeface="Calibri"/>
              </a:rPr>
              <a:t>—  </a:t>
            </a:r>
            <a:r>
              <a:rPr lang="en-US" sz="1200">
                <a:solidFill>
                  <a:srgbClr val="1C2526"/>
                </a:solidFill>
                <a:latin typeface="Calibri"/>
                <a:ea typeface="Calibri"/>
                <a:cs typeface="Calibri"/>
                <a:sym typeface="Calibri"/>
              </a:rPr>
              <a:t>71382302101</a:t>
            </a:r>
            <a:endParaRPr sz="1200" b="0" i="0" u="none" strike="noStrike" cap="none">
              <a:solidFill>
                <a:schemeClr val="dk1"/>
              </a:solidFill>
              <a:latin typeface="Calibri"/>
              <a:ea typeface="Calibri"/>
              <a:cs typeface="Calibri"/>
              <a:sym typeface="Calibri"/>
            </a:endParaRPr>
          </a:p>
        </p:txBody>
      </p:sp>
      <p:sp>
        <p:nvSpPr>
          <p:cNvPr id="28" name="Google Shape;28;p3"/>
          <p:cNvSpPr/>
          <p:nvPr/>
        </p:nvSpPr>
        <p:spPr>
          <a:xfrm>
            <a:off x="1188720" y="5029200"/>
            <a:ext cx="5029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00"/>
              <a:buFont typeface="Calibri"/>
              <a:buNone/>
            </a:pPr>
            <a:r>
              <a:rPr lang="en-US" sz="1200">
                <a:solidFill>
                  <a:srgbClr val="1C2526"/>
                </a:solidFill>
                <a:latin typeface="Calibri"/>
                <a:ea typeface="Calibri"/>
                <a:cs typeface="Calibri"/>
                <a:sym typeface="Calibri"/>
              </a:rPr>
              <a:t>MATHAN K                 </a:t>
            </a:r>
            <a:r>
              <a:rPr lang="en-US" sz="1200" b="0" i="0" u="none" strike="noStrike" cap="none">
                <a:solidFill>
                  <a:srgbClr val="1C2526"/>
                </a:solidFill>
                <a:latin typeface="Calibri"/>
                <a:ea typeface="Calibri"/>
                <a:cs typeface="Calibri"/>
                <a:sym typeface="Calibri"/>
              </a:rPr>
              <a:t> —  </a:t>
            </a:r>
            <a:r>
              <a:rPr lang="en-US" sz="1200">
                <a:solidFill>
                  <a:srgbClr val="1C2526"/>
                </a:solidFill>
                <a:latin typeface="Calibri"/>
                <a:ea typeface="Calibri"/>
                <a:cs typeface="Calibri"/>
                <a:sym typeface="Calibri"/>
              </a:rPr>
              <a:t>71382302092</a:t>
            </a:r>
            <a:endParaRPr sz="1200" b="0" i="0" u="none" strike="noStrike" cap="none">
              <a:solidFill>
                <a:schemeClr val="dk1"/>
              </a:solidFill>
              <a:latin typeface="Calibri"/>
              <a:ea typeface="Calibri"/>
              <a:cs typeface="Calibri"/>
              <a:sym typeface="Calibri"/>
            </a:endParaRPr>
          </a:p>
        </p:txBody>
      </p:sp>
      <p:cxnSp>
        <p:nvCxnSpPr>
          <p:cNvPr id="29" name="Google Shape;29;p3"/>
          <p:cNvCxnSpPr/>
          <p:nvPr/>
        </p:nvCxnSpPr>
        <p:spPr>
          <a:xfrm>
            <a:off x="6675120" y="3456432"/>
            <a:ext cx="0" cy="2011680"/>
          </a:xfrm>
          <a:prstGeom prst="straightConnector1">
            <a:avLst/>
          </a:prstGeom>
          <a:noFill/>
          <a:ln w="12700" cap="flat" cmpd="sng">
            <a:solidFill>
              <a:srgbClr val="D4E2DC"/>
            </a:solidFill>
            <a:prstDash val="solid"/>
            <a:round/>
            <a:headEnd type="none" w="sm" len="sm"/>
            <a:tailEnd type="none" w="sm" len="sm"/>
          </a:ln>
        </p:spPr>
      </p:cxnSp>
      <p:sp>
        <p:nvSpPr>
          <p:cNvPr id="30" name="Google Shape;30;p3"/>
          <p:cNvSpPr/>
          <p:nvPr/>
        </p:nvSpPr>
        <p:spPr>
          <a:xfrm>
            <a:off x="7040880" y="3456432"/>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9A841"/>
              </a:buClr>
              <a:buSzPts val="1050"/>
              <a:buFont typeface="Calibri"/>
              <a:buNone/>
            </a:pPr>
            <a:r>
              <a:rPr lang="en-US" sz="1050" b="1" i="0" u="none" strike="noStrike" cap="none">
                <a:solidFill>
                  <a:srgbClr val="C9A841"/>
                </a:solidFill>
                <a:latin typeface="Calibri"/>
                <a:ea typeface="Calibri"/>
                <a:cs typeface="Calibri"/>
                <a:sym typeface="Calibri"/>
              </a:rPr>
              <a:t>GUIDED BY</a:t>
            </a:r>
            <a:endParaRPr sz="1050" b="0" i="0" u="none" strike="noStrike" cap="none">
              <a:solidFill>
                <a:schemeClr val="dk1"/>
              </a:solidFill>
              <a:latin typeface="Calibri"/>
              <a:ea typeface="Calibri"/>
              <a:cs typeface="Calibri"/>
              <a:sym typeface="Calibri"/>
            </a:endParaRPr>
          </a:p>
        </p:txBody>
      </p:sp>
      <p:sp>
        <p:nvSpPr>
          <p:cNvPr id="31" name="Google Shape;31;p3"/>
          <p:cNvSpPr/>
          <p:nvPr/>
        </p:nvSpPr>
        <p:spPr>
          <a:xfrm>
            <a:off x="7040880" y="3767328"/>
            <a:ext cx="45720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300"/>
              <a:buFont typeface="Calibri"/>
              <a:buNone/>
            </a:pPr>
            <a:r>
              <a:rPr lang="en-US" sz="1300" b="1" dirty="0" err="1">
                <a:solidFill>
                  <a:srgbClr val="1C2526"/>
                </a:solidFill>
                <a:latin typeface="Calibri"/>
                <a:ea typeface="Calibri"/>
                <a:cs typeface="Calibri"/>
                <a:sym typeface="Calibri"/>
              </a:rPr>
              <a:t>Dr.K</a:t>
            </a:r>
            <a:r>
              <a:rPr lang="en-US" sz="1300" b="1">
                <a:solidFill>
                  <a:srgbClr val="1C2526"/>
                </a:solidFill>
                <a:latin typeface="Calibri"/>
                <a:ea typeface="Calibri"/>
                <a:cs typeface="Calibri"/>
                <a:sym typeface="Calibri"/>
              </a:rPr>
              <a:t> </a:t>
            </a:r>
            <a:r>
              <a:rPr lang="en-US" sz="1300" b="1" i="0" u="none" strike="noStrike" cap="none">
                <a:solidFill>
                  <a:srgbClr val="1C2526"/>
                </a:solidFill>
                <a:latin typeface="Calibri"/>
                <a:ea typeface="Calibri"/>
                <a:cs typeface="Calibri"/>
                <a:sym typeface="Calibri"/>
              </a:rPr>
              <a:t>SARANYA</a:t>
            </a:r>
            <a:endParaRPr sz="1300" b="0" i="0" u="none" strike="noStrike" cap="none">
              <a:solidFill>
                <a:schemeClr val="dk1"/>
              </a:solidFill>
              <a:latin typeface="Calibri"/>
              <a:ea typeface="Calibri"/>
              <a:cs typeface="Calibri"/>
              <a:sym typeface="Calibri"/>
            </a:endParaRPr>
          </a:p>
        </p:txBody>
      </p:sp>
      <p:sp>
        <p:nvSpPr>
          <p:cNvPr id="32" name="Google Shape;32;p3"/>
          <p:cNvSpPr/>
          <p:nvPr/>
        </p:nvSpPr>
        <p:spPr>
          <a:xfrm>
            <a:off x="7040880" y="4133088"/>
            <a:ext cx="45720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00"/>
              <a:buFont typeface="Calibri"/>
              <a:buNone/>
            </a:pPr>
            <a:r>
              <a:rPr lang="en-US" sz="1200">
                <a:solidFill>
                  <a:srgbClr val="1C2526"/>
                </a:solidFill>
                <a:latin typeface="Calibri"/>
                <a:ea typeface="Calibri"/>
                <a:cs typeface="Calibri"/>
                <a:sym typeface="Calibri"/>
              </a:rPr>
              <a:t>Assistant Professor(Sr.Gr)</a:t>
            </a:r>
            <a:endParaRPr sz="1200" b="0" i="0" u="none" strike="noStrike" cap="none">
              <a:solidFill>
                <a:schemeClr val="dk1"/>
              </a:solidFill>
              <a:latin typeface="Calibri"/>
              <a:ea typeface="Calibri"/>
              <a:cs typeface="Calibri"/>
              <a:sym typeface="Calibri"/>
            </a:endParaRPr>
          </a:p>
        </p:txBody>
      </p:sp>
      <p:sp>
        <p:nvSpPr>
          <p:cNvPr id="33" name="Google Shape;33;p3"/>
          <p:cNvSpPr/>
          <p:nvPr/>
        </p:nvSpPr>
        <p:spPr>
          <a:xfrm>
            <a:off x="7040880" y="4462272"/>
            <a:ext cx="45720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00"/>
              <a:buFont typeface="Calibri"/>
              <a:buNone/>
            </a:pPr>
            <a:r>
              <a:rPr lang="en-US" sz="1200" b="0" i="0" u="none" strike="noStrike" cap="none">
                <a:solidFill>
                  <a:srgbClr val="1C2526"/>
                </a:solidFill>
                <a:latin typeface="Calibri"/>
                <a:ea typeface="Calibri"/>
                <a:cs typeface="Calibri"/>
                <a:sym typeface="Calibri"/>
              </a:rPr>
              <a:t>Department of CSE</a:t>
            </a:r>
            <a:endParaRPr sz="1200" b="0" i="0" u="none" strike="noStrike" cap="none">
              <a:solidFill>
                <a:schemeClr val="dk1"/>
              </a:solidFill>
              <a:latin typeface="Calibri"/>
              <a:ea typeface="Calibri"/>
              <a:cs typeface="Calibri"/>
              <a:sym typeface="Calibri"/>
            </a:endParaRPr>
          </a:p>
        </p:txBody>
      </p:sp>
      <p:sp>
        <p:nvSpPr>
          <p:cNvPr id="35" name="Google Shape;35;p3"/>
          <p:cNvSpPr/>
          <p:nvPr/>
        </p:nvSpPr>
        <p:spPr>
          <a:xfrm>
            <a:off x="365760" y="6053328"/>
            <a:ext cx="11460175"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6914"/>
              </a:buClr>
              <a:buSzPts val="900"/>
              <a:buFont typeface="Calibri"/>
              <a:buNone/>
            </a:pPr>
            <a:endParaRPr sz="900" b="0" i="0" u="none" strike="noStrike" cap="none" dirty="0">
              <a:solidFill>
                <a:schemeClr val="dk1"/>
              </a:solidFill>
              <a:latin typeface="Calibri"/>
              <a:ea typeface="Calibri"/>
              <a:cs typeface="Calibri"/>
              <a:sym typeface="Calibri"/>
            </a:endParaRPr>
          </a:p>
        </p:txBody>
      </p:sp>
      <p:cxnSp>
        <p:nvCxnSpPr>
          <p:cNvPr id="36" name="Google Shape;36;p3"/>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37" name="Google Shape;37;p3"/>
          <p:cNvSpPr/>
          <p:nvPr/>
        </p:nvSpPr>
        <p:spPr>
          <a:xfrm>
            <a:off x="457200" y="640994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b="0" i="0" u="none" strike="noStrike" cap="none" dirty="0">
                <a:solidFill>
                  <a:srgbClr val="6B7B73"/>
                </a:solidFill>
                <a:latin typeface="Calibri"/>
                <a:ea typeface="Calibri"/>
                <a:cs typeface="Calibri"/>
                <a:sym typeface="Calibri"/>
              </a:rPr>
              <a:t>[</a:t>
            </a:r>
            <a:r>
              <a:rPr lang="en-US" sz="900" dirty="0">
                <a:solidFill>
                  <a:srgbClr val="6B7B73"/>
                </a:solidFill>
                <a:latin typeface="Calibri"/>
                <a:ea typeface="Calibri"/>
                <a:cs typeface="Calibri"/>
                <a:sym typeface="Calibri"/>
              </a:rPr>
              <a:t>30/09/2026</a:t>
            </a:r>
            <a:r>
              <a:rPr lang="en-US" sz="900" b="0" i="0" u="none" strike="noStrike" cap="none" dirty="0">
                <a:solidFill>
                  <a:srgbClr val="6B7B73"/>
                </a:solidFill>
                <a:latin typeface="Calibri"/>
                <a:ea typeface="Calibri"/>
                <a:cs typeface="Calibri"/>
                <a:sym typeface="Calibri"/>
              </a:rPr>
              <a:t>]</a:t>
            </a:r>
            <a:endParaRPr sz="900" b="0" i="0" u="none" strike="noStrike" cap="none" dirty="0">
              <a:solidFill>
                <a:schemeClr val="dk1"/>
              </a:solidFill>
              <a:latin typeface="Calibri"/>
              <a:ea typeface="Calibri"/>
              <a:cs typeface="Calibri"/>
              <a:sym typeface="Calibri"/>
            </a:endParaRPr>
          </a:p>
        </p:txBody>
      </p:sp>
      <p:sp>
        <p:nvSpPr>
          <p:cNvPr id="38" name="Google Shape;38;p3"/>
          <p:cNvSpPr/>
          <p:nvPr/>
        </p:nvSpPr>
        <p:spPr>
          <a:xfrm>
            <a:off x="3426855" y="6409944"/>
            <a:ext cx="5239500" cy="274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39" name="Google Shape;39;p3"/>
          <p:cNvSpPr/>
          <p:nvPr/>
        </p:nvSpPr>
        <p:spPr>
          <a:xfrm>
            <a:off x="11241811" y="6362996"/>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i="0" u="none" strike="noStrike" cap="none">
                <a:solidFill>
                  <a:srgbClr val="1F4A3A"/>
                </a:solidFill>
                <a:latin typeface="Calibri"/>
                <a:ea typeface="Calibri"/>
                <a:cs typeface="Calibri"/>
                <a:sym typeface="Calibri"/>
              </a:rPr>
              <a:t>1</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
        <p:cNvGrpSpPr/>
        <p:nvPr/>
      </p:nvGrpSpPr>
      <p:grpSpPr>
        <a:xfrm>
          <a:off x="0" y="0"/>
          <a:ext cx="0" cy="0"/>
          <a:chOff x="0" y="0"/>
          <a:chExt cx="0" cy="0"/>
        </a:xfrm>
      </p:grpSpPr>
      <p:sp>
        <p:nvSpPr>
          <p:cNvPr id="45" name="Google Shape;45;p4"/>
          <p:cNvSpPr/>
          <p:nvPr/>
        </p:nvSpPr>
        <p:spPr>
          <a:xfrm>
            <a:off x="0" y="0"/>
            <a:ext cx="12191695" cy="164592"/>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502920" y="237744"/>
            <a:ext cx="109728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CONTENTS</a:t>
            </a:r>
            <a:endParaRPr sz="2800">
              <a:solidFill>
                <a:schemeClr val="dk1"/>
              </a:solidFill>
              <a:latin typeface="Calibri"/>
              <a:ea typeface="Calibri"/>
              <a:cs typeface="Calibri"/>
              <a:sym typeface="Calibri"/>
            </a:endParaRPr>
          </a:p>
        </p:txBody>
      </p:sp>
      <p:cxnSp>
        <p:nvCxnSpPr>
          <p:cNvPr id="47" name="Google Shape;47;p4"/>
          <p:cNvCxnSpPr/>
          <p:nvPr/>
        </p:nvCxnSpPr>
        <p:spPr>
          <a:xfrm>
            <a:off x="502920" y="1024128"/>
            <a:ext cx="11185855" cy="0"/>
          </a:xfrm>
          <a:prstGeom prst="straightConnector1">
            <a:avLst/>
          </a:prstGeom>
          <a:noFill/>
          <a:ln w="15225" cap="flat" cmpd="sng">
            <a:solidFill>
              <a:srgbClr val="C9A841"/>
            </a:solidFill>
            <a:prstDash val="solid"/>
            <a:round/>
            <a:headEnd type="none" w="sm" len="sm"/>
            <a:tailEnd type="none" w="sm" len="sm"/>
          </a:ln>
        </p:spPr>
      </p:cxnSp>
      <p:cxnSp>
        <p:nvCxnSpPr>
          <p:cNvPr id="48" name="Google Shape;48;p4"/>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49" name="Google Shape;49;p4"/>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50" name="Google Shape;50;p4"/>
          <p:cNvSpPr/>
          <p:nvPr/>
        </p:nvSpPr>
        <p:spPr>
          <a:xfrm>
            <a:off x="3474720" y="6455664"/>
            <a:ext cx="5239512" cy="27432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51" name="Google Shape;51;p4"/>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
        <p:nvSpPr>
          <p:cNvPr id="52" name="Google Shape;52;p4"/>
          <p:cNvSpPr/>
          <p:nvPr/>
        </p:nvSpPr>
        <p:spPr>
          <a:xfrm>
            <a:off x="502920" y="1188720"/>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630936" y="1307592"/>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630936" y="1307592"/>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01</a:t>
            </a:r>
            <a:endParaRPr sz="1000">
              <a:solidFill>
                <a:schemeClr val="dk1"/>
              </a:solidFill>
              <a:latin typeface="Calibri"/>
              <a:ea typeface="Calibri"/>
              <a:cs typeface="Calibri"/>
              <a:sym typeface="Calibri"/>
            </a:endParaRPr>
          </a:p>
        </p:txBody>
      </p:sp>
      <p:sp>
        <p:nvSpPr>
          <p:cNvPr id="55" name="Google Shape;55;p4"/>
          <p:cNvSpPr/>
          <p:nvPr/>
        </p:nvSpPr>
        <p:spPr>
          <a:xfrm>
            <a:off x="1014984" y="1188720"/>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Abstract</a:t>
            </a:r>
            <a:endParaRPr sz="1250">
              <a:solidFill>
                <a:schemeClr val="dk1"/>
              </a:solidFill>
              <a:latin typeface="Calibri"/>
              <a:ea typeface="Calibri"/>
              <a:cs typeface="Calibri"/>
              <a:sym typeface="Calibri"/>
            </a:endParaRPr>
          </a:p>
        </p:txBody>
      </p:sp>
      <p:sp>
        <p:nvSpPr>
          <p:cNvPr id="56" name="Google Shape;56;p4"/>
          <p:cNvSpPr/>
          <p:nvPr/>
        </p:nvSpPr>
        <p:spPr>
          <a:xfrm>
            <a:off x="502920" y="1810512"/>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a:off x="630936" y="1929384"/>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630936" y="1929384"/>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02</a:t>
            </a:r>
            <a:endParaRPr sz="1000">
              <a:solidFill>
                <a:schemeClr val="dk1"/>
              </a:solidFill>
              <a:latin typeface="Calibri"/>
              <a:ea typeface="Calibri"/>
              <a:cs typeface="Calibri"/>
              <a:sym typeface="Calibri"/>
            </a:endParaRPr>
          </a:p>
        </p:txBody>
      </p:sp>
      <p:sp>
        <p:nvSpPr>
          <p:cNvPr id="59" name="Google Shape;59;p4"/>
          <p:cNvSpPr/>
          <p:nvPr/>
        </p:nvSpPr>
        <p:spPr>
          <a:xfrm>
            <a:off x="1014984" y="1810512"/>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Introduction</a:t>
            </a:r>
            <a:endParaRPr sz="1250">
              <a:solidFill>
                <a:schemeClr val="dk1"/>
              </a:solidFill>
              <a:latin typeface="Calibri"/>
              <a:ea typeface="Calibri"/>
              <a:cs typeface="Calibri"/>
              <a:sym typeface="Calibri"/>
            </a:endParaRPr>
          </a:p>
        </p:txBody>
      </p:sp>
      <p:sp>
        <p:nvSpPr>
          <p:cNvPr id="60" name="Google Shape;60;p4"/>
          <p:cNvSpPr/>
          <p:nvPr/>
        </p:nvSpPr>
        <p:spPr>
          <a:xfrm>
            <a:off x="502920" y="2432304"/>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630936" y="2551176"/>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630936" y="2551176"/>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03</a:t>
            </a:r>
            <a:endParaRPr sz="1000">
              <a:solidFill>
                <a:schemeClr val="dk1"/>
              </a:solidFill>
              <a:latin typeface="Calibri"/>
              <a:ea typeface="Calibri"/>
              <a:cs typeface="Calibri"/>
              <a:sym typeface="Calibri"/>
            </a:endParaRPr>
          </a:p>
        </p:txBody>
      </p:sp>
      <p:sp>
        <p:nvSpPr>
          <p:cNvPr id="63" name="Google Shape;63;p4"/>
          <p:cNvSpPr/>
          <p:nvPr/>
        </p:nvSpPr>
        <p:spPr>
          <a:xfrm>
            <a:off x="1014984" y="2432304"/>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Literature Survey</a:t>
            </a:r>
            <a:endParaRPr sz="1250">
              <a:solidFill>
                <a:schemeClr val="dk1"/>
              </a:solidFill>
              <a:latin typeface="Calibri"/>
              <a:ea typeface="Calibri"/>
              <a:cs typeface="Calibri"/>
              <a:sym typeface="Calibri"/>
            </a:endParaRPr>
          </a:p>
        </p:txBody>
      </p:sp>
      <p:sp>
        <p:nvSpPr>
          <p:cNvPr id="64" name="Google Shape;64;p4"/>
          <p:cNvSpPr/>
          <p:nvPr/>
        </p:nvSpPr>
        <p:spPr>
          <a:xfrm>
            <a:off x="502920" y="3054096"/>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630936" y="3172968"/>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630936" y="3172968"/>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04</a:t>
            </a:r>
            <a:endParaRPr sz="1000">
              <a:solidFill>
                <a:schemeClr val="dk1"/>
              </a:solidFill>
              <a:latin typeface="Calibri"/>
              <a:ea typeface="Calibri"/>
              <a:cs typeface="Calibri"/>
              <a:sym typeface="Calibri"/>
            </a:endParaRPr>
          </a:p>
        </p:txBody>
      </p:sp>
      <p:sp>
        <p:nvSpPr>
          <p:cNvPr id="67" name="Google Shape;67;p4"/>
          <p:cNvSpPr/>
          <p:nvPr/>
        </p:nvSpPr>
        <p:spPr>
          <a:xfrm>
            <a:off x="1014984" y="3054096"/>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Existing Method (Base Paper Work)</a:t>
            </a:r>
            <a:endParaRPr sz="1250">
              <a:solidFill>
                <a:schemeClr val="dk1"/>
              </a:solidFill>
              <a:latin typeface="Calibri"/>
              <a:ea typeface="Calibri"/>
              <a:cs typeface="Calibri"/>
              <a:sym typeface="Calibri"/>
            </a:endParaRPr>
          </a:p>
        </p:txBody>
      </p:sp>
      <p:sp>
        <p:nvSpPr>
          <p:cNvPr id="68" name="Google Shape;68;p4"/>
          <p:cNvSpPr/>
          <p:nvPr/>
        </p:nvSpPr>
        <p:spPr>
          <a:xfrm>
            <a:off x="502920" y="3675888"/>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630936" y="3794760"/>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630936" y="379476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05</a:t>
            </a:r>
            <a:endParaRPr sz="1000">
              <a:solidFill>
                <a:schemeClr val="dk1"/>
              </a:solidFill>
              <a:latin typeface="Calibri"/>
              <a:ea typeface="Calibri"/>
              <a:cs typeface="Calibri"/>
              <a:sym typeface="Calibri"/>
            </a:endParaRPr>
          </a:p>
        </p:txBody>
      </p:sp>
      <p:sp>
        <p:nvSpPr>
          <p:cNvPr id="71" name="Google Shape;71;p4"/>
          <p:cNvSpPr/>
          <p:nvPr/>
        </p:nvSpPr>
        <p:spPr>
          <a:xfrm>
            <a:off x="1014984" y="3675888"/>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Proposed Method / Algorithm / Novelty</a:t>
            </a:r>
            <a:endParaRPr sz="1250">
              <a:solidFill>
                <a:schemeClr val="dk1"/>
              </a:solidFill>
              <a:latin typeface="Calibri"/>
              <a:ea typeface="Calibri"/>
              <a:cs typeface="Calibri"/>
              <a:sym typeface="Calibri"/>
            </a:endParaRPr>
          </a:p>
        </p:txBody>
      </p:sp>
      <p:sp>
        <p:nvSpPr>
          <p:cNvPr id="72" name="Google Shape;72;p4"/>
          <p:cNvSpPr/>
          <p:nvPr/>
        </p:nvSpPr>
        <p:spPr>
          <a:xfrm>
            <a:off x="502920" y="4297680"/>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630936" y="4416552"/>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630936" y="4416552"/>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06</a:t>
            </a:r>
            <a:endParaRPr sz="1000">
              <a:solidFill>
                <a:schemeClr val="dk1"/>
              </a:solidFill>
              <a:latin typeface="Calibri"/>
              <a:ea typeface="Calibri"/>
              <a:cs typeface="Calibri"/>
              <a:sym typeface="Calibri"/>
            </a:endParaRPr>
          </a:p>
        </p:txBody>
      </p:sp>
      <p:sp>
        <p:nvSpPr>
          <p:cNvPr id="75" name="Google Shape;75;p4"/>
          <p:cNvSpPr/>
          <p:nvPr/>
        </p:nvSpPr>
        <p:spPr>
          <a:xfrm>
            <a:off x="1014984" y="4297680"/>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Flow Diagram / Block Diagram</a:t>
            </a:r>
            <a:endParaRPr sz="1250">
              <a:solidFill>
                <a:schemeClr val="dk1"/>
              </a:solidFill>
              <a:latin typeface="Calibri"/>
              <a:ea typeface="Calibri"/>
              <a:cs typeface="Calibri"/>
              <a:sym typeface="Calibri"/>
            </a:endParaRPr>
          </a:p>
        </p:txBody>
      </p:sp>
      <p:sp>
        <p:nvSpPr>
          <p:cNvPr id="76" name="Google Shape;76;p4"/>
          <p:cNvSpPr/>
          <p:nvPr/>
        </p:nvSpPr>
        <p:spPr>
          <a:xfrm>
            <a:off x="5779008" y="1188720"/>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5907024" y="1307592"/>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a:off x="5907024" y="1307592"/>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07</a:t>
            </a:r>
            <a:endParaRPr sz="1000">
              <a:solidFill>
                <a:schemeClr val="dk1"/>
              </a:solidFill>
              <a:latin typeface="Calibri"/>
              <a:ea typeface="Calibri"/>
              <a:cs typeface="Calibri"/>
              <a:sym typeface="Calibri"/>
            </a:endParaRPr>
          </a:p>
        </p:txBody>
      </p:sp>
      <p:sp>
        <p:nvSpPr>
          <p:cNvPr id="79" name="Google Shape;79;p4"/>
          <p:cNvSpPr/>
          <p:nvPr/>
        </p:nvSpPr>
        <p:spPr>
          <a:xfrm>
            <a:off x="6291072" y="1188720"/>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Hardware / Software / Tools Used</a:t>
            </a:r>
            <a:endParaRPr sz="1250">
              <a:solidFill>
                <a:schemeClr val="dk1"/>
              </a:solidFill>
              <a:latin typeface="Calibri"/>
              <a:ea typeface="Calibri"/>
              <a:cs typeface="Calibri"/>
              <a:sym typeface="Calibri"/>
            </a:endParaRPr>
          </a:p>
        </p:txBody>
      </p:sp>
      <p:sp>
        <p:nvSpPr>
          <p:cNvPr id="80" name="Google Shape;80;p4"/>
          <p:cNvSpPr/>
          <p:nvPr/>
        </p:nvSpPr>
        <p:spPr>
          <a:xfrm>
            <a:off x="5779008" y="1810512"/>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a:off x="5907024" y="1929384"/>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
          <p:cNvSpPr/>
          <p:nvPr/>
        </p:nvSpPr>
        <p:spPr>
          <a:xfrm>
            <a:off x="5907024" y="1929384"/>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08</a:t>
            </a:r>
            <a:endParaRPr sz="1000">
              <a:solidFill>
                <a:schemeClr val="dk1"/>
              </a:solidFill>
              <a:latin typeface="Calibri"/>
              <a:ea typeface="Calibri"/>
              <a:cs typeface="Calibri"/>
              <a:sym typeface="Calibri"/>
            </a:endParaRPr>
          </a:p>
        </p:txBody>
      </p:sp>
      <p:sp>
        <p:nvSpPr>
          <p:cNvPr id="83" name="Google Shape;83;p4"/>
          <p:cNvSpPr/>
          <p:nvPr/>
        </p:nvSpPr>
        <p:spPr>
          <a:xfrm>
            <a:off x="6291072" y="1810512"/>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Expected Outcome</a:t>
            </a:r>
            <a:endParaRPr sz="1250">
              <a:solidFill>
                <a:schemeClr val="dk1"/>
              </a:solidFill>
              <a:latin typeface="Calibri"/>
              <a:ea typeface="Calibri"/>
              <a:cs typeface="Calibri"/>
              <a:sym typeface="Calibri"/>
            </a:endParaRPr>
          </a:p>
        </p:txBody>
      </p:sp>
      <p:sp>
        <p:nvSpPr>
          <p:cNvPr id="84" name="Google Shape;84;p4"/>
          <p:cNvSpPr/>
          <p:nvPr/>
        </p:nvSpPr>
        <p:spPr>
          <a:xfrm>
            <a:off x="5779008" y="2432304"/>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5907024" y="2551176"/>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4"/>
          <p:cNvSpPr/>
          <p:nvPr/>
        </p:nvSpPr>
        <p:spPr>
          <a:xfrm>
            <a:off x="5907024" y="2551176"/>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09</a:t>
            </a:r>
            <a:endParaRPr sz="1000">
              <a:solidFill>
                <a:schemeClr val="dk1"/>
              </a:solidFill>
              <a:latin typeface="Calibri"/>
              <a:ea typeface="Calibri"/>
              <a:cs typeface="Calibri"/>
              <a:sym typeface="Calibri"/>
            </a:endParaRPr>
          </a:p>
        </p:txBody>
      </p:sp>
      <p:sp>
        <p:nvSpPr>
          <p:cNvPr id="87" name="Google Shape;87;p4"/>
          <p:cNvSpPr/>
          <p:nvPr/>
        </p:nvSpPr>
        <p:spPr>
          <a:xfrm>
            <a:off x="6291072" y="2432304"/>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Project Mapping with SDGs</a:t>
            </a:r>
            <a:endParaRPr sz="1250">
              <a:solidFill>
                <a:schemeClr val="dk1"/>
              </a:solidFill>
              <a:latin typeface="Calibri"/>
              <a:ea typeface="Calibri"/>
              <a:cs typeface="Calibri"/>
              <a:sym typeface="Calibri"/>
            </a:endParaRPr>
          </a:p>
        </p:txBody>
      </p:sp>
      <p:sp>
        <p:nvSpPr>
          <p:cNvPr id="88" name="Google Shape;88;p4"/>
          <p:cNvSpPr/>
          <p:nvPr/>
        </p:nvSpPr>
        <p:spPr>
          <a:xfrm>
            <a:off x="5779008" y="3054096"/>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5907024" y="3172968"/>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a:off x="5907024" y="3172968"/>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10</a:t>
            </a:r>
            <a:endParaRPr sz="1000">
              <a:solidFill>
                <a:schemeClr val="dk1"/>
              </a:solidFill>
              <a:latin typeface="Calibri"/>
              <a:ea typeface="Calibri"/>
              <a:cs typeface="Calibri"/>
              <a:sym typeface="Calibri"/>
            </a:endParaRPr>
          </a:p>
        </p:txBody>
      </p:sp>
      <p:sp>
        <p:nvSpPr>
          <p:cNvPr id="91" name="Google Shape;91;p4"/>
          <p:cNvSpPr/>
          <p:nvPr/>
        </p:nvSpPr>
        <p:spPr>
          <a:xfrm>
            <a:off x="6291072" y="3054096"/>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Gantt Chart (July – September)</a:t>
            </a:r>
            <a:endParaRPr sz="1250">
              <a:solidFill>
                <a:schemeClr val="dk1"/>
              </a:solidFill>
              <a:latin typeface="Calibri"/>
              <a:ea typeface="Calibri"/>
              <a:cs typeface="Calibri"/>
              <a:sym typeface="Calibri"/>
            </a:endParaRPr>
          </a:p>
        </p:txBody>
      </p:sp>
      <p:sp>
        <p:nvSpPr>
          <p:cNvPr id="92" name="Google Shape;92;p4"/>
          <p:cNvSpPr/>
          <p:nvPr/>
        </p:nvSpPr>
        <p:spPr>
          <a:xfrm>
            <a:off x="5779008" y="3675888"/>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a:off x="5907024" y="3794760"/>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5907024" y="3794760"/>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11</a:t>
            </a:r>
            <a:endParaRPr sz="1000">
              <a:solidFill>
                <a:schemeClr val="dk1"/>
              </a:solidFill>
              <a:latin typeface="Calibri"/>
              <a:ea typeface="Calibri"/>
              <a:cs typeface="Calibri"/>
              <a:sym typeface="Calibri"/>
            </a:endParaRPr>
          </a:p>
        </p:txBody>
      </p:sp>
      <p:sp>
        <p:nvSpPr>
          <p:cNvPr id="95" name="Google Shape;95;p4"/>
          <p:cNvSpPr/>
          <p:nvPr/>
        </p:nvSpPr>
        <p:spPr>
          <a:xfrm>
            <a:off x="6291072" y="3675888"/>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References (Min. 15, IEEE Format)</a:t>
            </a:r>
            <a:endParaRPr sz="1250">
              <a:solidFill>
                <a:schemeClr val="dk1"/>
              </a:solidFill>
              <a:latin typeface="Calibri"/>
              <a:ea typeface="Calibri"/>
              <a:cs typeface="Calibri"/>
              <a:sym typeface="Calibri"/>
            </a:endParaRPr>
          </a:p>
        </p:txBody>
      </p:sp>
      <p:sp>
        <p:nvSpPr>
          <p:cNvPr id="96" name="Google Shape;96;p4"/>
          <p:cNvSpPr/>
          <p:nvPr/>
        </p:nvSpPr>
        <p:spPr>
          <a:xfrm>
            <a:off x="5779008" y="4297680"/>
            <a:ext cx="5074920" cy="530352"/>
          </a:xfrm>
          <a:prstGeom prst="roundRect">
            <a:avLst>
              <a:gd name="adj" fmla="val 12069"/>
            </a:avLst>
          </a:prstGeom>
          <a:solidFill>
            <a:srgbClr val="E8F5F0"/>
          </a:solidFill>
          <a:ln w="9525"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
          <p:cNvSpPr/>
          <p:nvPr/>
        </p:nvSpPr>
        <p:spPr>
          <a:xfrm>
            <a:off x="5907024" y="4416552"/>
            <a:ext cx="292608" cy="29260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a:off x="5907024" y="4416552"/>
            <a:ext cx="29260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000"/>
              <a:buFont typeface="Calibri"/>
              <a:buNone/>
            </a:pPr>
            <a:r>
              <a:rPr lang="en-US" sz="1000" b="1">
                <a:solidFill>
                  <a:srgbClr val="C9A841"/>
                </a:solidFill>
                <a:latin typeface="Calibri"/>
                <a:ea typeface="Calibri"/>
                <a:cs typeface="Calibri"/>
                <a:sym typeface="Calibri"/>
              </a:rPr>
              <a:t>12</a:t>
            </a:r>
            <a:endParaRPr sz="1000">
              <a:solidFill>
                <a:schemeClr val="dk1"/>
              </a:solidFill>
              <a:latin typeface="Calibri"/>
              <a:ea typeface="Calibri"/>
              <a:cs typeface="Calibri"/>
              <a:sym typeface="Calibri"/>
            </a:endParaRPr>
          </a:p>
        </p:txBody>
      </p:sp>
      <p:sp>
        <p:nvSpPr>
          <p:cNvPr id="99" name="Google Shape;99;p4"/>
          <p:cNvSpPr/>
          <p:nvPr/>
        </p:nvSpPr>
        <p:spPr>
          <a:xfrm>
            <a:off x="6291072" y="4297680"/>
            <a:ext cx="443484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1250"/>
              <a:buFont typeface="Calibri"/>
              <a:buNone/>
            </a:pPr>
            <a:r>
              <a:rPr lang="en-US" sz="1250" b="1">
                <a:solidFill>
                  <a:srgbClr val="1C2526"/>
                </a:solidFill>
                <a:latin typeface="Calibri"/>
                <a:ea typeface="Calibri"/>
                <a:cs typeface="Calibri"/>
                <a:sym typeface="Calibri"/>
              </a:rPr>
              <a:t>Thank You</a:t>
            </a:r>
            <a:endParaRPr sz="12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4"/>
        <p:cNvGrpSpPr/>
        <p:nvPr/>
      </p:nvGrpSpPr>
      <p:grpSpPr>
        <a:xfrm>
          <a:off x="0" y="0"/>
          <a:ext cx="0" cy="0"/>
          <a:chOff x="0" y="0"/>
          <a:chExt cx="0" cy="0"/>
        </a:xfrm>
      </p:grpSpPr>
      <p:sp>
        <p:nvSpPr>
          <p:cNvPr id="105" name="Google Shape;105;p5"/>
          <p:cNvSpPr/>
          <p:nvPr/>
        </p:nvSpPr>
        <p:spPr>
          <a:xfrm>
            <a:off x="0" y="0"/>
            <a:ext cx="12191695" cy="164592"/>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502920" y="237744"/>
            <a:ext cx="109728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ABSTRACT</a:t>
            </a:r>
            <a:endParaRPr sz="2800">
              <a:solidFill>
                <a:schemeClr val="dk1"/>
              </a:solidFill>
              <a:latin typeface="Calibri"/>
              <a:ea typeface="Calibri"/>
              <a:cs typeface="Calibri"/>
              <a:sym typeface="Calibri"/>
            </a:endParaRPr>
          </a:p>
        </p:txBody>
      </p:sp>
      <p:sp>
        <p:nvSpPr>
          <p:cNvPr id="107" name="Google Shape;107;p5"/>
          <p:cNvSpPr/>
          <p:nvPr/>
        </p:nvSpPr>
        <p:spPr>
          <a:xfrm>
            <a:off x="502920" y="859536"/>
            <a:ext cx="9144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cxnSp>
        <p:nvCxnSpPr>
          <p:cNvPr id="108" name="Google Shape;108;p5"/>
          <p:cNvCxnSpPr/>
          <p:nvPr/>
        </p:nvCxnSpPr>
        <p:spPr>
          <a:xfrm>
            <a:off x="502920" y="1024128"/>
            <a:ext cx="11185855" cy="0"/>
          </a:xfrm>
          <a:prstGeom prst="straightConnector1">
            <a:avLst/>
          </a:prstGeom>
          <a:noFill/>
          <a:ln w="15225" cap="flat" cmpd="sng">
            <a:solidFill>
              <a:srgbClr val="C9A841"/>
            </a:solidFill>
            <a:prstDash val="solid"/>
            <a:round/>
            <a:headEnd type="none" w="sm" len="sm"/>
            <a:tailEnd type="none" w="sm" len="sm"/>
          </a:ln>
        </p:spPr>
      </p:cxnSp>
      <p:cxnSp>
        <p:nvCxnSpPr>
          <p:cNvPr id="109" name="Google Shape;109;p5"/>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110" name="Google Shape;110;p5"/>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111" name="Google Shape;111;p5"/>
          <p:cNvSpPr/>
          <p:nvPr/>
        </p:nvSpPr>
        <p:spPr>
          <a:xfrm>
            <a:off x="3474720" y="6455664"/>
            <a:ext cx="5239512" cy="27432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112" name="Google Shape;112;p5"/>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
        <p:nvSpPr>
          <p:cNvPr id="113" name="Google Shape;113;p5"/>
          <p:cNvSpPr/>
          <p:nvPr/>
        </p:nvSpPr>
        <p:spPr>
          <a:xfrm>
            <a:off x="502920" y="1188720"/>
            <a:ext cx="11185855" cy="420624"/>
          </a:xfrm>
          <a:prstGeom prst="roundRect">
            <a:avLst>
              <a:gd name="adj" fmla="val 13043"/>
            </a:avLst>
          </a:prstGeom>
          <a:solidFill>
            <a:srgbClr val="FBF6E3"/>
          </a:solidFill>
          <a:ln w="10150" cap="flat" cmpd="sng">
            <a:solidFill>
              <a:srgbClr val="C9A84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685800" y="1188720"/>
            <a:ext cx="10820095" cy="42062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1900">
                <a:solidFill>
                  <a:schemeClr val="dk2"/>
                </a:solidFill>
                <a:latin typeface="Calibri"/>
                <a:ea typeface="Calibri"/>
                <a:cs typeface="Calibri"/>
                <a:sym typeface="Calibri"/>
              </a:rPr>
              <a:t>AI College Placement Intelligence Platform</a:t>
            </a:r>
            <a:endParaRPr sz="1900">
              <a:solidFill>
                <a:schemeClr val="dk2"/>
              </a:solidFill>
              <a:latin typeface="Calibri"/>
              <a:ea typeface="Calibri"/>
              <a:cs typeface="Calibri"/>
              <a:sym typeface="Calibri"/>
            </a:endParaRPr>
          </a:p>
        </p:txBody>
      </p:sp>
      <p:sp>
        <p:nvSpPr>
          <p:cNvPr id="115" name="Google Shape;115;p5"/>
          <p:cNvSpPr/>
          <p:nvPr/>
        </p:nvSpPr>
        <p:spPr>
          <a:xfrm>
            <a:off x="502920" y="1719072"/>
            <a:ext cx="11185855" cy="4005072"/>
          </a:xfrm>
          <a:prstGeom prst="roundRect">
            <a:avLst>
              <a:gd name="adj" fmla="val 1370"/>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667512" y="1719072"/>
            <a:ext cx="10856671" cy="40050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r>
              <a:rPr lang="en-US">
                <a:solidFill>
                  <a:schemeClr val="dk1"/>
                </a:solidFill>
              </a:rPr>
              <a:t>Campus placement plays a crucial role in shaping students' careers, yet most colleges focus only on recording whether a student is </a:t>
            </a:r>
            <a:r>
              <a:rPr lang="en-US" b="1">
                <a:solidFill>
                  <a:srgbClr val="B8860B"/>
                </a:solidFill>
              </a:rPr>
              <a:t>selected or rejected</a:t>
            </a:r>
            <a:r>
              <a:rPr lang="en-US">
                <a:solidFill>
                  <a:schemeClr val="dk1"/>
                </a:solidFill>
              </a:rPr>
              <a:t>. Valuable information such as </a:t>
            </a:r>
            <a:r>
              <a:rPr lang="en-US" b="1">
                <a:solidFill>
                  <a:srgbClr val="B8860B"/>
                </a:solidFill>
              </a:rPr>
              <a:t>interview experiences</a:t>
            </a:r>
            <a:r>
              <a:rPr lang="en-US">
                <a:solidFill>
                  <a:schemeClr val="dk1"/>
                </a:solidFill>
              </a:rPr>
              <a:t>, </a:t>
            </a:r>
            <a:r>
              <a:rPr lang="en-US" b="1">
                <a:solidFill>
                  <a:srgbClr val="B8860B"/>
                </a:solidFill>
              </a:rPr>
              <a:t>student feedback</a:t>
            </a:r>
            <a:r>
              <a:rPr lang="en-US">
                <a:solidFill>
                  <a:schemeClr val="dk1"/>
                </a:solidFill>
              </a:rPr>
              <a:t>, </a:t>
            </a:r>
            <a:r>
              <a:rPr lang="en-US" b="1">
                <a:solidFill>
                  <a:srgbClr val="B8860B"/>
                </a:solidFill>
              </a:rPr>
              <a:t>commonly asked questions</a:t>
            </a:r>
            <a:r>
              <a:rPr lang="en-US">
                <a:solidFill>
                  <a:schemeClr val="dk1"/>
                </a:solidFill>
              </a:rPr>
              <a:t>, and the </a:t>
            </a:r>
            <a:r>
              <a:rPr lang="en-US" b="1">
                <a:solidFill>
                  <a:srgbClr val="B8860B"/>
                </a:solidFill>
              </a:rPr>
              <a:t>reasons behind success or failure</a:t>
            </a:r>
            <a:r>
              <a:rPr lang="en-US">
                <a:solidFill>
                  <a:schemeClr val="dk1"/>
                </a:solidFill>
              </a:rPr>
              <a:t> is often lost after every placement drive. This lack of structured analysis prevents placement officers from identifying </a:t>
            </a:r>
            <a:r>
              <a:rPr lang="en-US" b="1">
                <a:solidFill>
                  <a:srgbClr val="B8860B"/>
                </a:solidFill>
              </a:rPr>
              <a:t>student skill gaps</a:t>
            </a:r>
            <a:r>
              <a:rPr lang="en-US">
                <a:solidFill>
                  <a:schemeClr val="dk1"/>
                </a:solidFill>
              </a:rPr>
              <a:t> and improving future training programs.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This project proposes an </a:t>
            </a:r>
            <a:r>
              <a:rPr lang="en-US" b="1">
                <a:solidFill>
                  <a:srgbClr val="1F5E4B"/>
                </a:solidFill>
              </a:rPr>
              <a:t>AI-Powered Campus Placement Intelligence Platform</a:t>
            </a:r>
            <a:r>
              <a:rPr lang="en-US">
                <a:solidFill>
                  <a:schemeClr val="dk1"/>
                </a:solidFill>
              </a:rPr>
              <a:t> that collects </a:t>
            </a:r>
            <a:r>
              <a:rPr lang="en-US" b="1">
                <a:solidFill>
                  <a:srgbClr val="1F5E4B"/>
                </a:solidFill>
              </a:rPr>
              <a:t>structured feedback</a:t>
            </a:r>
            <a:r>
              <a:rPr lang="en-US">
                <a:solidFill>
                  <a:schemeClr val="dk1"/>
                </a:solidFill>
              </a:rPr>
              <a:t> from students after each interview round. The platform records details such as </a:t>
            </a:r>
            <a:r>
              <a:rPr lang="en-US" b="1">
                <a:solidFill>
                  <a:srgbClr val="B8860B"/>
                </a:solidFill>
              </a:rPr>
              <a:t>interview difficulty</a:t>
            </a:r>
            <a:r>
              <a:rPr lang="en-US">
                <a:solidFill>
                  <a:srgbClr val="B8860B"/>
                </a:solidFill>
              </a:rPr>
              <a:t>, </a:t>
            </a:r>
            <a:r>
              <a:rPr lang="en-US" b="1">
                <a:solidFill>
                  <a:srgbClr val="B8860B"/>
                </a:solidFill>
              </a:rPr>
              <a:t>confidence level</a:t>
            </a:r>
            <a:r>
              <a:rPr lang="en-US">
                <a:solidFill>
                  <a:srgbClr val="B8860B"/>
                </a:solidFill>
              </a:rPr>
              <a:t>, </a:t>
            </a:r>
            <a:r>
              <a:rPr lang="en-US" b="1">
                <a:solidFill>
                  <a:srgbClr val="B8860B"/>
                </a:solidFill>
              </a:rPr>
              <a:t>topics covered</a:t>
            </a:r>
            <a:r>
              <a:rPr lang="en-US">
                <a:solidFill>
                  <a:srgbClr val="B8860B"/>
                </a:solidFill>
              </a:rPr>
              <a:t>, </a:t>
            </a:r>
            <a:r>
              <a:rPr lang="en-US">
                <a:solidFill>
                  <a:schemeClr val="dk1"/>
                </a:solidFill>
              </a:rPr>
              <a:t>and</a:t>
            </a:r>
            <a:r>
              <a:rPr lang="en-US">
                <a:solidFill>
                  <a:srgbClr val="B8860B"/>
                </a:solidFill>
              </a:rPr>
              <a:t> </a:t>
            </a:r>
            <a:r>
              <a:rPr lang="en-US" b="1">
                <a:solidFill>
                  <a:srgbClr val="B8860B"/>
                </a:solidFill>
              </a:rPr>
              <a:t>overall experience</a:t>
            </a:r>
            <a:r>
              <a:rPr lang="en-US">
                <a:solidFill>
                  <a:schemeClr val="dk1"/>
                </a:solidFill>
              </a:rPr>
              <a:t>. Using </a:t>
            </a:r>
            <a:r>
              <a:rPr lang="en-US" b="1">
                <a:solidFill>
                  <a:srgbClr val="1F5E4B"/>
                </a:solidFill>
              </a:rPr>
              <a:t>Artificial Intelligence (AI)</a:t>
            </a:r>
            <a:r>
              <a:rPr lang="en-US">
                <a:solidFill>
                  <a:srgbClr val="1F5E4B"/>
                </a:solidFill>
              </a:rPr>
              <a:t>, </a:t>
            </a:r>
            <a:r>
              <a:rPr lang="en-US" b="1">
                <a:solidFill>
                  <a:srgbClr val="1F5E4B"/>
                </a:solidFill>
              </a:rPr>
              <a:t>Machine Learning (ML)</a:t>
            </a:r>
            <a:r>
              <a:rPr lang="en-US">
                <a:solidFill>
                  <a:srgbClr val="1F5E4B"/>
                </a:solidFill>
              </a:rPr>
              <a:t>, </a:t>
            </a:r>
            <a:r>
              <a:rPr lang="en-US" b="1">
                <a:solidFill>
                  <a:srgbClr val="1F5E4B"/>
                </a:solidFill>
              </a:rPr>
              <a:t>Natural Language Processing (NLP)</a:t>
            </a:r>
            <a:r>
              <a:rPr lang="en-US">
                <a:solidFill>
                  <a:srgbClr val="1F5E4B"/>
                </a:solidFill>
              </a:rPr>
              <a:t>, </a:t>
            </a:r>
            <a:r>
              <a:rPr lang="en-US" b="1">
                <a:solidFill>
                  <a:srgbClr val="1F5E4B"/>
                </a:solidFill>
              </a:rPr>
              <a:t>sentiment analysis</a:t>
            </a:r>
            <a:r>
              <a:rPr lang="en-US">
                <a:solidFill>
                  <a:srgbClr val="1F5E4B"/>
                </a:solidFill>
              </a:rPr>
              <a:t>, </a:t>
            </a:r>
            <a:r>
              <a:rPr lang="en-US">
                <a:solidFill>
                  <a:schemeClr val="dk1"/>
                </a:solidFill>
              </a:rPr>
              <a:t>and </a:t>
            </a:r>
            <a:r>
              <a:rPr lang="en-US" b="1">
                <a:solidFill>
                  <a:srgbClr val="1F5E4B"/>
                </a:solidFill>
              </a:rPr>
              <a:t>keyword extraction</a:t>
            </a:r>
            <a:r>
              <a:rPr lang="en-US">
                <a:solidFill>
                  <a:schemeClr val="dk1"/>
                </a:solidFill>
              </a:rPr>
              <a:t>, the system analyzes the collected feedback to identify </a:t>
            </a:r>
            <a:r>
              <a:rPr lang="en-US" b="1">
                <a:solidFill>
                  <a:srgbClr val="B8860B"/>
                </a:solidFill>
              </a:rPr>
              <a:t>interview trends</a:t>
            </a:r>
            <a:r>
              <a:rPr lang="en-US">
                <a:solidFill>
                  <a:srgbClr val="B8860B"/>
                </a:solidFill>
              </a:rPr>
              <a:t>, </a:t>
            </a:r>
            <a:r>
              <a:rPr lang="en-US" b="1">
                <a:solidFill>
                  <a:srgbClr val="B8860B"/>
                </a:solidFill>
              </a:rPr>
              <a:t>frequently asked technical topics</a:t>
            </a:r>
            <a:r>
              <a:rPr lang="en-US">
                <a:solidFill>
                  <a:srgbClr val="B8860B"/>
                </a:solidFill>
              </a:rPr>
              <a:t>, </a:t>
            </a:r>
            <a:r>
              <a:rPr lang="en-US" b="1">
                <a:solidFill>
                  <a:srgbClr val="B8860B"/>
                </a:solidFill>
              </a:rPr>
              <a:t>common rejection factors</a:t>
            </a:r>
            <a:r>
              <a:rPr lang="en-US">
                <a:solidFill>
                  <a:srgbClr val="B8860B"/>
                </a:solidFill>
              </a:rPr>
              <a:t>, </a:t>
            </a:r>
            <a:r>
              <a:rPr lang="en-US">
                <a:solidFill>
                  <a:schemeClr val="dk1"/>
                </a:solidFill>
              </a:rPr>
              <a:t>and</a:t>
            </a:r>
            <a:r>
              <a:rPr lang="en-US">
                <a:solidFill>
                  <a:srgbClr val="B8860B"/>
                </a:solidFill>
              </a:rPr>
              <a:t> </a:t>
            </a:r>
            <a:r>
              <a:rPr lang="en-US" b="1">
                <a:solidFill>
                  <a:srgbClr val="B8860B"/>
                </a:solidFill>
              </a:rPr>
              <a:t>company-specific interview patterns</a:t>
            </a:r>
            <a:r>
              <a:rPr lang="en-US">
                <a:solidFill>
                  <a:srgbClr val="B8860B"/>
                </a:solidFill>
              </a:rPr>
              <a:t>.</a:t>
            </a:r>
            <a:endParaRPr>
              <a:solidFill>
                <a:srgbClr val="B8860B"/>
              </a:solidFill>
            </a:endParaRPr>
          </a:p>
          <a:p>
            <a:pPr marL="0" lvl="0" indent="0" algn="l" rtl="0">
              <a:lnSpc>
                <a:spcPct val="115000"/>
              </a:lnSpc>
              <a:spcBef>
                <a:spcPts val="1200"/>
              </a:spcBef>
              <a:spcAft>
                <a:spcPts val="1200"/>
              </a:spcAft>
              <a:buClr>
                <a:schemeClr val="dk1"/>
              </a:buClr>
              <a:buSzPts val="1100"/>
              <a:buFont typeface="Arial"/>
              <a:buNone/>
            </a:pPr>
            <a:r>
              <a:rPr lang="en-US">
                <a:solidFill>
                  <a:schemeClr val="dk1"/>
                </a:solidFill>
              </a:rPr>
              <a:t>The analyzed information is presented through an </a:t>
            </a:r>
            <a:r>
              <a:rPr lang="en-US" b="1">
                <a:solidFill>
                  <a:srgbClr val="1F5E4B"/>
                </a:solidFill>
              </a:rPr>
              <a:t>interactive analytics dashboard</a:t>
            </a:r>
            <a:r>
              <a:rPr lang="en-US">
                <a:solidFill>
                  <a:schemeClr val="dk1"/>
                </a:solidFill>
              </a:rPr>
              <a:t>, enabling placement officers to make </a:t>
            </a:r>
            <a:r>
              <a:rPr lang="en-US" b="1">
                <a:solidFill>
                  <a:srgbClr val="B8860B"/>
                </a:solidFill>
              </a:rPr>
              <a:t>data-driven decisions</a:t>
            </a:r>
            <a:r>
              <a:rPr lang="en-US">
                <a:solidFill>
                  <a:schemeClr val="dk1"/>
                </a:solidFill>
              </a:rPr>
              <a:t> while providing students with </a:t>
            </a:r>
            <a:r>
              <a:rPr lang="en-US" b="1">
                <a:solidFill>
                  <a:srgbClr val="B8860B"/>
                </a:solidFill>
              </a:rPr>
              <a:t>personalized preparation recommendations</a:t>
            </a:r>
            <a:r>
              <a:rPr lang="en-US">
                <a:solidFill>
                  <a:schemeClr val="dk1"/>
                </a:solidFill>
              </a:rPr>
              <a:t>. By transforming </a:t>
            </a:r>
            <a:r>
              <a:rPr lang="en-US" b="1">
                <a:solidFill>
                  <a:srgbClr val="B8860B"/>
                </a:solidFill>
              </a:rPr>
              <a:t>raw placement feedback</a:t>
            </a:r>
            <a:r>
              <a:rPr lang="en-US">
                <a:solidFill>
                  <a:schemeClr val="dk1"/>
                </a:solidFill>
              </a:rPr>
              <a:t> into </a:t>
            </a:r>
            <a:r>
              <a:rPr lang="en-US" b="1">
                <a:solidFill>
                  <a:srgbClr val="1F5E4B"/>
                </a:solidFill>
              </a:rPr>
              <a:t>actionable insights</a:t>
            </a:r>
            <a:r>
              <a:rPr lang="en-US">
                <a:solidFill>
                  <a:schemeClr val="dk1"/>
                </a:solidFill>
              </a:rPr>
              <a:t>, the proposed system creates a </a:t>
            </a:r>
            <a:r>
              <a:rPr lang="en-US" b="1">
                <a:solidFill>
                  <a:srgbClr val="1F5E4B"/>
                </a:solidFill>
              </a:rPr>
              <a:t>continuous learning process</a:t>
            </a:r>
            <a:r>
              <a:rPr lang="en-US">
                <a:solidFill>
                  <a:schemeClr val="dk1"/>
                </a:solidFill>
              </a:rPr>
              <a:t> that enhances </a:t>
            </a:r>
            <a:r>
              <a:rPr lang="en-US" b="1">
                <a:solidFill>
                  <a:srgbClr val="B8860B"/>
                </a:solidFill>
              </a:rPr>
              <a:t>student preparedness</a:t>
            </a:r>
            <a:r>
              <a:rPr lang="en-US">
                <a:solidFill>
                  <a:schemeClr val="dk1"/>
                </a:solidFill>
              </a:rPr>
              <a:t>, optimizes </a:t>
            </a:r>
            <a:r>
              <a:rPr lang="en-US" b="1">
                <a:solidFill>
                  <a:srgbClr val="B8860B"/>
                </a:solidFill>
              </a:rPr>
              <a:t>placement training strategies</a:t>
            </a:r>
            <a:r>
              <a:rPr lang="en-US">
                <a:solidFill>
                  <a:schemeClr val="dk1"/>
                </a:solidFill>
              </a:rPr>
              <a:t>, and ultimately improves the </a:t>
            </a:r>
            <a:r>
              <a:rPr lang="en-US" b="1">
                <a:solidFill>
                  <a:srgbClr val="1F5E4B"/>
                </a:solidFill>
              </a:rPr>
              <a:t>overall campus placement success rate</a:t>
            </a:r>
            <a:r>
              <a:rPr lang="en-US">
                <a:solidFill>
                  <a:schemeClr val="dk1"/>
                </a:solidFill>
              </a:rPr>
              <a:t>.</a:t>
            </a:r>
            <a:endParaRPr sz="1100" i="1">
              <a:solidFill>
                <a:srgbClr val="9AABA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
        <p:cNvGrpSpPr/>
        <p:nvPr/>
      </p:nvGrpSpPr>
      <p:grpSpPr>
        <a:xfrm>
          <a:off x="0" y="0"/>
          <a:ext cx="0" cy="0"/>
          <a:chOff x="0" y="0"/>
          <a:chExt cx="0" cy="0"/>
        </a:xfrm>
      </p:grpSpPr>
      <p:sp>
        <p:nvSpPr>
          <p:cNvPr id="122" name="Google Shape;122;p6"/>
          <p:cNvSpPr/>
          <p:nvPr/>
        </p:nvSpPr>
        <p:spPr>
          <a:xfrm>
            <a:off x="0" y="0"/>
            <a:ext cx="12191700" cy="164700"/>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a:off x="502920" y="237744"/>
            <a:ext cx="109728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INTRODUCTION</a:t>
            </a:r>
            <a:endParaRPr sz="2800">
              <a:solidFill>
                <a:schemeClr val="dk1"/>
              </a:solidFill>
              <a:latin typeface="Calibri"/>
              <a:ea typeface="Calibri"/>
              <a:cs typeface="Calibri"/>
              <a:sym typeface="Calibri"/>
            </a:endParaRPr>
          </a:p>
        </p:txBody>
      </p:sp>
      <p:cxnSp>
        <p:nvCxnSpPr>
          <p:cNvPr id="124" name="Google Shape;124;p6"/>
          <p:cNvCxnSpPr/>
          <p:nvPr/>
        </p:nvCxnSpPr>
        <p:spPr>
          <a:xfrm>
            <a:off x="502920" y="1024128"/>
            <a:ext cx="11185855" cy="0"/>
          </a:xfrm>
          <a:prstGeom prst="straightConnector1">
            <a:avLst/>
          </a:prstGeom>
          <a:noFill/>
          <a:ln w="15225" cap="flat" cmpd="sng">
            <a:solidFill>
              <a:srgbClr val="C9A841"/>
            </a:solidFill>
            <a:prstDash val="solid"/>
            <a:round/>
            <a:headEnd type="none" w="sm" len="sm"/>
            <a:tailEnd type="none" w="sm" len="sm"/>
          </a:ln>
        </p:spPr>
      </p:cxnSp>
      <p:cxnSp>
        <p:nvCxnSpPr>
          <p:cNvPr id="125" name="Google Shape;125;p6"/>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126" name="Google Shape;126;p6"/>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127" name="Google Shape;127;p6"/>
          <p:cNvSpPr/>
          <p:nvPr/>
        </p:nvSpPr>
        <p:spPr>
          <a:xfrm>
            <a:off x="3474720" y="6455664"/>
            <a:ext cx="5239512" cy="27432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128" name="Google Shape;128;p6"/>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129" name="Google Shape;129;p6"/>
          <p:cNvSpPr/>
          <p:nvPr/>
        </p:nvSpPr>
        <p:spPr>
          <a:xfrm>
            <a:off x="502920" y="1170432"/>
            <a:ext cx="3108960" cy="329184"/>
          </a:xfrm>
          <a:prstGeom prst="roundRect">
            <a:avLst>
              <a:gd name="adj" fmla="val 16667"/>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6"/>
          <p:cNvSpPr/>
          <p:nvPr/>
        </p:nvSpPr>
        <p:spPr>
          <a:xfrm>
            <a:off x="502920" y="1170432"/>
            <a:ext cx="310896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PROBLEM STATEMENT</a:t>
            </a:r>
            <a:endParaRPr sz="1050">
              <a:solidFill>
                <a:schemeClr val="dk1"/>
              </a:solidFill>
              <a:latin typeface="Calibri"/>
              <a:ea typeface="Calibri"/>
              <a:cs typeface="Calibri"/>
              <a:sym typeface="Calibri"/>
            </a:endParaRPr>
          </a:p>
        </p:txBody>
      </p:sp>
      <p:sp>
        <p:nvSpPr>
          <p:cNvPr id="131" name="Google Shape;131;p6"/>
          <p:cNvSpPr/>
          <p:nvPr/>
        </p:nvSpPr>
        <p:spPr>
          <a:xfrm>
            <a:off x="502920" y="1591056"/>
            <a:ext cx="11185855" cy="1261872"/>
          </a:xfrm>
          <a:prstGeom prst="roundRect">
            <a:avLst>
              <a:gd name="adj" fmla="val 5072"/>
            </a:avLst>
          </a:prstGeom>
          <a:solidFill>
            <a:srgbClr val="E8F5F0"/>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6"/>
          <p:cNvSpPr/>
          <p:nvPr/>
        </p:nvSpPr>
        <p:spPr>
          <a:xfrm>
            <a:off x="502920" y="1591056"/>
            <a:ext cx="11185855" cy="1261872"/>
          </a:xfrm>
          <a:prstGeom prst="roundRect">
            <a:avLst>
              <a:gd name="adj" fmla="val 4348"/>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6"/>
          <p:cNvSpPr/>
          <p:nvPr/>
        </p:nvSpPr>
        <p:spPr>
          <a:xfrm>
            <a:off x="667512" y="1591056"/>
            <a:ext cx="10856671" cy="12618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r>
              <a:rPr lang="en-US" sz="1300">
                <a:solidFill>
                  <a:schemeClr val="dk1"/>
                </a:solidFill>
              </a:rPr>
              <a:t>Campus placement is a crucial process for connecting students with employment opportunities. However, existing placement systems primarily record whether students are </a:t>
            </a:r>
            <a:r>
              <a:rPr lang="en-US" sz="1300" b="1">
                <a:solidFill>
                  <a:srgbClr val="B8860B"/>
                </a:solidFill>
              </a:rPr>
              <a:t>selected or rejected</a:t>
            </a:r>
            <a:r>
              <a:rPr lang="en-US" sz="1300">
                <a:solidFill>
                  <a:schemeClr val="dk1"/>
                </a:solidFill>
              </a:rPr>
              <a:t>, while valuable </a:t>
            </a:r>
            <a:r>
              <a:rPr lang="en-US" sz="1300" b="1">
                <a:solidFill>
                  <a:srgbClr val="B8860B"/>
                </a:solidFill>
              </a:rPr>
              <a:t>interview experiences</a:t>
            </a:r>
            <a:r>
              <a:rPr lang="en-US" sz="1300" b="1">
                <a:solidFill>
                  <a:schemeClr val="dk1"/>
                </a:solidFill>
              </a:rPr>
              <a:t>,</a:t>
            </a:r>
            <a:r>
              <a:rPr lang="en-US" sz="1300" b="1">
                <a:solidFill>
                  <a:srgbClr val="B8860B"/>
                </a:solidFill>
              </a:rPr>
              <a:t> feedback, and insights</a:t>
            </a:r>
            <a:r>
              <a:rPr lang="en-US" sz="1300">
                <a:solidFill>
                  <a:schemeClr val="dk1"/>
                </a:solidFill>
              </a:rPr>
              <a:t> are rarely collected or analyzed. As a result, placement officers lack data to identify interview trends, common rejection reasons, and student skill gaps, leading to generic training programs rather than</a:t>
            </a:r>
            <a:r>
              <a:rPr lang="en-US" sz="1300" b="1">
                <a:solidFill>
                  <a:schemeClr val="dk1"/>
                </a:solidFill>
              </a:rPr>
              <a:t> </a:t>
            </a:r>
            <a:r>
              <a:rPr lang="en-US" sz="1300" b="1">
                <a:solidFill>
                  <a:srgbClr val="1F5E4B"/>
                </a:solidFill>
              </a:rPr>
              <a:t>targeted preparation</a:t>
            </a:r>
            <a:r>
              <a:rPr lang="en-US" sz="1300">
                <a:solidFill>
                  <a:schemeClr val="dk1"/>
                </a:solidFill>
              </a:rPr>
              <a:t>. Consequently, each new batch of students repeats the same mistakes, reducing the effectiveness of placement training and overall placement success.</a:t>
            </a:r>
            <a:endParaRPr sz="1300" i="1">
              <a:solidFill>
                <a:srgbClr val="9AABA2"/>
              </a:solidFill>
              <a:highlight>
                <a:schemeClr val="lt1"/>
              </a:highlight>
            </a:endParaRPr>
          </a:p>
        </p:txBody>
      </p:sp>
      <p:sp>
        <p:nvSpPr>
          <p:cNvPr id="134" name="Google Shape;134;p6"/>
          <p:cNvSpPr/>
          <p:nvPr/>
        </p:nvSpPr>
        <p:spPr>
          <a:xfrm>
            <a:off x="502920" y="2999232"/>
            <a:ext cx="3108960" cy="329184"/>
          </a:xfrm>
          <a:prstGeom prst="roundRect">
            <a:avLst>
              <a:gd name="adj" fmla="val 16667"/>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6"/>
          <p:cNvSpPr/>
          <p:nvPr/>
        </p:nvSpPr>
        <p:spPr>
          <a:xfrm>
            <a:off x="502920" y="2999232"/>
            <a:ext cx="310896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MOTIVATION</a:t>
            </a:r>
            <a:endParaRPr sz="1050">
              <a:solidFill>
                <a:schemeClr val="dk1"/>
              </a:solidFill>
              <a:latin typeface="Calibri"/>
              <a:ea typeface="Calibri"/>
              <a:cs typeface="Calibri"/>
              <a:sym typeface="Calibri"/>
            </a:endParaRPr>
          </a:p>
        </p:txBody>
      </p:sp>
      <p:sp>
        <p:nvSpPr>
          <p:cNvPr id="136" name="Google Shape;136;p6"/>
          <p:cNvSpPr/>
          <p:nvPr/>
        </p:nvSpPr>
        <p:spPr>
          <a:xfrm>
            <a:off x="502920" y="3419856"/>
            <a:ext cx="5303520" cy="1993392"/>
          </a:xfrm>
          <a:prstGeom prst="roundRect">
            <a:avLst>
              <a:gd name="adj" fmla="val 3211"/>
            </a:avLst>
          </a:prstGeom>
          <a:solidFill>
            <a:srgbClr val="E8F5F0"/>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6"/>
          <p:cNvSpPr/>
          <p:nvPr/>
        </p:nvSpPr>
        <p:spPr>
          <a:xfrm>
            <a:off x="502920" y="3419856"/>
            <a:ext cx="5303520" cy="1993392"/>
          </a:xfrm>
          <a:prstGeom prst="roundRect">
            <a:avLst>
              <a:gd name="adj" fmla="val 275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p:cNvSpPr/>
          <p:nvPr/>
        </p:nvSpPr>
        <p:spPr>
          <a:xfrm>
            <a:off x="667512" y="3419856"/>
            <a:ext cx="4974336" cy="1993392"/>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US" sz="1200">
                <a:solidFill>
                  <a:schemeClr val="dk1"/>
                </a:solidFill>
              </a:rPr>
              <a:t>The motivation behind this project is to transform </a:t>
            </a:r>
            <a:r>
              <a:rPr lang="en-US" sz="1200" b="1">
                <a:solidFill>
                  <a:srgbClr val="1F5E4B"/>
                </a:solidFill>
              </a:rPr>
              <a:t>placement feedback</a:t>
            </a:r>
            <a:r>
              <a:rPr lang="en-US" sz="1200">
                <a:solidFill>
                  <a:schemeClr val="dk1"/>
                </a:solidFill>
              </a:rPr>
              <a:t> into </a:t>
            </a:r>
            <a:r>
              <a:rPr lang="en-US" sz="1200" b="1">
                <a:solidFill>
                  <a:srgbClr val="1F5E4B"/>
                </a:solidFill>
              </a:rPr>
              <a:t>actionable knowledge</a:t>
            </a:r>
            <a:r>
              <a:rPr lang="en-US" sz="1200">
                <a:solidFill>
                  <a:schemeClr val="dk1"/>
                </a:solidFill>
              </a:rPr>
              <a:t> that benefits both students and placement officers. Every placement drive generates valuable interview experiences, but this information is often lost after the recruitment process. By collecting and intelligently analyzing </a:t>
            </a:r>
            <a:r>
              <a:rPr lang="en-US" sz="1200" b="1">
                <a:solidFill>
                  <a:srgbClr val="1F5E4B"/>
                </a:solidFill>
              </a:rPr>
              <a:t>student feedback</a:t>
            </a:r>
            <a:r>
              <a:rPr lang="en-US" sz="1200">
                <a:solidFill>
                  <a:schemeClr val="dk1"/>
                </a:solidFill>
              </a:rPr>
              <a:t>, the proposed system helps institutions improve </a:t>
            </a:r>
            <a:r>
              <a:rPr lang="en-US" sz="1200" b="1">
                <a:solidFill>
                  <a:srgbClr val="1F5E4B"/>
                </a:solidFill>
              </a:rPr>
              <a:t>training strategies</a:t>
            </a:r>
            <a:r>
              <a:rPr lang="en-US" sz="1200">
                <a:solidFill>
                  <a:schemeClr val="dk1"/>
                </a:solidFill>
              </a:rPr>
              <a:t> while enabling students to prepare more effectively for future placement opportunities.</a:t>
            </a:r>
            <a:endParaRPr sz="1200">
              <a:solidFill>
                <a:schemeClr val="dk1"/>
              </a:solidFill>
            </a:endParaRPr>
          </a:p>
        </p:txBody>
      </p:sp>
      <p:sp>
        <p:nvSpPr>
          <p:cNvPr id="139" name="Google Shape;139;p6"/>
          <p:cNvSpPr/>
          <p:nvPr/>
        </p:nvSpPr>
        <p:spPr>
          <a:xfrm>
            <a:off x="6080760" y="2999232"/>
            <a:ext cx="3108960" cy="329184"/>
          </a:xfrm>
          <a:prstGeom prst="roundRect">
            <a:avLst>
              <a:gd name="adj" fmla="val 16667"/>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
          <p:cNvSpPr/>
          <p:nvPr/>
        </p:nvSpPr>
        <p:spPr>
          <a:xfrm>
            <a:off x="6080760" y="2999232"/>
            <a:ext cx="310896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SCOPE OF WORK</a:t>
            </a:r>
            <a:endParaRPr sz="1050">
              <a:solidFill>
                <a:schemeClr val="dk1"/>
              </a:solidFill>
              <a:latin typeface="Calibri"/>
              <a:ea typeface="Calibri"/>
              <a:cs typeface="Calibri"/>
              <a:sym typeface="Calibri"/>
            </a:endParaRPr>
          </a:p>
        </p:txBody>
      </p:sp>
      <p:sp>
        <p:nvSpPr>
          <p:cNvPr id="141" name="Google Shape;141;p6"/>
          <p:cNvSpPr/>
          <p:nvPr/>
        </p:nvSpPr>
        <p:spPr>
          <a:xfrm>
            <a:off x="6080760" y="3419856"/>
            <a:ext cx="5605272" cy="1993392"/>
          </a:xfrm>
          <a:prstGeom prst="roundRect">
            <a:avLst>
              <a:gd name="adj" fmla="val 3211"/>
            </a:avLst>
          </a:prstGeom>
          <a:solidFill>
            <a:srgbClr val="E8F5F0"/>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6"/>
          <p:cNvSpPr/>
          <p:nvPr/>
        </p:nvSpPr>
        <p:spPr>
          <a:xfrm>
            <a:off x="6080760" y="3419856"/>
            <a:ext cx="5605272" cy="1993392"/>
          </a:xfrm>
          <a:prstGeom prst="roundRect">
            <a:avLst>
              <a:gd name="adj" fmla="val 275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6"/>
          <p:cNvSpPr/>
          <p:nvPr/>
        </p:nvSpPr>
        <p:spPr>
          <a:xfrm>
            <a:off x="6245352" y="3419856"/>
            <a:ext cx="5276088" cy="199339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9AABA2"/>
              </a:buClr>
              <a:buSzPts val="1100"/>
              <a:buFont typeface="Calibri"/>
              <a:buNone/>
            </a:pPr>
            <a:r>
              <a:rPr lang="en-US" sz="1200">
                <a:solidFill>
                  <a:schemeClr val="dk1"/>
                </a:solidFill>
              </a:rPr>
              <a:t>The proposed system focuses on collecting</a:t>
            </a:r>
            <a:r>
              <a:rPr lang="en-US" sz="1200" b="1">
                <a:solidFill>
                  <a:schemeClr val="dk1"/>
                </a:solidFill>
              </a:rPr>
              <a:t> </a:t>
            </a:r>
            <a:r>
              <a:rPr lang="en-US" sz="1200" b="1">
                <a:solidFill>
                  <a:srgbClr val="1F5E4B"/>
                </a:solidFill>
              </a:rPr>
              <a:t>structured feedback from students</a:t>
            </a:r>
            <a:r>
              <a:rPr lang="en-US" sz="1200">
                <a:solidFill>
                  <a:schemeClr val="dk1"/>
                </a:solidFill>
              </a:rPr>
              <a:t> after each placement round, including </a:t>
            </a:r>
            <a:r>
              <a:rPr lang="en-US" sz="1200" b="1">
                <a:solidFill>
                  <a:srgbClr val="1F5E4B"/>
                </a:solidFill>
              </a:rPr>
              <a:t>interview difficulty</a:t>
            </a:r>
            <a:r>
              <a:rPr lang="en-US" sz="1200" b="1">
                <a:solidFill>
                  <a:schemeClr val="dk1"/>
                </a:solidFill>
              </a:rPr>
              <a:t>,</a:t>
            </a:r>
            <a:r>
              <a:rPr lang="en-US" sz="1200" b="1">
                <a:solidFill>
                  <a:srgbClr val="1F5E4B"/>
                </a:solidFill>
              </a:rPr>
              <a:t> confidence level, topics discussed, and overall experience</a:t>
            </a:r>
            <a:r>
              <a:rPr lang="en-US" sz="1200">
                <a:solidFill>
                  <a:schemeClr val="dk1"/>
                </a:solidFill>
              </a:rPr>
              <a:t>. Using </a:t>
            </a:r>
            <a:r>
              <a:rPr lang="en-US" sz="1200" b="1">
                <a:solidFill>
                  <a:srgbClr val="1F5E4B"/>
                </a:solidFill>
              </a:rPr>
              <a:t>Artificial Intelligence and Natural Language Processing techniques</a:t>
            </a:r>
            <a:r>
              <a:rPr lang="en-US" sz="1200">
                <a:solidFill>
                  <a:schemeClr val="dk1"/>
                </a:solidFill>
              </a:rPr>
              <a:t>, the system analyzes the collected data to identify </a:t>
            </a:r>
            <a:r>
              <a:rPr lang="en-US" sz="1200" b="1">
                <a:solidFill>
                  <a:srgbClr val="B8860B"/>
                </a:solidFill>
              </a:rPr>
              <a:t>interview trends</a:t>
            </a:r>
            <a:r>
              <a:rPr lang="en-US" sz="1200" b="1">
                <a:solidFill>
                  <a:schemeClr val="dk1"/>
                </a:solidFill>
              </a:rPr>
              <a:t>, </a:t>
            </a:r>
            <a:r>
              <a:rPr lang="en-US" sz="1200" b="1">
                <a:solidFill>
                  <a:srgbClr val="B8860B"/>
                </a:solidFill>
              </a:rPr>
              <a:t>frequently asked topics, skill gaps, and company-specific patterns</a:t>
            </a:r>
            <a:r>
              <a:rPr lang="en-US" sz="1200">
                <a:solidFill>
                  <a:srgbClr val="B8860B"/>
                </a:solidFill>
              </a:rPr>
              <a:t>.</a:t>
            </a:r>
            <a:r>
              <a:rPr lang="en-US" sz="1200">
                <a:solidFill>
                  <a:schemeClr val="dk1"/>
                </a:solidFill>
              </a:rPr>
              <a:t> The scope also includes an analytics dashboard for placement officers and personalized preparation recommendations for students. Features such as conducting interviews, resume screening, or communicating directly with recruiters are outside the scope of this project. </a:t>
            </a:r>
            <a:endParaRPr sz="1200" i="1">
              <a:solidFill>
                <a:srgbClr val="9AABA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8"/>
        <p:cNvGrpSpPr/>
        <p:nvPr/>
      </p:nvGrpSpPr>
      <p:grpSpPr>
        <a:xfrm>
          <a:off x="0" y="0"/>
          <a:ext cx="0" cy="0"/>
          <a:chOff x="0" y="0"/>
          <a:chExt cx="0" cy="0"/>
        </a:xfrm>
      </p:grpSpPr>
      <p:sp>
        <p:nvSpPr>
          <p:cNvPr id="149" name="Google Shape;149;p7"/>
          <p:cNvSpPr/>
          <p:nvPr/>
        </p:nvSpPr>
        <p:spPr>
          <a:xfrm>
            <a:off x="0" y="0"/>
            <a:ext cx="12191695" cy="164592"/>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7"/>
          <p:cNvSpPr/>
          <p:nvPr/>
        </p:nvSpPr>
        <p:spPr>
          <a:xfrm>
            <a:off x="502920" y="237744"/>
            <a:ext cx="109728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LITERATURE SURVEY</a:t>
            </a:r>
            <a:endParaRPr sz="2800">
              <a:solidFill>
                <a:schemeClr val="dk1"/>
              </a:solidFill>
              <a:latin typeface="Calibri"/>
              <a:ea typeface="Calibri"/>
              <a:cs typeface="Calibri"/>
              <a:sym typeface="Calibri"/>
            </a:endParaRPr>
          </a:p>
        </p:txBody>
      </p:sp>
      <p:sp>
        <p:nvSpPr>
          <p:cNvPr id="151" name="Google Shape;151;p7"/>
          <p:cNvSpPr/>
          <p:nvPr/>
        </p:nvSpPr>
        <p:spPr>
          <a:xfrm>
            <a:off x="502920" y="859536"/>
            <a:ext cx="9144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cxnSp>
        <p:nvCxnSpPr>
          <p:cNvPr id="152" name="Google Shape;152;p7"/>
          <p:cNvCxnSpPr/>
          <p:nvPr/>
        </p:nvCxnSpPr>
        <p:spPr>
          <a:xfrm>
            <a:off x="502920" y="1024128"/>
            <a:ext cx="11185855" cy="0"/>
          </a:xfrm>
          <a:prstGeom prst="straightConnector1">
            <a:avLst/>
          </a:prstGeom>
          <a:noFill/>
          <a:ln w="15225" cap="flat" cmpd="sng">
            <a:solidFill>
              <a:srgbClr val="C9A841"/>
            </a:solidFill>
            <a:prstDash val="solid"/>
            <a:round/>
            <a:headEnd type="none" w="sm" len="sm"/>
            <a:tailEnd type="none" w="sm" len="sm"/>
          </a:ln>
        </p:spPr>
      </p:cxnSp>
      <p:cxnSp>
        <p:nvCxnSpPr>
          <p:cNvPr id="153" name="Google Shape;153;p7"/>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154" name="Google Shape;154;p7"/>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155" name="Google Shape;155;p7"/>
          <p:cNvSpPr/>
          <p:nvPr/>
        </p:nvSpPr>
        <p:spPr>
          <a:xfrm>
            <a:off x="3474720" y="6455664"/>
            <a:ext cx="5239512" cy="27432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156" name="Google Shape;156;p7"/>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5</a:t>
            </a:r>
            <a:endParaRPr sz="900">
              <a:solidFill>
                <a:schemeClr val="dk1"/>
              </a:solidFill>
              <a:latin typeface="Calibri"/>
              <a:ea typeface="Calibri"/>
              <a:cs typeface="Calibri"/>
              <a:sym typeface="Calibri"/>
            </a:endParaRPr>
          </a:p>
        </p:txBody>
      </p:sp>
      <p:graphicFrame>
        <p:nvGraphicFramePr>
          <p:cNvPr id="157" name="Google Shape;157;p7"/>
          <p:cNvGraphicFramePr/>
          <p:nvPr/>
        </p:nvGraphicFramePr>
        <p:xfrm>
          <a:off x="412630" y="1170432"/>
          <a:ext cx="11273425" cy="5029210"/>
        </p:xfrm>
        <a:graphic>
          <a:graphicData uri="http://schemas.openxmlformats.org/drawingml/2006/table">
            <a:tbl>
              <a:tblPr>
                <a:noFill/>
                <a:tableStyleId>{447C9BEA-6194-4350-8763-1165BE206493}</a:tableStyleId>
              </a:tblPr>
              <a:tblGrid>
                <a:gridCol w="382900">
                  <a:extLst>
                    <a:ext uri="{9D8B030D-6E8A-4147-A177-3AD203B41FA5}">
                      <a16:colId xmlns:a16="http://schemas.microsoft.com/office/drawing/2014/main" val="20000"/>
                    </a:ext>
                  </a:extLst>
                </a:gridCol>
                <a:gridCol w="1627625">
                  <a:extLst>
                    <a:ext uri="{9D8B030D-6E8A-4147-A177-3AD203B41FA5}">
                      <a16:colId xmlns:a16="http://schemas.microsoft.com/office/drawing/2014/main" val="20001"/>
                    </a:ext>
                  </a:extLst>
                </a:gridCol>
                <a:gridCol w="1325875">
                  <a:extLst>
                    <a:ext uri="{9D8B030D-6E8A-4147-A177-3AD203B41FA5}">
                      <a16:colId xmlns:a16="http://schemas.microsoft.com/office/drawing/2014/main" val="20002"/>
                    </a:ext>
                  </a:extLst>
                </a:gridCol>
                <a:gridCol w="1417325">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2606050">
                  <a:extLst>
                    <a:ext uri="{9D8B030D-6E8A-4147-A177-3AD203B41FA5}">
                      <a16:colId xmlns:a16="http://schemas.microsoft.com/office/drawing/2014/main" val="20005"/>
                    </a:ext>
                  </a:extLst>
                </a:gridCol>
                <a:gridCol w="1691650">
                  <a:extLst>
                    <a:ext uri="{9D8B030D-6E8A-4147-A177-3AD203B41FA5}">
                      <a16:colId xmlns:a16="http://schemas.microsoft.com/office/drawing/2014/main" val="20006"/>
                    </a:ext>
                  </a:extLst>
                </a:gridCol>
                <a:gridCol w="1764800">
                  <a:extLst>
                    <a:ext uri="{9D8B030D-6E8A-4147-A177-3AD203B41FA5}">
                      <a16:colId xmlns:a16="http://schemas.microsoft.com/office/drawing/2014/main" val="20007"/>
                    </a:ext>
                  </a:extLst>
                </a:gridCol>
              </a:tblGrid>
              <a:tr h="1257300">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S.No</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Title</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Author Details</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Journal / Conference</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Year</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Description</a:t>
                      </a:r>
                      <a:endParaRPr sz="950" u="none" strike="noStrike" cap="none"/>
                    </a:p>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(Techniques / Dataset / Algorithms)</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Merits</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Demerits</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extLst>
                  <a:ext uri="{0D108BD9-81ED-4DB2-BD59-A6C34878D82A}">
                    <a16:rowId xmlns:a16="http://schemas.microsoft.com/office/drawing/2014/main" val="10000"/>
                  </a:ext>
                </a:extLst>
              </a:tr>
              <a:tr h="1257300">
                <a:tc>
                  <a:txBody>
                    <a:bodyPr/>
                    <a:lstStyle/>
                    <a:p>
                      <a:pPr marL="0" marR="0" lvl="0" indent="0" algn="ctr" rtl="0">
                        <a:spcBef>
                          <a:spcPts val="0"/>
                        </a:spcBef>
                        <a:spcAft>
                          <a:spcPts val="0"/>
                        </a:spcAft>
                        <a:buClr>
                          <a:srgbClr val="1F4A3A"/>
                        </a:buClr>
                        <a:buSzPts val="850"/>
                        <a:buFont typeface="Calibri"/>
                        <a:buNone/>
                      </a:pPr>
                      <a:r>
                        <a:rPr lang="en-US" sz="850" b="1" u="none" strike="noStrike" cap="none">
                          <a:solidFill>
                            <a:srgbClr val="1F4A3A"/>
                          </a:solidFill>
                        </a:rPr>
                        <a:t>1</a:t>
                      </a:r>
                      <a:endParaRPr sz="850" u="none" strike="noStrike" cap="none"/>
                    </a:p>
                    <a:p>
                      <a:pPr marL="0" marR="0" lvl="0" indent="0" algn="ctr" rtl="0">
                        <a:spcBef>
                          <a:spcPts val="0"/>
                        </a:spcBef>
                        <a:spcAft>
                          <a:spcPts val="0"/>
                        </a:spcAft>
                        <a:buClr>
                          <a:srgbClr val="1F4A3A"/>
                        </a:buClr>
                        <a:buSzPts val="850"/>
                        <a:buFont typeface="Calibri"/>
                        <a:buNone/>
                      </a:pP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tc>
                  <a:txBody>
                    <a:bodyPr/>
                    <a:lstStyle/>
                    <a:p>
                      <a:pPr marL="0" marR="0" lvl="0" indent="0" algn="l" rtl="0">
                        <a:spcBef>
                          <a:spcPts val="0"/>
                        </a:spcBef>
                        <a:spcAft>
                          <a:spcPts val="0"/>
                        </a:spcAft>
                        <a:buClr>
                          <a:srgbClr val="1C2526"/>
                        </a:buClr>
                        <a:buSzPts val="850"/>
                        <a:buFont typeface="Calibri"/>
                        <a:buNone/>
                      </a:pPr>
                      <a:r>
                        <a:rPr lang="en-US" sz="850" b="1">
                          <a:solidFill>
                            <a:srgbClr val="1C2526"/>
                          </a:solidFill>
                        </a:rPr>
                        <a:t>AI in College Placement &amp; Career Recommendation Systems</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tc>
                  <a:txBody>
                    <a:bodyPr/>
                    <a:lstStyle/>
                    <a:p>
                      <a:pPr marL="0" marR="0" lvl="0" indent="0" algn="l" rtl="0">
                        <a:spcBef>
                          <a:spcPts val="0"/>
                        </a:spcBef>
                        <a:spcAft>
                          <a:spcPts val="0"/>
                        </a:spcAft>
                        <a:buClr>
                          <a:srgbClr val="1C2526"/>
                        </a:buClr>
                        <a:buSzPts val="850"/>
                        <a:buFont typeface="Calibri"/>
                        <a:buNone/>
                      </a:pPr>
                      <a:r>
                        <a:rPr lang="en-US" sz="850"/>
                        <a:t>Mahendra Vishwanath Thakare, Pornima Shamrao Veer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International Journal of Advanced Scientific Research (IJASR)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tc>
                  <a:txBody>
                    <a:bodyPr/>
                    <a:lstStyle/>
                    <a:p>
                      <a:pPr marL="0" marR="0" lvl="0" indent="0" algn="ctr" rtl="0">
                        <a:spcBef>
                          <a:spcPts val="0"/>
                        </a:spcBef>
                        <a:spcAft>
                          <a:spcPts val="0"/>
                        </a:spcAft>
                        <a:buClr>
                          <a:srgbClr val="1C2526"/>
                        </a:buClr>
                        <a:buSzPts val="850"/>
                        <a:buFont typeface="Calibri"/>
                        <a:buNone/>
                      </a:pPr>
                      <a:r>
                        <a:rPr lang="en-US" sz="850">
                          <a:solidFill>
                            <a:srgbClr val="1C2526"/>
                          </a:solidFill>
                        </a:rPr>
                        <a:t>2025</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tc>
                  <a:txBody>
                    <a:bodyPr/>
                    <a:lstStyle/>
                    <a:p>
                      <a:pPr marL="0" marR="0" lvl="0" indent="0" algn="l" rtl="0">
                        <a:spcBef>
                          <a:spcPts val="0"/>
                        </a:spcBef>
                        <a:spcAft>
                          <a:spcPts val="0"/>
                        </a:spcAft>
                        <a:buClr>
                          <a:srgbClr val="1C2526"/>
                        </a:buClr>
                        <a:buSzPts val="850"/>
                        <a:buFont typeface="Calibri"/>
                        <a:buNone/>
                      </a:pPr>
                      <a:r>
                        <a:rPr lang="en-US" sz="850"/>
                        <a:t>Uses Artificial Intelligence, Machine Learning (ML), Natural Language Processing (NLP), and Predictive Analytics to analyze student academic performance, skills, interests, resumes, and job market trends. The system provides personalized career recommendations and improves placement opportunities.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tc>
                  <a:txBody>
                    <a:bodyPr/>
                    <a:lstStyle/>
                    <a:p>
                      <a:pPr marL="0" marR="0" lvl="0" indent="0" algn="l" rtl="0">
                        <a:spcBef>
                          <a:spcPts val="0"/>
                        </a:spcBef>
                        <a:spcAft>
                          <a:spcPts val="0"/>
                        </a:spcAft>
                        <a:buClr>
                          <a:srgbClr val="1C2526"/>
                        </a:buClr>
                        <a:buSzPts val="850"/>
                        <a:buFont typeface="Calibri"/>
                        <a:buNone/>
                      </a:pPr>
                      <a:r>
                        <a:rPr lang="en-US" sz="850"/>
                        <a:t>Improves placement accuracy, provides personalized career guidance, reduces manual effort, enhances hiring efficiency, and supports data-driven decision making.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Depends on data quality, may introduce bias if training data is inaccurate, raises privacy concerns, and requires continuous model updates.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extLst>
                  <a:ext uri="{0D108BD9-81ED-4DB2-BD59-A6C34878D82A}">
                    <a16:rowId xmlns:a16="http://schemas.microsoft.com/office/drawing/2014/main" val="10001"/>
                  </a:ext>
                </a:extLst>
              </a:tr>
              <a:tr h="1257300">
                <a:tc>
                  <a:txBody>
                    <a:bodyPr/>
                    <a:lstStyle/>
                    <a:p>
                      <a:pPr marL="0" marR="0" lvl="0" indent="0" algn="ctr" rtl="0">
                        <a:spcBef>
                          <a:spcPts val="0"/>
                        </a:spcBef>
                        <a:spcAft>
                          <a:spcPts val="0"/>
                        </a:spcAft>
                        <a:buClr>
                          <a:srgbClr val="6B7B73"/>
                        </a:buClr>
                        <a:buSzPts val="900"/>
                        <a:buFont typeface="Calibri"/>
                        <a:buNone/>
                      </a:pPr>
                      <a:r>
                        <a:rPr lang="en-US" sz="900" u="none" strike="noStrike" cap="none">
                          <a:solidFill>
                            <a:srgbClr val="6B7B73"/>
                          </a:solidFill>
                        </a:rPr>
                        <a:t>2</a:t>
                      </a:r>
                      <a:endParaRPr sz="9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b="1">
                          <a:solidFill>
                            <a:srgbClr val="1C2526"/>
                          </a:solidFill>
                        </a:rPr>
                        <a:t>An AI-Powered Career Readiness Ecosystem for Campus Placements  </a:t>
                      </a:r>
                      <a:endParaRPr sz="850" b="1"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a:t>Ajinkya Bondge, Atharva Patil, Mehul Chavan, Pratik Chinchwadkar, Soham Bhogale, Satyajeet Shinge (Guide)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a:t>International Journal of Technology &amp; Emerging Research (IJTER)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ctr" rtl="0">
                        <a:spcBef>
                          <a:spcPts val="0"/>
                        </a:spcBef>
                        <a:spcAft>
                          <a:spcPts val="0"/>
                        </a:spcAft>
                        <a:buClr>
                          <a:srgbClr val="1C2526"/>
                        </a:buClr>
                        <a:buSzPts val="900"/>
                        <a:buFont typeface="Calibri"/>
                        <a:buNone/>
                      </a:pPr>
                      <a:r>
                        <a:rPr lang="en-US" sz="900">
                          <a:solidFill>
                            <a:srgbClr val="1C2526"/>
                          </a:solidFill>
                        </a:rPr>
                        <a:t>2026</a:t>
                      </a:r>
                      <a:endParaRPr sz="9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00">
                          <a:solidFill>
                            <a:schemeClr val="dk1"/>
                          </a:solidFill>
                        </a:rPr>
                        <a:t>Proposes PrepWise AI, an AI-powered placement preparation platform integrating aptitude tests, DSA practice, AI-based mock interviews, ATS resume analysis, face detection proctoring, and predictive analytics. Uses Machine Learning, NLP, Google Gemini API, OpenCV, MongoDB, and FastAPI. Dataset includes 3000+ DSA problems and student performance data for evaluation and recommendation. </a:t>
                      </a:r>
                      <a:endParaRPr sz="5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Provides a unified placement preparation platform, personalized feedback, AI-driven interview evaluation, ATS-based resume optimization, real-time analytics, and recruiter support.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Requires internet connectivity and cloud services, depends on AI model accuracy, may raise privacy concerns due to proctoring, and involves higher implementation complexity.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extLst>
                  <a:ext uri="{0D108BD9-81ED-4DB2-BD59-A6C34878D82A}">
                    <a16:rowId xmlns:a16="http://schemas.microsoft.com/office/drawing/2014/main" val="10002"/>
                  </a:ext>
                </a:extLst>
              </a:tr>
              <a:tr h="1257300">
                <a:tc>
                  <a:txBody>
                    <a:bodyPr/>
                    <a:lstStyle/>
                    <a:p>
                      <a:pPr marL="0" marR="0" lvl="0" indent="0" algn="ctr" rtl="0">
                        <a:spcBef>
                          <a:spcPts val="0"/>
                        </a:spcBef>
                        <a:spcAft>
                          <a:spcPts val="0"/>
                        </a:spcAft>
                        <a:buClr>
                          <a:srgbClr val="6B7B73"/>
                        </a:buClr>
                        <a:buSzPts val="900"/>
                        <a:buFont typeface="Calibri"/>
                        <a:buNone/>
                      </a:pPr>
                      <a:r>
                        <a:rPr lang="en-US" sz="900" u="none" strike="noStrike" cap="none">
                          <a:solidFill>
                            <a:srgbClr val="6B7B73"/>
                          </a:solidFill>
                        </a:rPr>
                        <a:t>3</a:t>
                      </a:r>
                      <a:endParaRPr sz="9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b="1">
                          <a:solidFill>
                            <a:srgbClr val="1C2526"/>
                          </a:solidFill>
                        </a:rPr>
                        <a:t>Analytical Placement System: An AI-Enabled Platform for Structured Placement Preparation </a:t>
                      </a:r>
                      <a:endParaRPr sz="850" b="1"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Nayan Patil, Suraj Patil, Chaitanya Kulkarni, Prof. Revati Raspayle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Research Article, MIT School of Computing (MITSoC), MIT ADT University, Pune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C2526"/>
                        </a:buClr>
                        <a:buSzPts val="900"/>
                        <a:buFont typeface="Calibri"/>
                        <a:buNone/>
                      </a:pPr>
                      <a:r>
                        <a:rPr lang="en-US" sz="900">
                          <a:solidFill>
                            <a:srgbClr val="1C2526"/>
                          </a:solidFill>
                        </a:rPr>
                        <a:t>2026</a:t>
                      </a:r>
                      <a:endParaRPr sz="9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a:t>Uses Artificial Intelligence, Natural Language Processing (NLP), Speech Analysis, GPT-4o, Whisper Speech-to-Text, BERT-based communication evaluation, Readiness Score Engine, and Company–Student Matching Algorithm. Dataset includes historical placement records (1,240 student records), technical assessments, communication assessments, and placement outcome data.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Provides personalized learning roadmaps, real-time placement readiness tracking, AI-based communication assessment, intelligent company matching, and improved placement preparation through data-driven insights.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Requires large historical datasets, depends on AI model accuracy, evaluated mainly on English-language responses, incurs API costs, and may require institution-specific calibration.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2"/>
        <p:cNvGrpSpPr/>
        <p:nvPr/>
      </p:nvGrpSpPr>
      <p:grpSpPr>
        <a:xfrm>
          <a:off x="0" y="0"/>
          <a:ext cx="0" cy="0"/>
          <a:chOff x="0" y="0"/>
          <a:chExt cx="0" cy="0"/>
        </a:xfrm>
      </p:grpSpPr>
      <p:sp>
        <p:nvSpPr>
          <p:cNvPr id="163" name="Google Shape;163;p8"/>
          <p:cNvSpPr/>
          <p:nvPr/>
        </p:nvSpPr>
        <p:spPr>
          <a:xfrm>
            <a:off x="0" y="0"/>
            <a:ext cx="12191695" cy="164592"/>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502920" y="237744"/>
            <a:ext cx="109728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LITERATURE SURVEY (CONT.)</a:t>
            </a:r>
            <a:endParaRPr sz="2800">
              <a:solidFill>
                <a:schemeClr val="dk1"/>
              </a:solidFill>
              <a:latin typeface="Calibri"/>
              <a:ea typeface="Calibri"/>
              <a:cs typeface="Calibri"/>
              <a:sym typeface="Calibri"/>
            </a:endParaRPr>
          </a:p>
        </p:txBody>
      </p:sp>
      <p:sp>
        <p:nvSpPr>
          <p:cNvPr id="165" name="Google Shape;165;p8"/>
          <p:cNvSpPr/>
          <p:nvPr/>
        </p:nvSpPr>
        <p:spPr>
          <a:xfrm>
            <a:off x="502920" y="859536"/>
            <a:ext cx="9144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cxnSp>
        <p:nvCxnSpPr>
          <p:cNvPr id="166" name="Google Shape;166;p8"/>
          <p:cNvCxnSpPr/>
          <p:nvPr/>
        </p:nvCxnSpPr>
        <p:spPr>
          <a:xfrm>
            <a:off x="502920" y="1024128"/>
            <a:ext cx="11185855" cy="0"/>
          </a:xfrm>
          <a:prstGeom prst="straightConnector1">
            <a:avLst/>
          </a:prstGeom>
          <a:noFill/>
          <a:ln w="15225" cap="flat" cmpd="sng">
            <a:solidFill>
              <a:srgbClr val="C9A841"/>
            </a:solidFill>
            <a:prstDash val="solid"/>
            <a:round/>
            <a:headEnd type="none" w="sm" len="sm"/>
            <a:tailEnd type="none" w="sm" len="sm"/>
          </a:ln>
        </p:spPr>
      </p:cxnSp>
      <p:cxnSp>
        <p:nvCxnSpPr>
          <p:cNvPr id="167" name="Google Shape;167;p8"/>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168" name="Google Shape;168;p8"/>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169" name="Google Shape;169;p8"/>
          <p:cNvSpPr/>
          <p:nvPr/>
        </p:nvSpPr>
        <p:spPr>
          <a:xfrm>
            <a:off x="3474720" y="6455664"/>
            <a:ext cx="5239512" cy="27432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170" name="Google Shape;170;p8"/>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6</a:t>
            </a:r>
            <a:endParaRPr sz="900">
              <a:solidFill>
                <a:schemeClr val="dk1"/>
              </a:solidFill>
              <a:latin typeface="Calibri"/>
              <a:ea typeface="Calibri"/>
              <a:cs typeface="Calibri"/>
              <a:sym typeface="Calibri"/>
            </a:endParaRPr>
          </a:p>
        </p:txBody>
      </p:sp>
      <p:graphicFrame>
        <p:nvGraphicFramePr>
          <p:cNvPr id="171" name="Google Shape;171;p8"/>
          <p:cNvGraphicFramePr/>
          <p:nvPr>
            <p:extLst>
              <p:ext uri="{D42A27DB-BD31-4B8C-83A1-F6EECF244321}">
                <p14:modId xmlns:p14="http://schemas.microsoft.com/office/powerpoint/2010/main" val="546634571"/>
              </p:ext>
            </p:extLst>
          </p:nvPr>
        </p:nvGraphicFramePr>
        <p:xfrm>
          <a:off x="457200" y="1170432"/>
          <a:ext cx="11228854" cy="5195458"/>
        </p:xfrm>
        <a:graphic>
          <a:graphicData uri="http://schemas.openxmlformats.org/drawingml/2006/table">
            <a:tbl>
              <a:tblPr>
                <a:noFill/>
                <a:tableStyleId>{447C9BEA-6194-4350-8763-1165BE206493}</a:tableStyleId>
              </a:tblPr>
              <a:tblGrid>
                <a:gridCol w="382493">
                  <a:extLst>
                    <a:ext uri="{9D8B030D-6E8A-4147-A177-3AD203B41FA5}">
                      <a16:colId xmlns:a16="http://schemas.microsoft.com/office/drawing/2014/main" val="20000"/>
                    </a:ext>
                  </a:extLst>
                </a:gridCol>
                <a:gridCol w="1621025">
                  <a:extLst>
                    <a:ext uri="{9D8B030D-6E8A-4147-A177-3AD203B41FA5}">
                      <a16:colId xmlns:a16="http://schemas.microsoft.com/office/drawing/2014/main" val="20001"/>
                    </a:ext>
                  </a:extLst>
                </a:gridCol>
                <a:gridCol w="1320498">
                  <a:extLst>
                    <a:ext uri="{9D8B030D-6E8A-4147-A177-3AD203B41FA5}">
                      <a16:colId xmlns:a16="http://schemas.microsoft.com/office/drawing/2014/main" val="20002"/>
                    </a:ext>
                  </a:extLst>
                </a:gridCol>
                <a:gridCol w="1411577">
                  <a:extLst>
                    <a:ext uri="{9D8B030D-6E8A-4147-A177-3AD203B41FA5}">
                      <a16:colId xmlns:a16="http://schemas.microsoft.com/office/drawing/2014/main" val="20003"/>
                    </a:ext>
                  </a:extLst>
                </a:gridCol>
                <a:gridCol w="489283">
                  <a:extLst>
                    <a:ext uri="{9D8B030D-6E8A-4147-A177-3AD203B41FA5}">
                      <a16:colId xmlns:a16="http://schemas.microsoft.com/office/drawing/2014/main" val="20004"/>
                    </a:ext>
                  </a:extLst>
                </a:gridCol>
                <a:gridCol w="2561545">
                  <a:extLst>
                    <a:ext uri="{9D8B030D-6E8A-4147-A177-3AD203B41FA5}">
                      <a16:colId xmlns:a16="http://schemas.microsoft.com/office/drawing/2014/main" val="20005"/>
                    </a:ext>
                  </a:extLst>
                </a:gridCol>
                <a:gridCol w="1684790">
                  <a:extLst>
                    <a:ext uri="{9D8B030D-6E8A-4147-A177-3AD203B41FA5}">
                      <a16:colId xmlns:a16="http://schemas.microsoft.com/office/drawing/2014/main" val="20006"/>
                    </a:ext>
                  </a:extLst>
                </a:gridCol>
                <a:gridCol w="1757643">
                  <a:extLst>
                    <a:ext uri="{9D8B030D-6E8A-4147-A177-3AD203B41FA5}">
                      <a16:colId xmlns:a16="http://schemas.microsoft.com/office/drawing/2014/main" val="20007"/>
                    </a:ext>
                  </a:extLst>
                </a:gridCol>
              </a:tblGrid>
              <a:tr h="1146109">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S.No</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Title</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Author Details</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Journal / Conference</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Year</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Description</a:t>
                      </a:r>
                      <a:endParaRPr sz="950" u="none" strike="noStrike" cap="none"/>
                    </a:p>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(Techniques / Dataset / Algorithms)</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Merits</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rPr>
                        <a:t>Demerits</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extLst>
                  <a:ext uri="{0D108BD9-81ED-4DB2-BD59-A6C34878D82A}">
                    <a16:rowId xmlns:a16="http://schemas.microsoft.com/office/drawing/2014/main" val="10000"/>
                  </a:ext>
                </a:extLst>
              </a:tr>
              <a:tr h="1216985">
                <a:tc>
                  <a:txBody>
                    <a:bodyPr/>
                    <a:lstStyle/>
                    <a:p>
                      <a:pPr marL="0" marR="0" lvl="0" indent="0" algn="ctr" rtl="0">
                        <a:spcBef>
                          <a:spcPts val="0"/>
                        </a:spcBef>
                        <a:spcAft>
                          <a:spcPts val="0"/>
                        </a:spcAft>
                        <a:buClr>
                          <a:srgbClr val="6B7B73"/>
                        </a:buClr>
                        <a:buSzPts val="900"/>
                        <a:buFont typeface="Calibri"/>
                        <a:buNone/>
                      </a:pPr>
                      <a:r>
                        <a:rPr lang="en-US" sz="900" u="none" strike="noStrike" cap="none">
                          <a:solidFill>
                            <a:srgbClr val="6B7B73"/>
                          </a:solidFill>
                        </a:rPr>
                        <a:t>4</a:t>
                      </a:r>
                      <a:endParaRPr sz="9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b="1">
                          <a:solidFill>
                            <a:srgbClr val="1C2526"/>
                          </a:solidFill>
                        </a:rPr>
                        <a:t>An Edutech Admission Consultancy Platform with AI College Predictor Module </a:t>
                      </a:r>
                      <a:endParaRPr sz="850" b="1"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Mr. Debabrata Behera, Mr. Satyanarayan Chhualsingh, Er. Jagannath Ray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International Journal of Economic Social Science and Management Law (IJEML)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ctr" rtl="0">
                        <a:spcBef>
                          <a:spcPts val="0"/>
                        </a:spcBef>
                        <a:spcAft>
                          <a:spcPts val="0"/>
                        </a:spcAft>
                        <a:buClr>
                          <a:srgbClr val="1C2526"/>
                        </a:buClr>
                        <a:buSzPts val="900"/>
                        <a:buFont typeface="Calibri"/>
                        <a:buNone/>
                      </a:pPr>
                      <a:r>
                        <a:rPr lang="en-US" sz="900">
                          <a:solidFill>
                            <a:srgbClr val="1C2526"/>
                          </a:solidFill>
                        </a:rPr>
                        <a:t>2026</a:t>
                      </a:r>
                      <a:endParaRPr sz="9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Develops a web-based educational consultancy platform with an AI College Predictor Module. Uses a Linear Probability Model, historical cutoff records, rank analysis, category-based prediction, chatbot assistance, PHP, MySQL, HTML5, CSS3, Bootstrap 5, and JavaScript. The system predicts admission chances and classifies colleges into Safe, Moderate, and Dream categories.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Provides centralized admission guidance, intelligent college prediction, chatbot support, real-time decision assistance, responsive design, and reduced manual counseling effort.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Prediction accuracy depends on historical cutoff data, chatbot is rule-based rather than NLP-based, and system effectiveness depends on data freshness and correctness.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9FCFB"/>
                    </a:solidFill>
                  </a:tcPr>
                </a:tc>
                <a:extLst>
                  <a:ext uri="{0D108BD9-81ED-4DB2-BD59-A6C34878D82A}">
                    <a16:rowId xmlns:a16="http://schemas.microsoft.com/office/drawing/2014/main" val="10001"/>
                  </a:ext>
                </a:extLst>
              </a:tr>
              <a:tr h="1593141">
                <a:tc>
                  <a:txBody>
                    <a:bodyPr/>
                    <a:lstStyle/>
                    <a:p>
                      <a:pPr marL="0" marR="0" lvl="0" indent="0" algn="ctr" rtl="0">
                        <a:spcBef>
                          <a:spcPts val="0"/>
                        </a:spcBef>
                        <a:spcAft>
                          <a:spcPts val="0"/>
                        </a:spcAft>
                        <a:buClr>
                          <a:srgbClr val="6B7B73"/>
                        </a:buClr>
                        <a:buSzPts val="900"/>
                        <a:buFont typeface="Calibri"/>
                        <a:buNone/>
                      </a:pPr>
                      <a:r>
                        <a:rPr lang="en-US" sz="900" u="none" strike="noStrike" cap="none">
                          <a:solidFill>
                            <a:srgbClr val="6B7B73"/>
                          </a:solidFill>
                        </a:rPr>
                        <a:t>5</a:t>
                      </a:r>
                      <a:endParaRPr sz="9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b="1" dirty="0" err="1">
                          <a:solidFill>
                            <a:srgbClr val="1C2526"/>
                          </a:solidFill>
                        </a:rPr>
                        <a:t>Assessnce</a:t>
                      </a:r>
                      <a:r>
                        <a:rPr lang="en-US" sz="850" b="1" dirty="0">
                          <a:solidFill>
                            <a:srgbClr val="1C2526"/>
                          </a:solidFill>
                        </a:rPr>
                        <a:t>: An AI-Powered Framework for Automated Placement Training and Interview Analysis </a:t>
                      </a:r>
                      <a:endParaRPr sz="850" b="1" u="none" strike="noStrike" cap="none" dirty="0"/>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Mr. Shekhar Srivastava, Harsh Verma, Pranav Tripathi, Prateek Saxena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International Research Journal on Advanced Engineering and Management (IRJAEM)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C2526"/>
                        </a:buClr>
                        <a:buSzPts val="900"/>
                        <a:buFont typeface="Calibri"/>
                        <a:buNone/>
                      </a:pPr>
                      <a:r>
                        <a:rPr lang="en-US" sz="900">
                          <a:solidFill>
                            <a:srgbClr val="1C2526"/>
                          </a:solidFill>
                        </a:rPr>
                        <a:t>2026</a:t>
                      </a:r>
                      <a:endParaRPr sz="9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a:solidFill>
                            <a:schemeClr val="dk1"/>
                          </a:solidFill>
                        </a:rPr>
                        <a:t>Proposes Assessnce, an AI-powered placement training platform integrating learning modules, automated interview evaluation, and resume analysis. Uses Natural Language Processing (NLP), Computer Vision (CV), Speech Processing, Multimodal Fusion, BERT, DistilBERT, Whisper ASR, MediaPipe Face Mesh, OpenCV, and Explainable AI (XAI). The system evaluates resumes, interview performance, communication skills, confidence, and generates a Placement Readiness Score (PRS).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a:t>Provides automated and objective placement training, multimodal interview assessment, ATS-aware resume evaluation, personalized feedback, readiness scoring, and scalable deployment for educational institutions.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850"/>
                        <a:buFont typeface="Calibri"/>
                        <a:buNone/>
                      </a:pPr>
                      <a:r>
                        <a:rPr lang="en-US" sz="850">
                          <a:solidFill>
                            <a:srgbClr val="1C2526"/>
                          </a:solidFill>
                        </a:rPr>
                        <a:t>Requires AI model training and computational resources, may face bias and fairness issues in speech and facial analysis, depends on quality input data, and requires continuous updates for improved accuracy. </a:t>
                      </a:r>
                      <a:endParaRPr sz="8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146109">
                <a:tc>
                  <a:txBody>
                    <a:bodyPr/>
                    <a:lstStyle/>
                    <a:p>
                      <a:pPr marL="0" marR="0" lvl="0" indent="0" algn="ctr" rtl="0">
                        <a:spcBef>
                          <a:spcPts val="0"/>
                        </a:spcBef>
                        <a:spcAft>
                          <a:spcPts val="0"/>
                        </a:spcAft>
                        <a:buClr>
                          <a:srgbClr val="C9A841"/>
                        </a:buClr>
                        <a:buSzPts val="1100"/>
                        <a:buFont typeface="Calibri"/>
                        <a:buNone/>
                      </a:pPr>
                      <a:endParaRPr sz="1100" u="none" strike="noStrike" cap="none" dirty="0"/>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BF6E3"/>
                    </a:solidFill>
                  </a:tcPr>
                </a:tc>
                <a:tc>
                  <a:txBody>
                    <a:bodyPr/>
                    <a:lstStyle/>
                    <a:p>
                      <a:pPr marL="0" marR="0" lvl="0" indent="0" algn="l" rtl="0">
                        <a:spcBef>
                          <a:spcPts val="0"/>
                        </a:spcBef>
                        <a:spcAft>
                          <a:spcPts val="0"/>
                        </a:spcAft>
                        <a:buClr>
                          <a:srgbClr val="8B6914"/>
                        </a:buClr>
                        <a:buSzPts val="900"/>
                        <a:buFont typeface="Calibri"/>
                        <a:buNone/>
                      </a:pPr>
                      <a:endParaRPr sz="900" u="none" strike="noStrike" cap="none" dirty="0"/>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BF6E3"/>
                    </a:solidFill>
                  </a:tcPr>
                </a:tc>
                <a:tc>
                  <a:txBody>
                    <a:bodyPr/>
                    <a:lstStyle/>
                    <a:p>
                      <a:pPr marL="0" marR="0" lvl="0" indent="0" algn="l" rtl="0">
                        <a:spcBef>
                          <a:spcPts val="0"/>
                        </a:spcBef>
                        <a:spcAft>
                          <a:spcPts val="0"/>
                        </a:spcAft>
                        <a:buClr>
                          <a:schemeClr val="dk1"/>
                        </a:buClr>
                        <a:buSzPts val="1200"/>
                        <a:buFont typeface="Calibri"/>
                        <a:buNone/>
                      </a:pPr>
                      <a:endParaRPr sz="1200" u="none" strike="noStrike" cap="none">
                        <a:highlight>
                          <a:schemeClr val="lt1"/>
                        </a:highlight>
                      </a:endParaRPr>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BF6E3"/>
                    </a:solidFill>
                  </a:tcPr>
                </a:tc>
                <a:tc>
                  <a:txBody>
                    <a:bodyPr/>
                    <a:lstStyle/>
                    <a:p>
                      <a:pPr marL="0" marR="0" lvl="0" indent="0" algn="l" rtl="0">
                        <a:spcBef>
                          <a:spcPts val="0"/>
                        </a:spcBef>
                        <a:spcAft>
                          <a:spcPts val="0"/>
                        </a:spcAft>
                        <a:buClr>
                          <a:schemeClr val="dk1"/>
                        </a:buClr>
                        <a:buSzPts val="1200"/>
                        <a:buFont typeface="Calibri"/>
                        <a:buNone/>
                      </a:pPr>
                      <a:endParaRPr sz="1200" u="none" strike="noStrike" cap="none">
                        <a:highlight>
                          <a:schemeClr val="lt1"/>
                        </a:highlight>
                      </a:endParaRPr>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BF6E3"/>
                    </a:solidFill>
                  </a:tcPr>
                </a:tc>
                <a:tc>
                  <a:txBody>
                    <a:bodyPr/>
                    <a:lstStyle/>
                    <a:p>
                      <a:pPr marL="0" marR="0" lvl="0" indent="0" algn="l" rtl="0">
                        <a:spcBef>
                          <a:spcPts val="0"/>
                        </a:spcBef>
                        <a:spcAft>
                          <a:spcPts val="0"/>
                        </a:spcAft>
                        <a:buClr>
                          <a:schemeClr val="dk1"/>
                        </a:buClr>
                        <a:buSzPts val="1200"/>
                        <a:buFont typeface="Calibri"/>
                        <a:buNone/>
                      </a:pPr>
                      <a:endParaRPr sz="12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BF6E3"/>
                    </a:solidFill>
                  </a:tcPr>
                </a:tc>
                <a:tc>
                  <a:txBody>
                    <a:bodyPr/>
                    <a:lstStyle/>
                    <a:p>
                      <a:pPr marL="0" marR="0" lvl="0" indent="0" algn="l" rtl="0">
                        <a:spcBef>
                          <a:spcPts val="0"/>
                        </a:spcBef>
                        <a:spcAft>
                          <a:spcPts val="0"/>
                        </a:spcAft>
                        <a:buClr>
                          <a:schemeClr val="dk1"/>
                        </a:buClr>
                        <a:buSzPts val="1200"/>
                        <a:buFont typeface="Calibri"/>
                        <a:buNone/>
                      </a:pPr>
                      <a:endParaRPr sz="12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BF6E3"/>
                    </a:solidFill>
                  </a:tcPr>
                </a:tc>
                <a:tc>
                  <a:txBody>
                    <a:bodyPr/>
                    <a:lstStyle/>
                    <a:p>
                      <a:pPr marL="0" marR="0" lvl="0" indent="0" algn="l" rtl="0">
                        <a:spcBef>
                          <a:spcPts val="0"/>
                        </a:spcBef>
                        <a:spcAft>
                          <a:spcPts val="0"/>
                        </a:spcAft>
                        <a:buClr>
                          <a:schemeClr val="dk1"/>
                        </a:buClr>
                        <a:buSzPts val="1200"/>
                        <a:buFont typeface="Calibri"/>
                        <a:buNone/>
                      </a:pPr>
                      <a:endParaRPr sz="12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BF6E3"/>
                    </a:solidFill>
                  </a:tcPr>
                </a:tc>
                <a:tc>
                  <a:txBody>
                    <a:bodyPr/>
                    <a:lstStyle/>
                    <a:p>
                      <a:pPr marL="0" marR="0" lvl="0" indent="0" algn="l" rtl="0">
                        <a:spcBef>
                          <a:spcPts val="0"/>
                        </a:spcBef>
                        <a:spcAft>
                          <a:spcPts val="0"/>
                        </a:spcAft>
                        <a:buClr>
                          <a:schemeClr val="dk1"/>
                        </a:buClr>
                        <a:buSzPts val="1200"/>
                        <a:buFont typeface="Calibri"/>
                        <a:buNone/>
                      </a:pPr>
                      <a:endParaRPr sz="1200" u="none" strike="noStrike" cap="none" dirty="0"/>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BF6E3"/>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sp>
        <p:nvSpPr>
          <p:cNvPr id="177" name="Google Shape;177;p9"/>
          <p:cNvSpPr/>
          <p:nvPr/>
        </p:nvSpPr>
        <p:spPr>
          <a:xfrm>
            <a:off x="0" y="0"/>
            <a:ext cx="12191695" cy="164592"/>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9"/>
          <p:cNvSpPr/>
          <p:nvPr/>
        </p:nvSpPr>
        <p:spPr>
          <a:xfrm>
            <a:off x="502920" y="237744"/>
            <a:ext cx="109728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EXISTING METHOD</a:t>
            </a:r>
            <a:endParaRPr sz="2800">
              <a:solidFill>
                <a:schemeClr val="dk1"/>
              </a:solidFill>
              <a:latin typeface="Calibri"/>
              <a:ea typeface="Calibri"/>
              <a:cs typeface="Calibri"/>
              <a:sym typeface="Calibri"/>
            </a:endParaRPr>
          </a:p>
        </p:txBody>
      </p:sp>
      <p:sp>
        <p:nvSpPr>
          <p:cNvPr id="179" name="Google Shape;179;p9"/>
          <p:cNvSpPr/>
          <p:nvPr/>
        </p:nvSpPr>
        <p:spPr>
          <a:xfrm>
            <a:off x="502920" y="859536"/>
            <a:ext cx="9144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cxnSp>
        <p:nvCxnSpPr>
          <p:cNvPr id="180" name="Google Shape;180;p9"/>
          <p:cNvCxnSpPr/>
          <p:nvPr/>
        </p:nvCxnSpPr>
        <p:spPr>
          <a:xfrm>
            <a:off x="502920" y="1024128"/>
            <a:ext cx="11185855" cy="0"/>
          </a:xfrm>
          <a:prstGeom prst="straightConnector1">
            <a:avLst/>
          </a:prstGeom>
          <a:noFill/>
          <a:ln w="15225" cap="flat" cmpd="sng">
            <a:solidFill>
              <a:srgbClr val="C9A841"/>
            </a:solidFill>
            <a:prstDash val="solid"/>
            <a:round/>
            <a:headEnd type="none" w="sm" len="sm"/>
            <a:tailEnd type="none" w="sm" len="sm"/>
          </a:ln>
        </p:spPr>
      </p:cxnSp>
      <p:cxnSp>
        <p:nvCxnSpPr>
          <p:cNvPr id="181" name="Google Shape;181;p9"/>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182" name="Google Shape;182;p9"/>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183" name="Google Shape;183;p9"/>
          <p:cNvSpPr/>
          <p:nvPr/>
        </p:nvSpPr>
        <p:spPr>
          <a:xfrm>
            <a:off x="3474720" y="6455664"/>
            <a:ext cx="5239512" cy="27432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184" name="Google Shape;184;p9"/>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7</a:t>
            </a:r>
            <a:endParaRPr sz="900">
              <a:solidFill>
                <a:schemeClr val="dk1"/>
              </a:solidFill>
              <a:latin typeface="Calibri"/>
              <a:ea typeface="Calibri"/>
              <a:cs typeface="Calibri"/>
              <a:sym typeface="Calibri"/>
            </a:endParaRPr>
          </a:p>
        </p:txBody>
      </p:sp>
      <p:sp>
        <p:nvSpPr>
          <p:cNvPr id="185" name="Google Shape;185;p9"/>
          <p:cNvSpPr/>
          <p:nvPr/>
        </p:nvSpPr>
        <p:spPr>
          <a:xfrm>
            <a:off x="502920" y="1170432"/>
            <a:ext cx="11185855" cy="475488"/>
          </a:xfrm>
          <a:prstGeom prst="roundRect">
            <a:avLst>
              <a:gd name="adj" fmla="val 13462"/>
            </a:avLst>
          </a:prstGeom>
          <a:solidFill>
            <a:srgbClr val="FBF6E3"/>
          </a:solidFill>
          <a:ln w="10150" cap="flat" cmpd="sng">
            <a:solidFill>
              <a:srgbClr val="C9A84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9"/>
          <p:cNvSpPr/>
          <p:nvPr/>
        </p:nvSpPr>
        <p:spPr>
          <a:xfrm>
            <a:off x="685800" y="1170432"/>
            <a:ext cx="10820100" cy="47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A5900"/>
              </a:buClr>
              <a:buSzPts val="1050"/>
              <a:buFont typeface="Calibri"/>
              <a:buNone/>
            </a:pPr>
            <a:r>
              <a:rPr lang="en-US" sz="1050" b="1">
                <a:solidFill>
                  <a:srgbClr val="7A5900"/>
                </a:solidFill>
                <a:latin typeface="Calibri"/>
                <a:ea typeface="Calibri"/>
                <a:cs typeface="Calibri"/>
                <a:sym typeface="Calibri"/>
              </a:rPr>
              <a:t>Base Paper:  Assessnce: An AI-Powered Framework for Automated Placement Training and Interview Analysis  ·  Author(s): Mr. Shekhar Srivastava, Harsh Verma, Pranav Tripathi, Prateek Saxena   ·  Journal: International Research Journal on Advanced Engineering and Management (IRJAEM)  ·  Year: 2026</a:t>
            </a:r>
            <a:endParaRPr sz="1050">
              <a:solidFill>
                <a:schemeClr val="dk1"/>
              </a:solidFill>
              <a:latin typeface="Calibri"/>
              <a:ea typeface="Calibri"/>
              <a:cs typeface="Calibri"/>
              <a:sym typeface="Calibri"/>
            </a:endParaRPr>
          </a:p>
        </p:txBody>
      </p:sp>
      <p:sp>
        <p:nvSpPr>
          <p:cNvPr id="187" name="Google Shape;187;p9"/>
          <p:cNvSpPr/>
          <p:nvPr/>
        </p:nvSpPr>
        <p:spPr>
          <a:xfrm>
            <a:off x="502920" y="1783080"/>
            <a:ext cx="5074920" cy="1325880"/>
          </a:xfrm>
          <a:prstGeom prst="roundRect">
            <a:avLst>
              <a:gd name="adj" fmla="val 4828"/>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9"/>
          <p:cNvSpPr/>
          <p:nvPr/>
        </p:nvSpPr>
        <p:spPr>
          <a:xfrm>
            <a:off x="502920" y="1792230"/>
            <a:ext cx="5074800" cy="347400"/>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p:nvPr/>
        </p:nvSpPr>
        <p:spPr>
          <a:xfrm>
            <a:off x="612648" y="1783080"/>
            <a:ext cx="4855464"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OBJECTIVE</a:t>
            </a:r>
            <a:endParaRPr sz="1000">
              <a:solidFill>
                <a:schemeClr val="dk1"/>
              </a:solidFill>
              <a:latin typeface="Calibri"/>
              <a:ea typeface="Calibri"/>
              <a:cs typeface="Calibri"/>
              <a:sym typeface="Calibri"/>
            </a:endParaRPr>
          </a:p>
        </p:txBody>
      </p:sp>
      <p:sp>
        <p:nvSpPr>
          <p:cNvPr id="190" name="Google Shape;190;p9"/>
          <p:cNvSpPr/>
          <p:nvPr/>
        </p:nvSpPr>
        <p:spPr>
          <a:xfrm>
            <a:off x="502920" y="2130552"/>
            <a:ext cx="5074920" cy="978408"/>
          </a:xfrm>
          <a:prstGeom prst="roundRect">
            <a:avLst>
              <a:gd name="adj" fmla="val 5607"/>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9"/>
          <p:cNvSpPr/>
          <p:nvPr/>
        </p:nvSpPr>
        <p:spPr>
          <a:xfrm>
            <a:off x="502925" y="2130550"/>
            <a:ext cx="4910400" cy="9783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0"/>
              </a:spcAft>
              <a:buClr>
                <a:schemeClr val="dk1"/>
              </a:buClr>
              <a:buSzPts val="1100"/>
              <a:buFont typeface="Arial"/>
              <a:buNone/>
            </a:pPr>
            <a:endParaRPr sz="11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100">
                <a:solidFill>
                  <a:schemeClr val="dk1"/>
                </a:solidFill>
              </a:rPr>
              <a:t>The base paper addresses the challenge of inadequate placement preparation by developing an AI-powered platform that automates resume analysis, interview evaluation, and skill assessment. It provides personalized feedback and placement readiness scoring to improve students' employability and recruitment success.</a:t>
            </a:r>
            <a:endParaRPr sz="1100">
              <a:solidFill>
                <a:schemeClr val="dk1"/>
              </a:solidFill>
            </a:endParaRPr>
          </a:p>
          <a:p>
            <a:pPr marL="0" marR="0" lvl="0" indent="0" algn="l" rtl="0">
              <a:spcBef>
                <a:spcPts val="1200"/>
              </a:spcBef>
              <a:spcAft>
                <a:spcPts val="0"/>
              </a:spcAft>
              <a:buClr>
                <a:srgbClr val="9AABA2"/>
              </a:buClr>
              <a:buSzPts val="1100"/>
              <a:buFont typeface="Calibri"/>
              <a:buNone/>
            </a:pPr>
            <a:r>
              <a:rPr lang="en-US" sz="1100" i="1">
                <a:solidFill>
                  <a:srgbClr val="9AABA2"/>
                </a:solidFill>
              </a:rPr>
              <a:t>[</a:t>
            </a:r>
            <a:endParaRPr sz="1100">
              <a:solidFill>
                <a:schemeClr val="dk1"/>
              </a:solidFill>
            </a:endParaRPr>
          </a:p>
        </p:txBody>
      </p:sp>
      <p:sp>
        <p:nvSpPr>
          <p:cNvPr id="192" name="Google Shape;192;p9"/>
          <p:cNvSpPr/>
          <p:nvPr/>
        </p:nvSpPr>
        <p:spPr>
          <a:xfrm>
            <a:off x="5779008" y="1783080"/>
            <a:ext cx="5074920" cy="1325880"/>
          </a:xfrm>
          <a:prstGeom prst="roundRect">
            <a:avLst>
              <a:gd name="adj" fmla="val 4828"/>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9"/>
          <p:cNvSpPr/>
          <p:nvPr/>
        </p:nvSpPr>
        <p:spPr>
          <a:xfrm>
            <a:off x="5779008" y="1783080"/>
            <a:ext cx="5074920" cy="347472"/>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9"/>
          <p:cNvSpPr/>
          <p:nvPr/>
        </p:nvSpPr>
        <p:spPr>
          <a:xfrm>
            <a:off x="5888736" y="1783080"/>
            <a:ext cx="4855464"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DATASET USED</a:t>
            </a:r>
            <a:endParaRPr sz="1000">
              <a:solidFill>
                <a:schemeClr val="dk1"/>
              </a:solidFill>
              <a:latin typeface="Calibri"/>
              <a:ea typeface="Calibri"/>
              <a:cs typeface="Calibri"/>
              <a:sym typeface="Calibri"/>
            </a:endParaRPr>
          </a:p>
        </p:txBody>
      </p:sp>
      <p:sp>
        <p:nvSpPr>
          <p:cNvPr id="195" name="Google Shape;195;p9"/>
          <p:cNvSpPr/>
          <p:nvPr/>
        </p:nvSpPr>
        <p:spPr>
          <a:xfrm>
            <a:off x="5779008" y="2130552"/>
            <a:ext cx="5074920" cy="978408"/>
          </a:xfrm>
          <a:prstGeom prst="roundRect">
            <a:avLst>
              <a:gd name="adj" fmla="val 5607"/>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9"/>
          <p:cNvSpPr/>
          <p:nvPr/>
        </p:nvSpPr>
        <p:spPr>
          <a:xfrm>
            <a:off x="5779000" y="2144327"/>
            <a:ext cx="4745700" cy="978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r>
              <a:rPr lang="en-US" sz="1100">
                <a:solidFill>
                  <a:schemeClr val="dk1"/>
                </a:solidFill>
              </a:rPr>
              <a:t>Multimodal dataset comprising resumes, interview transcripts, speech recordings, facial expression data, and placement training records. Exact dataset size and number of classes are not specified in the paper. </a:t>
            </a:r>
            <a:endParaRPr sz="1100">
              <a:solidFill>
                <a:schemeClr val="dk1"/>
              </a:solidFill>
            </a:endParaRPr>
          </a:p>
        </p:txBody>
      </p:sp>
      <p:sp>
        <p:nvSpPr>
          <p:cNvPr id="197" name="Google Shape;197;p9"/>
          <p:cNvSpPr/>
          <p:nvPr/>
        </p:nvSpPr>
        <p:spPr>
          <a:xfrm>
            <a:off x="502920" y="3273552"/>
            <a:ext cx="5074920" cy="1325880"/>
          </a:xfrm>
          <a:prstGeom prst="roundRect">
            <a:avLst>
              <a:gd name="adj" fmla="val 4828"/>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9"/>
          <p:cNvSpPr/>
          <p:nvPr/>
        </p:nvSpPr>
        <p:spPr>
          <a:xfrm>
            <a:off x="502920" y="3273552"/>
            <a:ext cx="5074920" cy="347472"/>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a:off x="612648" y="3273552"/>
            <a:ext cx="48555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ALGORITHM / MODEL</a:t>
            </a:r>
            <a:endParaRPr sz="1000">
              <a:solidFill>
                <a:schemeClr val="dk1"/>
              </a:solidFill>
              <a:latin typeface="Calibri"/>
              <a:ea typeface="Calibri"/>
              <a:cs typeface="Calibri"/>
              <a:sym typeface="Calibri"/>
            </a:endParaRPr>
          </a:p>
        </p:txBody>
      </p:sp>
      <p:sp>
        <p:nvSpPr>
          <p:cNvPr id="200" name="Google Shape;200;p9"/>
          <p:cNvSpPr/>
          <p:nvPr/>
        </p:nvSpPr>
        <p:spPr>
          <a:xfrm>
            <a:off x="502920" y="3621024"/>
            <a:ext cx="5074920" cy="978408"/>
          </a:xfrm>
          <a:prstGeom prst="roundRect">
            <a:avLst>
              <a:gd name="adj" fmla="val 5607"/>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a:off x="502850" y="3621025"/>
            <a:ext cx="5074800" cy="9783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100">
                <a:solidFill>
                  <a:schemeClr val="dk1"/>
                </a:solidFill>
              </a:rPr>
              <a:t>BERT, DistilBERT, Sentence Transformers, Whisper ASR, MediaPipe Face Mesh, OpenCV, CNN-based Emotion Recognition, Multimodal Fusion Engine, and Placement Readiness Score (PRS).</a:t>
            </a:r>
            <a:endParaRPr sz="1100">
              <a:solidFill>
                <a:schemeClr val="dk1"/>
              </a:solidFill>
            </a:endParaRPr>
          </a:p>
          <a:p>
            <a:pPr marL="0" marR="0" lvl="0" indent="0" algn="l" rtl="0">
              <a:spcBef>
                <a:spcPts val="1200"/>
              </a:spcBef>
              <a:spcAft>
                <a:spcPts val="0"/>
              </a:spcAft>
              <a:buClr>
                <a:srgbClr val="9AABA2"/>
              </a:buClr>
              <a:buSzPts val="1100"/>
              <a:buFont typeface="Calibri"/>
              <a:buNone/>
            </a:pPr>
            <a:endParaRPr sz="1100" i="1">
              <a:solidFill>
                <a:srgbClr val="9AABA2"/>
              </a:solidFill>
            </a:endParaRPr>
          </a:p>
        </p:txBody>
      </p:sp>
      <p:sp>
        <p:nvSpPr>
          <p:cNvPr id="202" name="Google Shape;202;p9"/>
          <p:cNvSpPr/>
          <p:nvPr/>
        </p:nvSpPr>
        <p:spPr>
          <a:xfrm>
            <a:off x="5779008" y="3273552"/>
            <a:ext cx="5074920" cy="1325880"/>
          </a:xfrm>
          <a:prstGeom prst="roundRect">
            <a:avLst>
              <a:gd name="adj" fmla="val 4828"/>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9"/>
          <p:cNvSpPr/>
          <p:nvPr/>
        </p:nvSpPr>
        <p:spPr>
          <a:xfrm>
            <a:off x="5779008" y="3273552"/>
            <a:ext cx="5074920" cy="347472"/>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9"/>
          <p:cNvSpPr/>
          <p:nvPr/>
        </p:nvSpPr>
        <p:spPr>
          <a:xfrm>
            <a:off x="5888736" y="3273552"/>
            <a:ext cx="4855464"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ARCHITECTURE</a:t>
            </a:r>
            <a:endParaRPr sz="1000">
              <a:solidFill>
                <a:schemeClr val="dk1"/>
              </a:solidFill>
              <a:latin typeface="Calibri"/>
              <a:ea typeface="Calibri"/>
              <a:cs typeface="Calibri"/>
              <a:sym typeface="Calibri"/>
            </a:endParaRPr>
          </a:p>
        </p:txBody>
      </p:sp>
      <p:sp>
        <p:nvSpPr>
          <p:cNvPr id="205" name="Google Shape;205;p9"/>
          <p:cNvSpPr/>
          <p:nvPr/>
        </p:nvSpPr>
        <p:spPr>
          <a:xfrm>
            <a:off x="5779008" y="3621024"/>
            <a:ext cx="5074920" cy="978408"/>
          </a:xfrm>
          <a:prstGeom prst="roundRect">
            <a:avLst>
              <a:gd name="adj" fmla="val 5607"/>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9"/>
          <p:cNvSpPr/>
          <p:nvPr/>
        </p:nvSpPr>
        <p:spPr>
          <a:xfrm>
            <a:off x="5778900" y="3621025"/>
            <a:ext cx="5074800" cy="9783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US" sz="1100">
                <a:solidFill>
                  <a:schemeClr val="dk1"/>
                </a:solidFill>
              </a:rPr>
              <a:t>The architecture includes Learning, Resume Analysis, Interview Evaluation, and Performance Dashboard modules. NLP, Computer Vision, and Speech Processing models analyze student data, while a Multimodal Fusion Engine integrates results to generate personalized feedback and Placement Readiness Scores.</a:t>
            </a:r>
            <a:endParaRPr sz="1100">
              <a:solidFill>
                <a:schemeClr val="dk1"/>
              </a:solidFill>
            </a:endParaRPr>
          </a:p>
        </p:txBody>
      </p:sp>
      <p:sp>
        <p:nvSpPr>
          <p:cNvPr id="207" name="Google Shape;207;p9"/>
          <p:cNvSpPr/>
          <p:nvPr/>
        </p:nvSpPr>
        <p:spPr>
          <a:xfrm>
            <a:off x="502920" y="4764024"/>
            <a:ext cx="5074920" cy="1325880"/>
          </a:xfrm>
          <a:prstGeom prst="roundRect">
            <a:avLst>
              <a:gd name="adj" fmla="val 4828"/>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9"/>
          <p:cNvSpPr/>
          <p:nvPr/>
        </p:nvSpPr>
        <p:spPr>
          <a:xfrm>
            <a:off x="502920" y="4764024"/>
            <a:ext cx="5074920" cy="347472"/>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9"/>
          <p:cNvSpPr/>
          <p:nvPr/>
        </p:nvSpPr>
        <p:spPr>
          <a:xfrm>
            <a:off x="612648" y="4764024"/>
            <a:ext cx="4855464"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RESULTS ACHIEVED</a:t>
            </a:r>
            <a:endParaRPr sz="1000">
              <a:solidFill>
                <a:schemeClr val="dk1"/>
              </a:solidFill>
              <a:latin typeface="Calibri"/>
              <a:ea typeface="Calibri"/>
              <a:cs typeface="Calibri"/>
              <a:sym typeface="Calibri"/>
            </a:endParaRPr>
          </a:p>
        </p:txBody>
      </p:sp>
      <p:sp>
        <p:nvSpPr>
          <p:cNvPr id="210" name="Google Shape;210;p9"/>
          <p:cNvSpPr/>
          <p:nvPr/>
        </p:nvSpPr>
        <p:spPr>
          <a:xfrm>
            <a:off x="502920" y="5111496"/>
            <a:ext cx="5074920" cy="978408"/>
          </a:xfrm>
          <a:prstGeom prst="roundRect">
            <a:avLst>
              <a:gd name="adj" fmla="val 5607"/>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9"/>
          <p:cNvSpPr/>
          <p:nvPr/>
        </p:nvSpPr>
        <p:spPr>
          <a:xfrm>
            <a:off x="502850" y="5111500"/>
            <a:ext cx="4910400" cy="978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r>
              <a:rPr lang="en-US" sz="1100">
                <a:solidFill>
                  <a:schemeClr val="dk1"/>
                </a:solidFill>
              </a:rPr>
              <a:t>The system successfully delivers automated interview evaluation, resume optimization, personalized recommendations, and Placement Readiness Scoring. No specific Accuracy, F1-Score, Precision, or Recall values are reported in the paper. </a:t>
            </a:r>
            <a:endParaRPr sz="1100">
              <a:solidFill>
                <a:schemeClr val="dk1"/>
              </a:solidFill>
            </a:endParaRPr>
          </a:p>
        </p:txBody>
      </p:sp>
      <p:sp>
        <p:nvSpPr>
          <p:cNvPr id="212" name="Google Shape;212;p9"/>
          <p:cNvSpPr/>
          <p:nvPr/>
        </p:nvSpPr>
        <p:spPr>
          <a:xfrm>
            <a:off x="5779008" y="4764024"/>
            <a:ext cx="5074920" cy="1325880"/>
          </a:xfrm>
          <a:prstGeom prst="roundRect">
            <a:avLst>
              <a:gd name="adj" fmla="val 4828"/>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9"/>
          <p:cNvSpPr/>
          <p:nvPr/>
        </p:nvSpPr>
        <p:spPr>
          <a:xfrm>
            <a:off x="5779008" y="4764024"/>
            <a:ext cx="5074920" cy="347472"/>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9"/>
          <p:cNvSpPr/>
          <p:nvPr/>
        </p:nvSpPr>
        <p:spPr>
          <a:xfrm>
            <a:off x="5888736" y="4764024"/>
            <a:ext cx="4855464"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LIMITATIONS</a:t>
            </a:r>
            <a:endParaRPr sz="1000">
              <a:solidFill>
                <a:schemeClr val="dk1"/>
              </a:solidFill>
              <a:latin typeface="Calibri"/>
              <a:ea typeface="Calibri"/>
              <a:cs typeface="Calibri"/>
              <a:sym typeface="Calibri"/>
            </a:endParaRPr>
          </a:p>
        </p:txBody>
      </p:sp>
      <p:sp>
        <p:nvSpPr>
          <p:cNvPr id="215" name="Google Shape;215;p9"/>
          <p:cNvSpPr/>
          <p:nvPr/>
        </p:nvSpPr>
        <p:spPr>
          <a:xfrm>
            <a:off x="5779008" y="5111496"/>
            <a:ext cx="5074920" cy="978408"/>
          </a:xfrm>
          <a:prstGeom prst="roundRect">
            <a:avLst>
              <a:gd name="adj" fmla="val 5607"/>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9"/>
          <p:cNvSpPr/>
          <p:nvPr/>
        </p:nvSpPr>
        <p:spPr>
          <a:xfrm>
            <a:off x="5778925" y="5111500"/>
            <a:ext cx="5074800" cy="978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r>
              <a:rPr lang="en-US" sz="1100">
                <a:solidFill>
                  <a:schemeClr val="dk1"/>
                </a:solidFill>
              </a:rPr>
              <a:t>The system lacks multilingual support, adaptive interview agents, real-time job market integration, and advanced privacy-preserving mechanisms. It also requires improvements in fairness, explainability, and institutional integration, creating opportunities for more intelligent and scalable placement solutions. </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1"/>
        <p:cNvGrpSpPr/>
        <p:nvPr/>
      </p:nvGrpSpPr>
      <p:grpSpPr>
        <a:xfrm>
          <a:off x="0" y="0"/>
          <a:ext cx="0" cy="0"/>
          <a:chOff x="0" y="0"/>
          <a:chExt cx="0" cy="0"/>
        </a:xfrm>
      </p:grpSpPr>
      <p:sp>
        <p:nvSpPr>
          <p:cNvPr id="2" name="TextBox 1"/>
          <p:cNvSpPr txBox="1"/>
          <p:nvPr/>
        </p:nvSpPr>
        <p:spPr>
          <a:xfrm>
            <a:off x="164592" y="18288"/>
            <a:ext cx="7955279" cy="438912"/>
          </a:xfrm>
          <a:prstGeom prst="rect">
            <a:avLst/>
          </a:prstGeom>
          <a:noFill/>
        </p:spPr>
        <p:txBody>
          <a:bodyPr wrap="none" lIns="27432" tIns="9144" rIns="27432" bIns="9144" anchor="ctr">
            <a:spAutoFit/>
          </a:bodyPr>
          <a:lstStyle/>
          <a:p>
            <a:pPr algn="l"/>
            <a:r>
              <a:rPr sz="2400" b="1" i="0">
                <a:solidFill>
                  <a:srgbClr val="1C483A"/>
                </a:solidFill>
                <a:latin typeface="Georgia"/>
              </a:rPr>
              <a:t>PROPOSED METHOD / ALGORITHM / NOVELTY</a:t>
            </a:r>
          </a:p>
        </p:txBody>
      </p:sp>
      <p:sp>
        <p:nvSpPr>
          <p:cNvPr id="3" name="Rectangle 2"/>
          <p:cNvSpPr/>
          <p:nvPr/>
        </p:nvSpPr>
        <p:spPr>
          <a:xfrm>
            <a:off x="164592" y="749808"/>
            <a:ext cx="9738360" cy="13716"/>
          </a:xfrm>
          <a:prstGeom prst="rect">
            <a:avLst/>
          </a:prstGeom>
          <a:solidFill>
            <a:srgbClr val="B48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64592" y="868680"/>
            <a:ext cx="9738360" cy="530352"/>
          </a:xfrm>
          <a:prstGeom prst="roundRect">
            <a:avLst/>
          </a:prstGeom>
          <a:solidFill>
            <a:srgbClr val="EFF7F3"/>
          </a:solidFill>
          <a:ln w="10160">
            <a:solidFill>
              <a:srgbClr val="1C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9184" y="969264"/>
            <a:ext cx="1188720" cy="201168"/>
          </a:xfrm>
          <a:prstGeom prst="rect">
            <a:avLst/>
          </a:prstGeom>
          <a:noFill/>
        </p:spPr>
        <p:txBody>
          <a:bodyPr wrap="none" lIns="27432" tIns="9144" rIns="27432" bIns="9144" anchor="ctr">
            <a:spAutoFit/>
          </a:bodyPr>
          <a:lstStyle/>
          <a:p>
            <a:pPr algn="l"/>
            <a:r>
              <a:rPr sz="1050" b="1" i="1">
                <a:solidFill>
                  <a:srgbClr val="233730"/>
                </a:solidFill>
                <a:latin typeface="Aptos"/>
              </a:rPr>
              <a:t>Novelty Statement:</a:t>
            </a:r>
          </a:p>
        </p:txBody>
      </p:sp>
      <p:sp>
        <p:nvSpPr>
          <p:cNvPr id="7" name="Oval 6"/>
          <p:cNvSpPr/>
          <p:nvPr/>
        </p:nvSpPr>
        <p:spPr>
          <a:xfrm>
            <a:off x="146304" y="1700784"/>
            <a:ext cx="338328" cy="338328"/>
          </a:xfrm>
          <a:prstGeom prst="ellipse">
            <a:avLst/>
          </a:prstGeom>
          <a:solidFill>
            <a:srgbClr val="1C483A"/>
          </a:solidFill>
          <a:ln>
            <a:solidFill>
              <a:srgbClr val="1C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304" y="1714500"/>
            <a:ext cx="338328" cy="228600"/>
          </a:xfrm>
          <a:prstGeom prst="rect">
            <a:avLst/>
          </a:prstGeom>
          <a:noFill/>
        </p:spPr>
        <p:txBody>
          <a:bodyPr wrap="none" lIns="27432" tIns="9144" rIns="27432" bIns="9144" anchor="ctr">
            <a:spAutoFit/>
          </a:bodyPr>
          <a:lstStyle/>
          <a:p>
            <a:pPr algn="ctr"/>
            <a:r>
              <a:rPr sz="1000" b="1" i="0">
                <a:solidFill>
                  <a:srgbClr val="FFFFFF"/>
                </a:solidFill>
                <a:latin typeface="Aptos"/>
              </a:rPr>
              <a:t>1</a:t>
            </a:r>
          </a:p>
        </p:txBody>
      </p:sp>
      <p:sp>
        <p:nvSpPr>
          <p:cNvPr id="9" name="Rounded Rectangle 8"/>
          <p:cNvSpPr/>
          <p:nvPr/>
        </p:nvSpPr>
        <p:spPr>
          <a:xfrm>
            <a:off x="576072" y="1572768"/>
            <a:ext cx="9326880" cy="749808"/>
          </a:xfrm>
          <a:prstGeom prst="roundRect">
            <a:avLst/>
          </a:prstGeom>
          <a:solidFill>
            <a:srgbClr val="F6FAF8"/>
          </a:solidFill>
          <a:ln w="10160">
            <a:solidFill>
              <a:srgbClr val="CA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738218"/>
            <a:ext cx="3455370" cy="264688"/>
          </a:xfrm>
          <a:prstGeom prst="rect">
            <a:avLst/>
          </a:prstGeom>
          <a:noFill/>
        </p:spPr>
        <p:txBody>
          <a:bodyPr wrap="none" lIns="27432" tIns="9144" rIns="27432" bIns="9144" anchor="ctr">
            <a:spAutoFit/>
          </a:bodyPr>
          <a:lstStyle/>
          <a:p>
            <a:pPr algn="l"/>
            <a:r>
              <a:rPr sz="1600" b="1" i="0" dirty="0">
                <a:solidFill>
                  <a:srgbClr val="233730"/>
                </a:solidFill>
                <a:latin typeface="Aptos"/>
              </a:rPr>
              <a:t>Data Collection &amp; Feedback Capture</a:t>
            </a:r>
          </a:p>
        </p:txBody>
      </p:sp>
      <p:sp>
        <p:nvSpPr>
          <p:cNvPr id="12" name="Oval 11"/>
          <p:cNvSpPr/>
          <p:nvPr/>
        </p:nvSpPr>
        <p:spPr>
          <a:xfrm>
            <a:off x="146304" y="2624328"/>
            <a:ext cx="338328" cy="338328"/>
          </a:xfrm>
          <a:prstGeom prst="ellipse">
            <a:avLst/>
          </a:prstGeom>
          <a:solidFill>
            <a:srgbClr val="1C483A"/>
          </a:solidFill>
          <a:ln>
            <a:solidFill>
              <a:srgbClr val="1C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6304" y="2638044"/>
            <a:ext cx="338328" cy="228600"/>
          </a:xfrm>
          <a:prstGeom prst="rect">
            <a:avLst/>
          </a:prstGeom>
          <a:noFill/>
        </p:spPr>
        <p:txBody>
          <a:bodyPr wrap="none" lIns="27432" tIns="9144" rIns="27432" bIns="9144" anchor="ctr">
            <a:spAutoFit/>
          </a:bodyPr>
          <a:lstStyle/>
          <a:p>
            <a:pPr algn="ctr"/>
            <a:r>
              <a:rPr sz="1000" b="1" i="0">
                <a:solidFill>
                  <a:srgbClr val="FFFFFF"/>
                </a:solidFill>
                <a:latin typeface="Aptos"/>
              </a:rPr>
              <a:t>2</a:t>
            </a:r>
          </a:p>
        </p:txBody>
      </p:sp>
      <p:sp>
        <p:nvSpPr>
          <p:cNvPr id="14" name="Rounded Rectangle 13"/>
          <p:cNvSpPr/>
          <p:nvPr/>
        </p:nvSpPr>
        <p:spPr>
          <a:xfrm>
            <a:off x="576072" y="2496312"/>
            <a:ext cx="9326880" cy="749808"/>
          </a:xfrm>
          <a:prstGeom prst="roundRect">
            <a:avLst/>
          </a:prstGeom>
          <a:solidFill>
            <a:srgbClr val="F6FAF8"/>
          </a:solidFill>
          <a:ln w="10160">
            <a:solidFill>
              <a:srgbClr val="CA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661249"/>
            <a:ext cx="3596434" cy="295466"/>
          </a:xfrm>
          <a:prstGeom prst="rect">
            <a:avLst/>
          </a:prstGeom>
          <a:noFill/>
        </p:spPr>
        <p:txBody>
          <a:bodyPr wrap="none" lIns="27432" tIns="9144" rIns="27432" bIns="9144" anchor="ctr">
            <a:spAutoFit/>
          </a:bodyPr>
          <a:lstStyle/>
          <a:p>
            <a:pPr algn="l"/>
            <a:r>
              <a:rPr sz="1800" b="1" i="0">
                <a:solidFill>
                  <a:srgbClr val="233730"/>
                </a:solidFill>
                <a:latin typeface="Aptos"/>
              </a:rPr>
              <a:t>Preprocessing &amp; Data Preparation</a:t>
            </a:r>
          </a:p>
        </p:txBody>
      </p:sp>
      <p:sp>
        <p:nvSpPr>
          <p:cNvPr id="17" name="Oval 16"/>
          <p:cNvSpPr/>
          <p:nvPr/>
        </p:nvSpPr>
        <p:spPr>
          <a:xfrm>
            <a:off x="146304" y="3547872"/>
            <a:ext cx="338328" cy="338328"/>
          </a:xfrm>
          <a:prstGeom prst="ellipse">
            <a:avLst/>
          </a:prstGeom>
          <a:solidFill>
            <a:srgbClr val="1C483A"/>
          </a:solidFill>
          <a:ln>
            <a:solidFill>
              <a:srgbClr val="1C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6304" y="3561588"/>
            <a:ext cx="338328" cy="228600"/>
          </a:xfrm>
          <a:prstGeom prst="rect">
            <a:avLst/>
          </a:prstGeom>
          <a:noFill/>
        </p:spPr>
        <p:txBody>
          <a:bodyPr wrap="none" lIns="27432" tIns="9144" rIns="27432" bIns="9144" anchor="ctr">
            <a:spAutoFit/>
          </a:bodyPr>
          <a:lstStyle/>
          <a:p>
            <a:pPr algn="ctr"/>
            <a:r>
              <a:rPr sz="1000" b="1" i="0">
                <a:solidFill>
                  <a:srgbClr val="FFFFFF"/>
                </a:solidFill>
                <a:latin typeface="Aptos"/>
              </a:rPr>
              <a:t>3</a:t>
            </a:r>
          </a:p>
        </p:txBody>
      </p:sp>
      <p:sp>
        <p:nvSpPr>
          <p:cNvPr id="19" name="Rounded Rectangle 18"/>
          <p:cNvSpPr/>
          <p:nvPr/>
        </p:nvSpPr>
        <p:spPr>
          <a:xfrm>
            <a:off x="576072" y="3419856"/>
            <a:ext cx="9326880" cy="749808"/>
          </a:xfrm>
          <a:prstGeom prst="roundRect">
            <a:avLst/>
          </a:prstGeom>
          <a:solidFill>
            <a:srgbClr val="F6FAF8"/>
          </a:solidFill>
          <a:ln w="10160">
            <a:solidFill>
              <a:srgbClr val="CA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2" y="3612157"/>
            <a:ext cx="3990772" cy="295466"/>
          </a:xfrm>
          <a:prstGeom prst="rect">
            <a:avLst/>
          </a:prstGeom>
          <a:noFill/>
        </p:spPr>
        <p:txBody>
          <a:bodyPr wrap="none" lIns="27432" tIns="9144" rIns="27432" bIns="9144" anchor="ctr">
            <a:spAutoFit/>
          </a:bodyPr>
          <a:lstStyle/>
          <a:p>
            <a:pPr algn="l"/>
            <a:r>
              <a:rPr sz="1800" b="1" i="0" dirty="0">
                <a:solidFill>
                  <a:srgbClr val="233730"/>
                </a:solidFill>
                <a:latin typeface="Aptos"/>
              </a:rPr>
              <a:t>AI / NLP Analysis &amp; Insight Generation</a:t>
            </a:r>
          </a:p>
        </p:txBody>
      </p:sp>
      <p:sp>
        <p:nvSpPr>
          <p:cNvPr id="22" name="Oval 21"/>
          <p:cNvSpPr/>
          <p:nvPr/>
        </p:nvSpPr>
        <p:spPr>
          <a:xfrm>
            <a:off x="146304" y="4471416"/>
            <a:ext cx="338328" cy="338328"/>
          </a:xfrm>
          <a:prstGeom prst="ellipse">
            <a:avLst/>
          </a:prstGeom>
          <a:solidFill>
            <a:srgbClr val="1C483A"/>
          </a:solidFill>
          <a:ln>
            <a:solidFill>
              <a:srgbClr val="1C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6304" y="4485132"/>
            <a:ext cx="338328" cy="228600"/>
          </a:xfrm>
          <a:prstGeom prst="rect">
            <a:avLst/>
          </a:prstGeom>
          <a:noFill/>
        </p:spPr>
        <p:txBody>
          <a:bodyPr wrap="none" lIns="27432" tIns="9144" rIns="27432" bIns="9144" anchor="ctr">
            <a:spAutoFit/>
          </a:bodyPr>
          <a:lstStyle/>
          <a:p>
            <a:pPr algn="ctr"/>
            <a:r>
              <a:rPr sz="1000" b="1" i="0">
                <a:solidFill>
                  <a:srgbClr val="FFFFFF"/>
                </a:solidFill>
                <a:latin typeface="Aptos"/>
              </a:rPr>
              <a:t>4</a:t>
            </a:r>
          </a:p>
        </p:txBody>
      </p:sp>
      <p:sp>
        <p:nvSpPr>
          <p:cNvPr id="24" name="Rounded Rectangle 23"/>
          <p:cNvSpPr/>
          <p:nvPr/>
        </p:nvSpPr>
        <p:spPr>
          <a:xfrm>
            <a:off x="576072" y="4343400"/>
            <a:ext cx="9326880" cy="749808"/>
          </a:xfrm>
          <a:prstGeom prst="roundRect">
            <a:avLst/>
          </a:prstGeom>
          <a:solidFill>
            <a:srgbClr val="F6FAF8"/>
          </a:solidFill>
          <a:ln w="10160">
            <a:solidFill>
              <a:srgbClr val="CA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4479131"/>
            <a:ext cx="4928529" cy="295466"/>
          </a:xfrm>
          <a:prstGeom prst="rect">
            <a:avLst/>
          </a:prstGeom>
          <a:noFill/>
        </p:spPr>
        <p:txBody>
          <a:bodyPr wrap="none" lIns="27432" tIns="9144" rIns="27432" bIns="9144" anchor="ctr">
            <a:spAutoFit/>
          </a:bodyPr>
          <a:lstStyle/>
          <a:p>
            <a:pPr algn="l"/>
            <a:r>
              <a:rPr sz="1800" b="1" i="0" dirty="0">
                <a:solidFill>
                  <a:srgbClr val="233730"/>
                </a:solidFill>
                <a:latin typeface="Aptos"/>
              </a:rPr>
              <a:t>Web Application &amp; Dashboard Implementation</a:t>
            </a:r>
          </a:p>
        </p:txBody>
      </p:sp>
      <p:sp>
        <p:nvSpPr>
          <p:cNvPr id="27" name="Oval 26"/>
          <p:cNvSpPr/>
          <p:nvPr/>
        </p:nvSpPr>
        <p:spPr>
          <a:xfrm>
            <a:off x="146304" y="5394959"/>
            <a:ext cx="338328" cy="338328"/>
          </a:xfrm>
          <a:prstGeom prst="ellipse">
            <a:avLst/>
          </a:prstGeom>
          <a:solidFill>
            <a:srgbClr val="1C483A"/>
          </a:solidFill>
          <a:ln>
            <a:solidFill>
              <a:srgbClr val="1C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46304" y="5408676"/>
            <a:ext cx="338328" cy="228600"/>
          </a:xfrm>
          <a:prstGeom prst="rect">
            <a:avLst/>
          </a:prstGeom>
          <a:noFill/>
        </p:spPr>
        <p:txBody>
          <a:bodyPr wrap="none" lIns="27432" tIns="9144" rIns="27432" bIns="9144" anchor="ctr">
            <a:spAutoFit/>
          </a:bodyPr>
          <a:lstStyle/>
          <a:p>
            <a:pPr algn="ctr"/>
            <a:r>
              <a:rPr sz="1000" b="1" i="0">
                <a:solidFill>
                  <a:srgbClr val="FFFFFF"/>
                </a:solidFill>
                <a:latin typeface="Aptos"/>
              </a:rPr>
              <a:t>5</a:t>
            </a:r>
          </a:p>
        </p:txBody>
      </p:sp>
      <p:sp>
        <p:nvSpPr>
          <p:cNvPr id="29" name="Rounded Rectangle 28"/>
          <p:cNvSpPr/>
          <p:nvPr/>
        </p:nvSpPr>
        <p:spPr>
          <a:xfrm>
            <a:off x="576072" y="5266944"/>
            <a:ext cx="9326880" cy="749808"/>
          </a:xfrm>
          <a:prstGeom prst="roundRect">
            <a:avLst/>
          </a:prstGeom>
          <a:solidFill>
            <a:srgbClr val="F6FAF8"/>
          </a:solidFill>
          <a:ln w="10160">
            <a:solidFill>
              <a:srgbClr val="CA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9808" y="5402675"/>
            <a:ext cx="4107791" cy="295466"/>
          </a:xfrm>
          <a:prstGeom prst="rect">
            <a:avLst/>
          </a:prstGeom>
          <a:noFill/>
        </p:spPr>
        <p:txBody>
          <a:bodyPr wrap="none" lIns="27432" tIns="9144" rIns="27432" bIns="9144" anchor="ctr">
            <a:spAutoFit/>
          </a:bodyPr>
          <a:lstStyle/>
          <a:p>
            <a:pPr algn="l"/>
            <a:r>
              <a:rPr sz="1800" b="1" i="0" dirty="0">
                <a:solidFill>
                  <a:srgbClr val="233730"/>
                </a:solidFill>
                <a:latin typeface="Aptos"/>
              </a:rPr>
              <a:t>Evaluation &amp; Continuous Improvement</a:t>
            </a:r>
          </a:p>
        </p:txBody>
      </p:sp>
      <p:sp>
        <p:nvSpPr>
          <p:cNvPr id="32" name="TextBox 31"/>
          <p:cNvSpPr txBox="1"/>
          <p:nvPr/>
        </p:nvSpPr>
        <p:spPr>
          <a:xfrm>
            <a:off x="403273" y="6500124"/>
            <a:ext cx="520271" cy="118494"/>
          </a:xfrm>
          <a:prstGeom prst="rect">
            <a:avLst/>
          </a:prstGeom>
          <a:noFill/>
        </p:spPr>
        <p:txBody>
          <a:bodyPr wrap="none" lIns="27432" tIns="9144" rIns="27432" bIns="9144" anchor="ctr">
            <a:spAutoFit/>
          </a:bodyPr>
          <a:lstStyle/>
          <a:p>
            <a:pPr algn="l"/>
            <a:r>
              <a:rPr sz="650" b="0" i="0" dirty="0">
                <a:solidFill>
                  <a:srgbClr val="5F5F5F"/>
                </a:solidFill>
                <a:latin typeface="Aptos"/>
              </a:rPr>
              <a:t>[</a:t>
            </a:r>
            <a:r>
              <a:rPr lang="en-US" sz="650" dirty="0">
                <a:solidFill>
                  <a:srgbClr val="5F5F5F"/>
                </a:solidFill>
                <a:latin typeface="Aptos"/>
              </a:rPr>
              <a:t>30/09/2026</a:t>
            </a:r>
            <a:r>
              <a:rPr lang="en-IN" sz="650" b="0" i="0" dirty="0">
                <a:solidFill>
                  <a:srgbClr val="5F5F5F"/>
                </a:solidFill>
                <a:latin typeface="Aptos"/>
              </a:rPr>
              <a:t>]</a:t>
            </a:r>
            <a:endParaRPr sz="650" b="0" i="0" dirty="0">
              <a:solidFill>
                <a:srgbClr val="5F5F5F"/>
              </a:solidFill>
              <a:latin typeface="Aptos"/>
            </a:endParaRPr>
          </a:p>
        </p:txBody>
      </p:sp>
      <p:sp>
        <p:nvSpPr>
          <p:cNvPr id="33" name="TextBox 32"/>
          <p:cNvSpPr txBox="1"/>
          <p:nvPr/>
        </p:nvSpPr>
        <p:spPr>
          <a:xfrm>
            <a:off x="3657600" y="6492240"/>
            <a:ext cx="3657600" cy="164592"/>
          </a:xfrm>
          <a:prstGeom prst="rect">
            <a:avLst/>
          </a:prstGeom>
          <a:noFill/>
        </p:spPr>
        <p:txBody>
          <a:bodyPr wrap="none" lIns="27432" tIns="9144" rIns="27432" bIns="9144" anchor="ctr">
            <a:spAutoFit/>
          </a:bodyPr>
          <a:lstStyle/>
          <a:p>
            <a:pPr algn="ctr"/>
            <a:r>
              <a:rPr sz="650" b="0" i="0">
                <a:solidFill>
                  <a:srgbClr val="373737"/>
                </a:solidFill>
                <a:latin typeface="Aptos"/>
              </a:rPr>
              <a:t>AI College Placement Intelligence Platform</a:t>
            </a:r>
          </a:p>
        </p:txBody>
      </p:sp>
      <p:sp>
        <p:nvSpPr>
          <p:cNvPr id="11" name="TextBox 10">
            <a:extLst>
              <a:ext uri="{FF2B5EF4-FFF2-40B4-BE49-F238E27FC236}">
                <a16:creationId xmlns:a16="http://schemas.microsoft.com/office/drawing/2014/main" id="{B4C8BE18-D8A3-4EBD-D6FA-45CB80E03550}"/>
              </a:ext>
            </a:extLst>
          </p:cNvPr>
          <p:cNvSpPr txBox="1"/>
          <p:nvPr/>
        </p:nvSpPr>
        <p:spPr>
          <a:xfrm>
            <a:off x="11489710" y="6455272"/>
            <a:ext cx="131359" cy="238527"/>
          </a:xfrm>
          <a:prstGeom prst="rect">
            <a:avLst/>
          </a:prstGeom>
          <a:noFill/>
        </p:spPr>
        <p:txBody>
          <a:bodyPr wrap="square">
            <a:spAutoFit/>
          </a:bodyPr>
          <a:lstStyle/>
          <a:p>
            <a:pPr algn="l"/>
            <a:r>
              <a:rPr lang="en-US" sz="950" b="1" dirty="0">
                <a:solidFill>
                  <a:srgbClr val="233730"/>
                </a:solidFill>
                <a:latin typeface="Aptos"/>
              </a:rPr>
              <a:t>8</a:t>
            </a:r>
            <a:endParaRPr lang="en-IN" sz="950" b="1" i="0" dirty="0">
              <a:solidFill>
                <a:srgbClr val="233730"/>
              </a:solidFill>
              <a:latin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1"/>
        <p:cNvGrpSpPr/>
        <p:nvPr/>
      </p:nvGrpSpPr>
      <p:grpSpPr>
        <a:xfrm>
          <a:off x="0" y="0"/>
          <a:ext cx="0" cy="0"/>
          <a:chOff x="0" y="0"/>
          <a:chExt cx="0" cy="0"/>
        </a:xfrm>
      </p:grpSpPr>
      <p:sp>
        <p:nvSpPr>
          <p:cNvPr id="262" name="Google Shape;262;p11"/>
          <p:cNvSpPr/>
          <p:nvPr/>
        </p:nvSpPr>
        <p:spPr>
          <a:xfrm>
            <a:off x="0" y="0"/>
            <a:ext cx="12191695" cy="164592"/>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1"/>
          <p:cNvSpPr/>
          <p:nvPr/>
        </p:nvSpPr>
        <p:spPr>
          <a:xfrm>
            <a:off x="502920" y="237744"/>
            <a:ext cx="109728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FLOW DIAGRAM / BLOCK DIAGRAM</a:t>
            </a:r>
            <a:endParaRPr sz="2800">
              <a:solidFill>
                <a:schemeClr val="dk1"/>
              </a:solidFill>
              <a:latin typeface="Calibri"/>
              <a:ea typeface="Calibri"/>
              <a:cs typeface="Calibri"/>
              <a:sym typeface="Calibri"/>
            </a:endParaRPr>
          </a:p>
        </p:txBody>
      </p:sp>
      <p:sp>
        <p:nvSpPr>
          <p:cNvPr id="264" name="Google Shape;264;p11"/>
          <p:cNvSpPr/>
          <p:nvPr/>
        </p:nvSpPr>
        <p:spPr>
          <a:xfrm>
            <a:off x="502920" y="859536"/>
            <a:ext cx="9144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cxnSp>
        <p:nvCxnSpPr>
          <p:cNvPr id="265" name="Google Shape;265;p11"/>
          <p:cNvCxnSpPr/>
          <p:nvPr/>
        </p:nvCxnSpPr>
        <p:spPr>
          <a:xfrm>
            <a:off x="502920" y="1024128"/>
            <a:ext cx="11185855" cy="0"/>
          </a:xfrm>
          <a:prstGeom prst="straightConnector1">
            <a:avLst/>
          </a:prstGeom>
          <a:noFill/>
          <a:ln w="15225" cap="flat" cmpd="sng">
            <a:solidFill>
              <a:srgbClr val="C9A841"/>
            </a:solidFill>
            <a:prstDash val="solid"/>
            <a:round/>
            <a:headEnd type="none" w="sm" len="sm"/>
            <a:tailEnd type="none" w="sm" len="sm"/>
          </a:ln>
        </p:spPr>
      </p:cxnSp>
      <p:cxnSp>
        <p:nvCxnSpPr>
          <p:cNvPr id="266" name="Google Shape;266;p11"/>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267" name="Google Shape;267;p11"/>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268" name="Google Shape;268;p11"/>
          <p:cNvSpPr/>
          <p:nvPr/>
        </p:nvSpPr>
        <p:spPr>
          <a:xfrm>
            <a:off x="3474720" y="6455664"/>
            <a:ext cx="5239512" cy="27432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269" name="Google Shape;269;p11"/>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9</a:t>
            </a:r>
            <a:endParaRPr sz="900">
              <a:solidFill>
                <a:schemeClr val="dk1"/>
              </a:solidFill>
              <a:latin typeface="Calibri"/>
              <a:ea typeface="Calibri"/>
              <a:cs typeface="Calibri"/>
              <a:sym typeface="Calibri"/>
            </a:endParaRPr>
          </a:p>
        </p:txBody>
      </p:sp>
      <p:sp>
        <p:nvSpPr>
          <p:cNvPr id="270" name="Google Shape;270;p11"/>
          <p:cNvSpPr/>
          <p:nvPr/>
        </p:nvSpPr>
        <p:spPr>
          <a:xfrm>
            <a:off x="1371600" y="3291840"/>
            <a:ext cx="9448495"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AABA2"/>
              </a:buClr>
              <a:buSzPts val="1800"/>
              <a:buFont typeface="Cambria"/>
              <a:buNone/>
            </a:pPr>
            <a:endParaRPr sz="1800">
              <a:solidFill>
                <a:schemeClr val="dk1"/>
              </a:solidFill>
              <a:latin typeface="Calibri"/>
              <a:ea typeface="Calibri"/>
              <a:cs typeface="Calibri"/>
              <a:sym typeface="Calibri"/>
            </a:endParaRPr>
          </a:p>
        </p:txBody>
      </p:sp>
      <p:sp>
        <p:nvSpPr>
          <p:cNvPr id="271" name="Google Shape;271;p11"/>
          <p:cNvSpPr/>
          <p:nvPr/>
        </p:nvSpPr>
        <p:spPr>
          <a:xfrm>
            <a:off x="1371600" y="3931920"/>
            <a:ext cx="9448495"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pic>
        <p:nvPicPr>
          <p:cNvPr id="272" name="Google Shape;272;p11" title="Gemini_Generated_Image_d9bn3cd9bn3cd9bn.png"/>
          <p:cNvPicPr preferRelativeResize="0"/>
          <p:nvPr/>
        </p:nvPicPr>
        <p:blipFill>
          <a:blip r:embed="rId3">
            <a:alphaModFix/>
          </a:blip>
          <a:stretch>
            <a:fillRect/>
          </a:stretch>
        </p:blipFill>
        <p:spPr>
          <a:xfrm>
            <a:off x="1370225" y="1075675"/>
            <a:ext cx="9448500" cy="5273581"/>
          </a:xfrm>
          <a:prstGeom prst="rect">
            <a:avLst/>
          </a:prstGeom>
          <a:solidFill>
            <a:srgbClr val="F8FDFB"/>
          </a:solidFill>
          <a:ln w="19050" cap="flat" cmpd="sng">
            <a:solidFill>
              <a:srgbClr val="D4E2DC"/>
            </a:solidFill>
            <a:prstDash val="dash"/>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7"/>
        <p:cNvGrpSpPr/>
        <p:nvPr/>
      </p:nvGrpSpPr>
      <p:grpSpPr>
        <a:xfrm>
          <a:off x="0" y="0"/>
          <a:ext cx="0" cy="0"/>
          <a:chOff x="0" y="0"/>
          <a:chExt cx="0" cy="0"/>
        </a:xfrm>
      </p:grpSpPr>
      <p:sp>
        <p:nvSpPr>
          <p:cNvPr id="278" name="Google Shape;278;p12"/>
          <p:cNvSpPr/>
          <p:nvPr/>
        </p:nvSpPr>
        <p:spPr>
          <a:xfrm>
            <a:off x="0" y="0"/>
            <a:ext cx="12191695" cy="164592"/>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2"/>
          <p:cNvSpPr/>
          <p:nvPr/>
        </p:nvSpPr>
        <p:spPr>
          <a:xfrm>
            <a:off x="502920" y="237744"/>
            <a:ext cx="109728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HARDWARE / SOFTWARE / TOOLS USED</a:t>
            </a:r>
            <a:endParaRPr sz="2800">
              <a:solidFill>
                <a:schemeClr val="dk1"/>
              </a:solidFill>
              <a:latin typeface="Calibri"/>
              <a:ea typeface="Calibri"/>
              <a:cs typeface="Calibri"/>
              <a:sym typeface="Calibri"/>
            </a:endParaRPr>
          </a:p>
        </p:txBody>
      </p:sp>
      <p:cxnSp>
        <p:nvCxnSpPr>
          <p:cNvPr id="280" name="Google Shape;280;p12"/>
          <p:cNvCxnSpPr/>
          <p:nvPr/>
        </p:nvCxnSpPr>
        <p:spPr>
          <a:xfrm>
            <a:off x="502920" y="1024128"/>
            <a:ext cx="11185855" cy="0"/>
          </a:xfrm>
          <a:prstGeom prst="straightConnector1">
            <a:avLst/>
          </a:prstGeom>
          <a:noFill/>
          <a:ln w="15225" cap="flat" cmpd="sng">
            <a:solidFill>
              <a:srgbClr val="C9A841"/>
            </a:solidFill>
            <a:prstDash val="solid"/>
            <a:round/>
            <a:headEnd type="none" w="sm" len="sm"/>
            <a:tailEnd type="none" w="sm" len="sm"/>
          </a:ln>
        </p:spPr>
      </p:cxnSp>
      <p:cxnSp>
        <p:nvCxnSpPr>
          <p:cNvPr id="281" name="Google Shape;281;p12"/>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282" name="Google Shape;282;p12"/>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283" name="Google Shape;283;p12"/>
          <p:cNvSpPr/>
          <p:nvPr/>
        </p:nvSpPr>
        <p:spPr>
          <a:xfrm>
            <a:off x="3474720" y="6455664"/>
            <a:ext cx="5239512" cy="27432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284" name="Google Shape;284;p12"/>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10</a:t>
            </a:r>
            <a:endParaRPr sz="900">
              <a:solidFill>
                <a:schemeClr val="dk1"/>
              </a:solidFill>
              <a:latin typeface="Calibri"/>
              <a:ea typeface="Calibri"/>
              <a:cs typeface="Calibri"/>
              <a:sym typeface="Calibri"/>
            </a:endParaRPr>
          </a:p>
        </p:txBody>
      </p:sp>
      <p:sp>
        <p:nvSpPr>
          <p:cNvPr id="285" name="Google Shape;285;p12"/>
          <p:cNvSpPr/>
          <p:nvPr/>
        </p:nvSpPr>
        <p:spPr>
          <a:xfrm>
            <a:off x="502920" y="1188720"/>
            <a:ext cx="3410712" cy="5029200"/>
          </a:xfrm>
          <a:prstGeom prst="roundRect">
            <a:avLst>
              <a:gd name="adj" fmla="val 2145"/>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2"/>
          <p:cNvSpPr/>
          <p:nvPr/>
        </p:nvSpPr>
        <p:spPr>
          <a:xfrm>
            <a:off x="502920" y="1188720"/>
            <a:ext cx="3410712" cy="566928"/>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2"/>
          <p:cNvSpPr/>
          <p:nvPr/>
        </p:nvSpPr>
        <p:spPr>
          <a:xfrm>
            <a:off x="594360" y="1188720"/>
            <a:ext cx="32277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Hardware</a:t>
            </a:r>
            <a:endParaRPr sz="1300">
              <a:solidFill>
                <a:schemeClr val="dk1"/>
              </a:solidFill>
              <a:latin typeface="Calibri"/>
              <a:ea typeface="Calibri"/>
              <a:cs typeface="Calibri"/>
              <a:sym typeface="Calibri"/>
            </a:endParaRPr>
          </a:p>
        </p:txBody>
      </p:sp>
      <p:sp>
        <p:nvSpPr>
          <p:cNvPr id="288" name="Google Shape;288;p12"/>
          <p:cNvSpPr/>
          <p:nvPr/>
        </p:nvSpPr>
        <p:spPr>
          <a:xfrm>
            <a:off x="685800" y="2048256"/>
            <a:ext cx="201168" cy="20116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2"/>
          <p:cNvSpPr/>
          <p:nvPr/>
        </p:nvSpPr>
        <p:spPr>
          <a:xfrm>
            <a:off x="990418" y="2013898"/>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2"/>
          <p:cNvSpPr/>
          <p:nvPr/>
        </p:nvSpPr>
        <p:spPr>
          <a:xfrm>
            <a:off x="1143050" y="1997982"/>
            <a:ext cx="2478000" cy="7224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endParaRPr sz="1200" b="1" dirty="0">
              <a:solidFill>
                <a:schemeClr val="dk1"/>
              </a:solidFill>
            </a:endParaRPr>
          </a:p>
          <a:p>
            <a:pPr marL="0" marR="0" lvl="0" indent="0" algn="l" rtl="0">
              <a:spcBef>
                <a:spcPts val="400"/>
              </a:spcBef>
              <a:spcAft>
                <a:spcPts val="0"/>
              </a:spcAft>
              <a:buClr>
                <a:srgbClr val="9AABA2"/>
              </a:buClr>
              <a:buSzPts val="1100"/>
              <a:buFont typeface="Calibri"/>
              <a:buNone/>
            </a:pPr>
            <a:endParaRPr sz="1100" i="1" dirty="0">
              <a:solidFill>
                <a:srgbClr val="9AABA2"/>
              </a:solidFill>
              <a:latin typeface="Calibri"/>
              <a:ea typeface="Calibri"/>
              <a:cs typeface="Calibri"/>
              <a:sym typeface="Calibri"/>
            </a:endParaRPr>
          </a:p>
        </p:txBody>
      </p:sp>
      <p:sp>
        <p:nvSpPr>
          <p:cNvPr id="291" name="Google Shape;291;p12"/>
          <p:cNvSpPr/>
          <p:nvPr/>
        </p:nvSpPr>
        <p:spPr>
          <a:xfrm>
            <a:off x="685800" y="3072384"/>
            <a:ext cx="201168" cy="20116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2"/>
          <p:cNvSpPr/>
          <p:nvPr/>
        </p:nvSpPr>
        <p:spPr>
          <a:xfrm>
            <a:off x="978408" y="2962656"/>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2"/>
          <p:cNvSpPr/>
          <p:nvPr/>
        </p:nvSpPr>
        <p:spPr>
          <a:xfrm>
            <a:off x="1143050" y="3054024"/>
            <a:ext cx="2478000" cy="658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endParaRPr sz="1200" b="1" dirty="0">
              <a:solidFill>
                <a:schemeClr val="dk1"/>
              </a:solidFill>
            </a:endParaRPr>
          </a:p>
          <a:p>
            <a:pPr marL="0" marR="0" lvl="0" indent="0" algn="l" rtl="0">
              <a:spcBef>
                <a:spcPts val="400"/>
              </a:spcBef>
              <a:spcAft>
                <a:spcPts val="0"/>
              </a:spcAft>
              <a:buClr>
                <a:srgbClr val="9AABA2"/>
              </a:buClr>
              <a:buSzPts val="1100"/>
              <a:buFont typeface="Calibri"/>
              <a:buNone/>
            </a:pPr>
            <a:endParaRPr sz="1100" i="1" dirty="0">
              <a:solidFill>
                <a:srgbClr val="9AABA2"/>
              </a:solidFill>
              <a:latin typeface="Calibri"/>
              <a:ea typeface="Calibri"/>
              <a:cs typeface="Calibri"/>
              <a:sym typeface="Calibri"/>
            </a:endParaRPr>
          </a:p>
        </p:txBody>
      </p:sp>
      <p:sp>
        <p:nvSpPr>
          <p:cNvPr id="294" name="Google Shape;294;p12"/>
          <p:cNvSpPr/>
          <p:nvPr/>
        </p:nvSpPr>
        <p:spPr>
          <a:xfrm>
            <a:off x="685800" y="4096512"/>
            <a:ext cx="201168" cy="20116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2"/>
          <p:cNvSpPr/>
          <p:nvPr/>
        </p:nvSpPr>
        <p:spPr>
          <a:xfrm>
            <a:off x="978408" y="3986784"/>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2"/>
          <p:cNvSpPr/>
          <p:nvPr/>
        </p:nvSpPr>
        <p:spPr>
          <a:xfrm>
            <a:off x="1143050" y="4046172"/>
            <a:ext cx="2478000" cy="841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200" b="1" dirty="0">
                <a:solidFill>
                  <a:schemeClr val="dk1"/>
                </a:solidFill>
              </a:rPr>
              <a:t> </a:t>
            </a:r>
            <a:endParaRPr sz="1200" b="1" dirty="0">
              <a:solidFill>
                <a:schemeClr val="dk1"/>
              </a:solidFill>
            </a:endParaRPr>
          </a:p>
          <a:p>
            <a:pPr marL="0" marR="0" lvl="0" indent="0" algn="l" rtl="0">
              <a:spcBef>
                <a:spcPts val="400"/>
              </a:spcBef>
              <a:spcAft>
                <a:spcPts val="0"/>
              </a:spcAft>
              <a:buClr>
                <a:srgbClr val="9AABA2"/>
              </a:buClr>
              <a:buSzPts val="1100"/>
              <a:buFont typeface="Calibri"/>
              <a:buNone/>
            </a:pPr>
            <a:endParaRPr sz="1100" i="1" dirty="0">
              <a:solidFill>
                <a:srgbClr val="9AABA2"/>
              </a:solidFill>
              <a:latin typeface="Calibri"/>
              <a:ea typeface="Calibri"/>
              <a:cs typeface="Calibri"/>
              <a:sym typeface="Calibri"/>
            </a:endParaRPr>
          </a:p>
        </p:txBody>
      </p:sp>
      <p:sp>
        <p:nvSpPr>
          <p:cNvPr id="297" name="Google Shape;297;p12"/>
          <p:cNvSpPr/>
          <p:nvPr/>
        </p:nvSpPr>
        <p:spPr>
          <a:xfrm>
            <a:off x="685800" y="5120640"/>
            <a:ext cx="201168" cy="201168"/>
          </a:xfrm>
          <a:prstGeom prst="ellipse">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2"/>
          <p:cNvSpPr/>
          <p:nvPr/>
        </p:nvSpPr>
        <p:spPr>
          <a:xfrm>
            <a:off x="978408" y="5010912"/>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2"/>
          <p:cNvSpPr/>
          <p:nvPr/>
        </p:nvSpPr>
        <p:spPr>
          <a:xfrm>
            <a:off x="1143050" y="5129662"/>
            <a:ext cx="2478000" cy="841200"/>
          </a:xfrm>
          <a:prstGeom prst="rect">
            <a:avLst/>
          </a:prstGeom>
          <a:noFill/>
          <a:ln>
            <a:noFill/>
          </a:ln>
        </p:spPr>
        <p:txBody>
          <a:bodyPr spcFirstLastPara="1" wrap="square" lIns="0" tIns="0" rIns="0" bIns="0" anchor="t" anchorCtr="0">
            <a:noAutofit/>
          </a:bodyPr>
          <a:lstStyle/>
          <a:p>
            <a:pPr marL="0" marR="0" lvl="0" indent="0" algn="l" rtl="0">
              <a:spcBef>
                <a:spcPts val="400"/>
              </a:spcBef>
              <a:spcAft>
                <a:spcPts val="0"/>
              </a:spcAft>
              <a:buClr>
                <a:srgbClr val="9AABA2"/>
              </a:buClr>
              <a:buSzPts val="1100"/>
              <a:buFont typeface="Calibri"/>
              <a:buNone/>
            </a:pPr>
            <a:endParaRPr sz="1100" i="1" dirty="0">
              <a:solidFill>
                <a:srgbClr val="9AABA2"/>
              </a:solidFill>
              <a:latin typeface="Calibri"/>
              <a:ea typeface="Calibri"/>
              <a:cs typeface="Calibri"/>
              <a:sym typeface="Calibri"/>
            </a:endParaRPr>
          </a:p>
        </p:txBody>
      </p:sp>
      <p:sp>
        <p:nvSpPr>
          <p:cNvPr id="300" name="Google Shape;300;p12"/>
          <p:cNvSpPr/>
          <p:nvPr/>
        </p:nvSpPr>
        <p:spPr>
          <a:xfrm>
            <a:off x="4114800" y="1188720"/>
            <a:ext cx="3410712" cy="5029200"/>
          </a:xfrm>
          <a:prstGeom prst="roundRect">
            <a:avLst>
              <a:gd name="adj" fmla="val 2145"/>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2"/>
          <p:cNvSpPr/>
          <p:nvPr/>
        </p:nvSpPr>
        <p:spPr>
          <a:xfrm>
            <a:off x="4114800" y="1188720"/>
            <a:ext cx="3410712" cy="566928"/>
          </a:xfrm>
          <a:prstGeom prst="rect">
            <a:avLst/>
          </a:prstGeom>
          <a:solidFill>
            <a:srgbClr val="2471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2"/>
          <p:cNvSpPr/>
          <p:nvPr/>
        </p:nvSpPr>
        <p:spPr>
          <a:xfrm>
            <a:off x="4206240" y="1188720"/>
            <a:ext cx="322783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Software &amp; Platforms</a:t>
            </a:r>
            <a:endParaRPr sz="1300">
              <a:solidFill>
                <a:schemeClr val="dk1"/>
              </a:solidFill>
              <a:latin typeface="Calibri"/>
              <a:ea typeface="Calibri"/>
              <a:cs typeface="Calibri"/>
              <a:sym typeface="Calibri"/>
            </a:endParaRPr>
          </a:p>
        </p:txBody>
      </p:sp>
      <p:sp>
        <p:nvSpPr>
          <p:cNvPr id="303" name="Google Shape;303;p12"/>
          <p:cNvSpPr/>
          <p:nvPr/>
        </p:nvSpPr>
        <p:spPr>
          <a:xfrm>
            <a:off x="4297680" y="2048256"/>
            <a:ext cx="201168" cy="201168"/>
          </a:xfrm>
          <a:prstGeom prst="ellipse">
            <a:avLst/>
          </a:prstGeom>
          <a:solidFill>
            <a:srgbClr val="2471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2"/>
          <p:cNvSpPr/>
          <p:nvPr/>
        </p:nvSpPr>
        <p:spPr>
          <a:xfrm>
            <a:off x="4590288" y="1938528"/>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2"/>
          <p:cNvSpPr/>
          <p:nvPr/>
        </p:nvSpPr>
        <p:spPr>
          <a:xfrm>
            <a:off x="4761943" y="2020841"/>
            <a:ext cx="2478000" cy="841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1400"/>
              </a:spcBef>
              <a:spcAft>
                <a:spcPts val="0"/>
              </a:spcAft>
              <a:buClr>
                <a:schemeClr val="dk1"/>
              </a:buClr>
              <a:buSzPts val="1100"/>
              <a:buFont typeface="Arial"/>
              <a:buNone/>
            </a:pPr>
            <a:endParaRPr sz="1200" b="1" dirty="0">
              <a:solidFill>
                <a:schemeClr val="dk1"/>
              </a:solidFill>
            </a:endParaRPr>
          </a:p>
          <a:p>
            <a:pPr marL="457200" lvl="0" indent="0" algn="l" rtl="0">
              <a:lnSpc>
                <a:spcPct val="115000"/>
              </a:lnSpc>
              <a:spcBef>
                <a:spcPts val="1200"/>
              </a:spcBef>
              <a:spcAft>
                <a:spcPts val="1200"/>
              </a:spcAft>
              <a:buNone/>
            </a:pPr>
            <a:endParaRPr sz="1200" dirty="0">
              <a:solidFill>
                <a:schemeClr val="dk1"/>
              </a:solidFill>
            </a:endParaRPr>
          </a:p>
        </p:txBody>
      </p:sp>
      <p:sp>
        <p:nvSpPr>
          <p:cNvPr id="306" name="Google Shape;306;p12"/>
          <p:cNvSpPr/>
          <p:nvPr/>
        </p:nvSpPr>
        <p:spPr>
          <a:xfrm>
            <a:off x="4297680" y="3072384"/>
            <a:ext cx="201168" cy="201168"/>
          </a:xfrm>
          <a:prstGeom prst="ellipse">
            <a:avLst/>
          </a:prstGeom>
          <a:solidFill>
            <a:srgbClr val="2471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2"/>
          <p:cNvSpPr/>
          <p:nvPr/>
        </p:nvSpPr>
        <p:spPr>
          <a:xfrm>
            <a:off x="4590288" y="2962656"/>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2"/>
          <p:cNvSpPr/>
          <p:nvPr/>
        </p:nvSpPr>
        <p:spPr>
          <a:xfrm>
            <a:off x="4736605" y="3050981"/>
            <a:ext cx="2478000" cy="841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400"/>
              </a:spcAft>
              <a:buClr>
                <a:schemeClr val="dk1"/>
              </a:buClr>
              <a:buSzPts val="1100"/>
              <a:buFont typeface="Arial"/>
              <a:buNone/>
            </a:pPr>
            <a:r>
              <a:rPr lang="en-US" sz="1200" b="1">
                <a:solidFill>
                  <a:schemeClr val="dk1"/>
                </a:solidFill>
              </a:rPr>
              <a:t>Web Framework </a:t>
            </a:r>
            <a:endParaRPr sz="1200" b="1">
              <a:solidFill>
                <a:schemeClr val="dk1"/>
              </a:solidFill>
            </a:endParaRPr>
          </a:p>
        </p:txBody>
      </p:sp>
      <p:sp>
        <p:nvSpPr>
          <p:cNvPr id="309" name="Google Shape;309;p12"/>
          <p:cNvSpPr/>
          <p:nvPr/>
        </p:nvSpPr>
        <p:spPr>
          <a:xfrm>
            <a:off x="4297680" y="4096512"/>
            <a:ext cx="201168" cy="201168"/>
          </a:xfrm>
          <a:prstGeom prst="ellipse">
            <a:avLst/>
          </a:prstGeom>
          <a:solidFill>
            <a:srgbClr val="2471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2"/>
          <p:cNvSpPr/>
          <p:nvPr/>
        </p:nvSpPr>
        <p:spPr>
          <a:xfrm>
            <a:off x="4590288" y="3986784"/>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2"/>
          <p:cNvSpPr/>
          <p:nvPr/>
        </p:nvSpPr>
        <p:spPr>
          <a:xfrm>
            <a:off x="4736605" y="4075109"/>
            <a:ext cx="2478000" cy="841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200" b="1">
                <a:solidFill>
                  <a:schemeClr val="dk1"/>
                </a:solidFill>
              </a:rPr>
              <a:t>Database </a:t>
            </a:r>
            <a:endParaRPr sz="1200" b="1">
              <a:solidFill>
                <a:schemeClr val="dk1"/>
              </a:solidFill>
            </a:endParaRPr>
          </a:p>
          <a:p>
            <a:pPr marL="0" marR="0" lvl="0" indent="0" algn="l" rtl="0">
              <a:spcBef>
                <a:spcPts val="400"/>
              </a:spcBef>
              <a:spcAft>
                <a:spcPts val="0"/>
              </a:spcAft>
              <a:buClr>
                <a:srgbClr val="9AABA2"/>
              </a:buClr>
              <a:buSzPts val="1100"/>
              <a:buFont typeface="Calibri"/>
              <a:buNone/>
            </a:pPr>
            <a:endParaRPr sz="1200" i="1">
              <a:solidFill>
                <a:srgbClr val="9AABA2"/>
              </a:solidFill>
            </a:endParaRPr>
          </a:p>
        </p:txBody>
      </p:sp>
      <p:sp>
        <p:nvSpPr>
          <p:cNvPr id="312" name="Google Shape;312;p12"/>
          <p:cNvSpPr/>
          <p:nvPr/>
        </p:nvSpPr>
        <p:spPr>
          <a:xfrm>
            <a:off x="4297680" y="5120640"/>
            <a:ext cx="201168" cy="201168"/>
          </a:xfrm>
          <a:prstGeom prst="ellipse">
            <a:avLst/>
          </a:prstGeom>
          <a:solidFill>
            <a:srgbClr val="2471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2"/>
          <p:cNvSpPr/>
          <p:nvPr/>
        </p:nvSpPr>
        <p:spPr>
          <a:xfrm>
            <a:off x="4590288" y="5010912"/>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2"/>
          <p:cNvSpPr/>
          <p:nvPr/>
        </p:nvSpPr>
        <p:spPr>
          <a:xfrm>
            <a:off x="4736605" y="5099237"/>
            <a:ext cx="2478000" cy="841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200" b="1">
                <a:solidFill>
                  <a:schemeClr val="dk1"/>
                </a:solidFill>
              </a:rPr>
              <a:t>Data Analytics &amp; BI </a:t>
            </a:r>
            <a:endParaRPr sz="1200" b="1">
              <a:solidFill>
                <a:schemeClr val="dk1"/>
              </a:solidFill>
            </a:endParaRPr>
          </a:p>
          <a:p>
            <a:pPr marL="0" marR="0" lvl="0" indent="0" algn="l" rtl="0">
              <a:spcBef>
                <a:spcPts val="400"/>
              </a:spcBef>
              <a:spcAft>
                <a:spcPts val="0"/>
              </a:spcAft>
              <a:buClr>
                <a:srgbClr val="9AABA2"/>
              </a:buClr>
              <a:buSzPts val="1100"/>
              <a:buFont typeface="Calibri"/>
              <a:buNone/>
            </a:pPr>
            <a:endParaRPr sz="1200" i="1">
              <a:solidFill>
                <a:srgbClr val="9AABA2"/>
              </a:solidFill>
            </a:endParaRPr>
          </a:p>
        </p:txBody>
      </p:sp>
      <p:sp>
        <p:nvSpPr>
          <p:cNvPr id="315" name="Google Shape;315;p12"/>
          <p:cNvSpPr/>
          <p:nvPr/>
        </p:nvSpPr>
        <p:spPr>
          <a:xfrm>
            <a:off x="7726680" y="1188720"/>
            <a:ext cx="3410712" cy="5029200"/>
          </a:xfrm>
          <a:prstGeom prst="roundRect">
            <a:avLst>
              <a:gd name="adj" fmla="val 2145"/>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2"/>
          <p:cNvSpPr/>
          <p:nvPr/>
        </p:nvSpPr>
        <p:spPr>
          <a:xfrm>
            <a:off x="7726680" y="1188720"/>
            <a:ext cx="3410712" cy="566928"/>
          </a:xfrm>
          <a:prstGeom prst="rect">
            <a:avLst/>
          </a:prstGeom>
          <a:solidFill>
            <a:srgbClr val="8E44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2"/>
          <p:cNvSpPr/>
          <p:nvPr/>
        </p:nvSpPr>
        <p:spPr>
          <a:xfrm>
            <a:off x="7818120" y="1188720"/>
            <a:ext cx="322783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Libraries &amp; Tools</a:t>
            </a:r>
            <a:endParaRPr sz="1300">
              <a:solidFill>
                <a:schemeClr val="dk1"/>
              </a:solidFill>
              <a:latin typeface="Calibri"/>
              <a:ea typeface="Calibri"/>
              <a:cs typeface="Calibri"/>
              <a:sym typeface="Calibri"/>
            </a:endParaRPr>
          </a:p>
        </p:txBody>
      </p:sp>
      <p:sp>
        <p:nvSpPr>
          <p:cNvPr id="318" name="Google Shape;318;p12"/>
          <p:cNvSpPr/>
          <p:nvPr/>
        </p:nvSpPr>
        <p:spPr>
          <a:xfrm>
            <a:off x="7909560" y="2048256"/>
            <a:ext cx="201168" cy="201168"/>
          </a:xfrm>
          <a:prstGeom prst="ellipse">
            <a:avLst/>
          </a:prstGeom>
          <a:solidFill>
            <a:srgbClr val="8E44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2"/>
          <p:cNvSpPr/>
          <p:nvPr/>
        </p:nvSpPr>
        <p:spPr>
          <a:xfrm>
            <a:off x="8202168" y="1938528"/>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2"/>
          <p:cNvSpPr/>
          <p:nvPr/>
        </p:nvSpPr>
        <p:spPr>
          <a:xfrm>
            <a:off x="8366760" y="1938528"/>
            <a:ext cx="2478000" cy="841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sp>
        <p:nvSpPr>
          <p:cNvPr id="321" name="Google Shape;321;p12"/>
          <p:cNvSpPr/>
          <p:nvPr/>
        </p:nvSpPr>
        <p:spPr>
          <a:xfrm>
            <a:off x="7909560" y="3072384"/>
            <a:ext cx="201168" cy="201168"/>
          </a:xfrm>
          <a:prstGeom prst="ellipse">
            <a:avLst/>
          </a:prstGeom>
          <a:solidFill>
            <a:srgbClr val="8E44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2"/>
          <p:cNvSpPr/>
          <p:nvPr/>
        </p:nvSpPr>
        <p:spPr>
          <a:xfrm>
            <a:off x="8202168" y="2962656"/>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2"/>
          <p:cNvSpPr/>
          <p:nvPr/>
        </p:nvSpPr>
        <p:spPr>
          <a:xfrm>
            <a:off x="8366760" y="2962656"/>
            <a:ext cx="2478024"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sp>
        <p:nvSpPr>
          <p:cNvPr id="324" name="Google Shape;324;p12"/>
          <p:cNvSpPr/>
          <p:nvPr/>
        </p:nvSpPr>
        <p:spPr>
          <a:xfrm>
            <a:off x="7909560" y="4096512"/>
            <a:ext cx="201168" cy="201168"/>
          </a:xfrm>
          <a:prstGeom prst="ellipse">
            <a:avLst/>
          </a:prstGeom>
          <a:solidFill>
            <a:srgbClr val="8E44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2"/>
          <p:cNvSpPr/>
          <p:nvPr/>
        </p:nvSpPr>
        <p:spPr>
          <a:xfrm>
            <a:off x="8202168" y="3986784"/>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2"/>
          <p:cNvSpPr/>
          <p:nvPr/>
        </p:nvSpPr>
        <p:spPr>
          <a:xfrm>
            <a:off x="8366760" y="3986784"/>
            <a:ext cx="2478024"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sp>
        <p:nvSpPr>
          <p:cNvPr id="327" name="Google Shape;327;p12"/>
          <p:cNvSpPr/>
          <p:nvPr/>
        </p:nvSpPr>
        <p:spPr>
          <a:xfrm>
            <a:off x="7909560" y="5120640"/>
            <a:ext cx="201168" cy="201168"/>
          </a:xfrm>
          <a:prstGeom prst="ellipse">
            <a:avLst/>
          </a:prstGeom>
          <a:solidFill>
            <a:srgbClr val="8E44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2"/>
          <p:cNvSpPr/>
          <p:nvPr/>
        </p:nvSpPr>
        <p:spPr>
          <a:xfrm>
            <a:off x="8202168" y="5010912"/>
            <a:ext cx="2807208" cy="841248"/>
          </a:xfrm>
          <a:prstGeom prst="roundRect">
            <a:avLst>
              <a:gd name="adj" fmla="val 6522"/>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2"/>
          <p:cNvSpPr/>
          <p:nvPr/>
        </p:nvSpPr>
        <p:spPr>
          <a:xfrm>
            <a:off x="8366760" y="5010912"/>
            <a:ext cx="2478024" cy="8412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sp>
        <p:nvSpPr>
          <p:cNvPr id="330" name="Google Shape;330;p12"/>
          <p:cNvSpPr txBox="1"/>
          <p:nvPr/>
        </p:nvSpPr>
        <p:spPr>
          <a:xfrm>
            <a:off x="1009443" y="1937921"/>
            <a:ext cx="3245112" cy="946383"/>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1100" b="1" dirty="0"/>
              <a:t>Development System</a:t>
            </a:r>
          </a:p>
          <a:p>
            <a:pPr marL="0" lvl="0" indent="0" algn="l" rtl="0">
              <a:lnSpc>
                <a:spcPct val="150000"/>
              </a:lnSpc>
              <a:spcBef>
                <a:spcPts val="0"/>
              </a:spcBef>
              <a:spcAft>
                <a:spcPts val="0"/>
              </a:spcAft>
              <a:buNone/>
            </a:pPr>
            <a:r>
              <a:rPr lang="en-US" sz="1100" dirty="0"/>
              <a:t>Laptop / Desktop (Windows 11)</a:t>
            </a:r>
            <a:endParaRPr sz="1100" dirty="0"/>
          </a:p>
          <a:p>
            <a:pPr marL="0" lvl="0" indent="0" algn="l" rtl="0">
              <a:lnSpc>
                <a:spcPct val="150000"/>
              </a:lnSpc>
              <a:spcBef>
                <a:spcPts val="0"/>
              </a:spcBef>
              <a:spcAft>
                <a:spcPts val="0"/>
              </a:spcAft>
              <a:buNone/>
            </a:pPr>
            <a:r>
              <a:rPr lang="en-US" sz="1100" dirty="0"/>
              <a:t>Intel Core i5 / AMD Ryzen 5 or above</a:t>
            </a:r>
            <a:endParaRPr sz="1100" dirty="0"/>
          </a:p>
        </p:txBody>
      </p:sp>
      <p:sp>
        <p:nvSpPr>
          <p:cNvPr id="331" name="Google Shape;331;p12"/>
          <p:cNvSpPr txBox="1"/>
          <p:nvPr/>
        </p:nvSpPr>
        <p:spPr>
          <a:xfrm>
            <a:off x="971314" y="3011373"/>
            <a:ext cx="3052046" cy="792118"/>
          </a:xfrm>
          <a:prstGeom prst="rect">
            <a:avLst/>
          </a:prstGeom>
          <a:no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en-US" sz="1100" b="1" dirty="0">
                <a:solidFill>
                  <a:schemeClr val="dk1"/>
                </a:solidFill>
              </a:rPr>
              <a:t>System Specification</a:t>
            </a:r>
          </a:p>
          <a:p>
            <a:pPr marL="0" lvl="0" indent="0" algn="l" rtl="0">
              <a:lnSpc>
                <a:spcPct val="150000"/>
              </a:lnSpc>
              <a:spcBef>
                <a:spcPts val="0"/>
              </a:spcBef>
              <a:spcAft>
                <a:spcPts val="0"/>
              </a:spcAft>
              <a:buNone/>
            </a:pPr>
            <a:r>
              <a:rPr lang="en-US" sz="1100" dirty="0">
                <a:solidFill>
                  <a:schemeClr val="dk1"/>
                </a:solidFill>
              </a:rPr>
              <a:t>8 GB RAM (Minimum) </a:t>
            </a:r>
            <a:endParaRPr sz="1100" dirty="0">
              <a:solidFill>
                <a:schemeClr val="dk1"/>
              </a:solidFill>
            </a:endParaRPr>
          </a:p>
          <a:p>
            <a:pPr marL="0" lvl="0" indent="0" algn="l" rtl="0">
              <a:lnSpc>
                <a:spcPct val="150000"/>
              </a:lnSpc>
              <a:spcBef>
                <a:spcPts val="0"/>
              </a:spcBef>
              <a:spcAft>
                <a:spcPts val="0"/>
              </a:spcAft>
              <a:buClr>
                <a:schemeClr val="dk1"/>
              </a:buClr>
              <a:buSzPts val="1100"/>
              <a:buFont typeface="Arial"/>
              <a:buNone/>
            </a:pPr>
            <a:r>
              <a:rPr lang="en-US" sz="1100" dirty="0">
                <a:solidFill>
                  <a:schemeClr val="dk1"/>
                </a:solidFill>
              </a:rPr>
              <a:t>SSD Storage (256 GB or above) </a:t>
            </a:r>
            <a:endParaRPr sz="1100" dirty="0">
              <a:solidFill>
                <a:schemeClr val="dk1"/>
              </a:solidFill>
            </a:endParaRPr>
          </a:p>
        </p:txBody>
      </p:sp>
      <p:sp>
        <p:nvSpPr>
          <p:cNvPr id="332" name="Google Shape;332;p12"/>
          <p:cNvSpPr txBox="1"/>
          <p:nvPr/>
        </p:nvSpPr>
        <p:spPr>
          <a:xfrm>
            <a:off x="893425" y="3982233"/>
            <a:ext cx="2849528" cy="946383"/>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1100" b="1" dirty="0">
                <a:solidFill>
                  <a:schemeClr val="dk1"/>
                </a:solidFill>
              </a:rPr>
              <a:t>Internet Connection</a:t>
            </a:r>
          </a:p>
          <a:p>
            <a:pPr marL="0" lvl="0" indent="0" algn="l" rtl="0">
              <a:lnSpc>
                <a:spcPct val="150000"/>
              </a:lnSpc>
              <a:spcBef>
                <a:spcPts val="0"/>
              </a:spcBef>
              <a:spcAft>
                <a:spcPts val="0"/>
              </a:spcAft>
              <a:buNone/>
            </a:pPr>
            <a:r>
              <a:rPr lang="en-US" sz="1100" dirty="0">
                <a:solidFill>
                  <a:schemeClr val="dk1"/>
                </a:solidFill>
              </a:rPr>
              <a:t>Required for package installation, GitHub, and API access (future enhancements) </a:t>
            </a:r>
            <a:endParaRPr sz="1100" dirty="0">
              <a:solidFill>
                <a:schemeClr val="dk1"/>
              </a:solidFill>
            </a:endParaRPr>
          </a:p>
        </p:txBody>
      </p:sp>
      <p:sp>
        <p:nvSpPr>
          <p:cNvPr id="333" name="Google Shape;333;p12"/>
          <p:cNvSpPr txBox="1"/>
          <p:nvPr/>
        </p:nvSpPr>
        <p:spPr>
          <a:xfrm>
            <a:off x="1009443" y="5146090"/>
            <a:ext cx="3173509" cy="692467"/>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1100" b="1" dirty="0">
                <a:solidFill>
                  <a:schemeClr val="dk1"/>
                </a:solidFill>
              </a:rPr>
              <a:t>Optional</a:t>
            </a:r>
          </a:p>
          <a:p>
            <a:pPr marL="0" lvl="0" indent="0" algn="l" rtl="0">
              <a:lnSpc>
                <a:spcPct val="150000"/>
              </a:lnSpc>
              <a:spcBef>
                <a:spcPts val="0"/>
              </a:spcBef>
              <a:spcAft>
                <a:spcPts val="0"/>
              </a:spcAft>
              <a:buNone/>
            </a:pPr>
            <a:r>
              <a:rPr lang="en-US" sz="1100" dirty="0">
                <a:solidFill>
                  <a:schemeClr val="dk1"/>
                </a:solidFill>
              </a:rPr>
              <a:t>Cloud Storage / GitHub Repository </a:t>
            </a:r>
            <a:endParaRPr sz="1100" dirty="0">
              <a:solidFill>
                <a:schemeClr val="dk1"/>
              </a:solidFill>
            </a:endParaRPr>
          </a:p>
        </p:txBody>
      </p:sp>
      <p:sp>
        <p:nvSpPr>
          <p:cNvPr id="334" name="Google Shape;334;p12"/>
          <p:cNvSpPr txBox="1"/>
          <p:nvPr/>
        </p:nvSpPr>
        <p:spPr>
          <a:xfrm>
            <a:off x="4639538" y="2014338"/>
            <a:ext cx="2947234" cy="607828"/>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1100" b="1" dirty="0">
                <a:solidFill>
                  <a:schemeClr val="dk1"/>
                </a:solidFill>
              </a:rPr>
              <a:t>Programming Languages</a:t>
            </a:r>
          </a:p>
          <a:p>
            <a:pPr marL="0" lvl="0" indent="0" algn="l" rtl="0">
              <a:spcBef>
                <a:spcPts val="0"/>
              </a:spcBef>
              <a:spcAft>
                <a:spcPts val="0"/>
              </a:spcAft>
              <a:buNone/>
            </a:pPr>
            <a:r>
              <a:rPr lang="en-US" sz="1100" dirty="0">
                <a:solidFill>
                  <a:schemeClr val="dk1"/>
                </a:solidFill>
              </a:rPr>
              <a:t>Python, HTML5, CSS3 and JavaScript </a:t>
            </a:r>
            <a:endParaRPr sz="1100" dirty="0">
              <a:solidFill>
                <a:schemeClr val="dk1"/>
              </a:solidFill>
            </a:endParaRPr>
          </a:p>
        </p:txBody>
      </p:sp>
      <p:sp>
        <p:nvSpPr>
          <p:cNvPr id="335" name="Google Shape;335;p12"/>
          <p:cNvSpPr txBox="1"/>
          <p:nvPr/>
        </p:nvSpPr>
        <p:spPr>
          <a:xfrm>
            <a:off x="5001000" y="3358464"/>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dirty="0">
                <a:solidFill>
                  <a:schemeClr val="dk1"/>
                </a:solidFill>
              </a:rPr>
              <a:t>Flask</a:t>
            </a:r>
            <a:endParaRPr sz="1100" dirty="0">
              <a:solidFill>
                <a:schemeClr val="dk1"/>
              </a:solidFill>
            </a:endParaRPr>
          </a:p>
        </p:txBody>
      </p:sp>
      <p:sp>
        <p:nvSpPr>
          <p:cNvPr id="336" name="Google Shape;336;p12"/>
          <p:cNvSpPr txBox="1"/>
          <p:nvPr/>
        </p:nvSpPr>
        <p:spPr>
          <a:xfrm>
            <a:off x="4772889" y="4409316"/>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dirty="0">
                <a:solidFill>
                  <a:schemeClr val="dk1"/>
                </a:solidFill>
              </a:rPr>
              <a:t>SQLite, </a:t>
            </a:r>
            <a:r>
              <a:rPr lang="en-US" sz="1100" dirty="0" err="1">
                <a:solidFill>
                  <a:schemeClr val="dk1"/>
                </a:solidFill>
              </a:rPr>
              <a:t>GSheets</a:t>
            </a:r>
            <a:r>
              <a:rPr lang="en-US" sz="1100" dirty="0">
                <a:solidFill>
                  <a:schemeClr val="dk1"/>
                </a:solidFill>
              </a:rPr>
              <a:t>, Excel and </a:t>
            </a:r>
            <a:r>
              <a:rPr lang="en-US" sz="1100" dirty="0" err="1">
                <a:solidFill>
                  <a:schemeClr val="dk1"/>
                </a:solidFill>
              </a:rPr>
              <a:t>Bigquery</a:t>
            </a:r>
            <a:endParaRPr sz="1100" dirty="0">
              <a:solidFill>
                <a:schemeClr val="dk1"/>
              </a:solidFill>
            </a:endParaRPr>
          </a:p>
        </p:txBody>
      </p:sp>
      <p:sp>
        <p:nvSpPr>
          <p:cNvPr id="337" name="Google Shape;337;p12"/>
          <p:cNvSpPr txBox="1"/>
          <p:nvPr/>
        </p:nvSpPr>
        <p:spPr>
          <a:xfrm>
            <a:off x="4848406" y="5447796"/>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dirty="0">
                <a:solidFill>
                  <a:schemeClr val="dk1"/>
                </a:solidFill>
              </a:rPr>
              <a:t>Power BI and Tableau </a:t>
            </a:r>
            <a:endParaRPr sz="1100" dirty="0">
              <a:solidFill>
                <a:schemeClr val="dk1"/>
              </a:solidFill>
            </a:endParaRPr>
          </a:p>
        </p:txBody>
      </p:sp>
      <p:sp>
        <p:nvSpPr>
          <p:cNvPr id="338" name="Google Shape;338;p12"/>
          <p:cNvSpPr/>
          <p:nvPr/>
        </p:nvSpPr>
        <p:spPr>
          <a:xfrm>
            <a:off x="8305618" y="1997966"/>
            <a:ext cx="2478000" cy="841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1400"/>
              </a:spcBef>
              <a:spcAft>
                <a:spcPts val="0"/>
              </a:spcAft>
              <a:buClr>
                <a:schemeClr val="dk1"/>
              </a:buClr>
              <a:buSzPts val="1100"/>
              <a:buFont typeface="Arial"/>
              <a:buNone/>
            </a:pPr>
            <a:r>
              <a:rPr lang="en-US" sz="1200" b="1">
                <a:solidFill>
                  <a:schemeClr val="dk1"/>
                </a:solidFill>
              </a:rPr>
              <a:t>Data Science &amp; Machine Learning </a:t>
            </a:r>
            <a:endParaRPr sz="1200" b="1">
              <a:solidFill>
                <a:schemeClr val="dk1"/>
              </a:solidFill>
            </a:endParaRPr>
          </a:p>
          <a:p>
            <a:pPr marL="457200" lvl="0" indent="0" algn="l" rtl="0">
              <a:lnSpc>
                <a:spcPct val="115000"/>
              </a:lnSpc>
              <a:spcBef>
                <a:spcPts val="1200"/>
              </a:spcBef>
              <a:spcAft>
                <a:spcPts val="1200"/>
              </a:spcAft>
              <a:buNone/>
            </a:pPr>
            <a:endParaRPr sz="1200">
              <a:solidFill>
                <a:schemeClr val="dk1"/>
              </a:solidFill>
            </a:endParaRPr>
          </a:p>
        </p:txBody>
      </p:sp>
      <p:sp>
        <p:nvSpPr>
          <p:cNvPr id="339" name="Google Shape;339;p12"/>
          <p:cNvSpPr/>
          <p:nvPr/>
        </p:nvSpPr>
        <p:spPr>
          <a:xfrm>
            <a:off x="8305625" y="3054800"/>
            <a:ext cx="2703900" cy="841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400"/>
              </a:spcAft>
              <a:buClr>
                <a:schemeClr val="dk1"/>
              </a:buClr>
              <a:buSzPts val="1100"/>
              <a:buFont typeface="Arial"/>
              <a:buNone/>
            </a:pPr>
            <a:r>
              <a:rPr lang="en-US" sz="1200" b="1">
                <a:solidFill>
                  <a:schemeClr val="dk1"/>
                </a:solidFill>
              </a:rPr>
              <a:t>Natural Language Processing (NLP) </a:t>
            </a:r>
            <a:endParaRPr sz="1200" b="1">
              <a:solidFill>
                <a:schemeClr val="dk1"/>
              </a:solidFill>
            </a:endParaRPr>
          </a:p>
        </p:txBody>
      </p:sp>
      <p:sp>
        <p:nvSpPr>
          <p:cNvPr id="340" name="Google Shape;340;p12"/>
          <p:cNvSpPr/>
          <p:nvPr/>
        </p:nvSpPr>
        <p:spPr>
          <a:xfrm>
            <a:off x="8305630" y="4078934"/>
            <a:ext cx="2478000" cy="841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200" b="1">
                <a:solidFill>
                  <a:schemeClr val="dk1"/>
                </a:solidFill>
              </a:rPr>
              <a:t>Data Visualization </a:t>
            </a:r>
            <a:endParaRPr sz="1200" b="1">
              <a:solidFill>
                <a:schemeClr val="dk1"/>
              </a:solidFill>
            </a:endParaRPr>
          </a:p>
          <a:p>
            <a:pPr marL="0" marR="0" lvl="0" indent="0" algn="l" rtl="0">
              <a:spcBef>
                <a:spcPts val="400"/>
              </a:spcBef>
              <a:spcAft>
                <a:spcPts val="0"/>
              </a:spcAft>
              <a:buClr>
                <a:srgbClr val="9AABA2"/>
              </a:buClr>
              <a:buSzPts val="1100"/>
              <a:buFont typeface="Calibri"/>
              <a:buNone/>
            </a:pPr>
            <a:endParaRPr sz="1200" i="1">
              <a:solidFill>
                <a:srgbClr val="9AABA2"/>
              </a:solidFill>
            </a:endParaRPr>
          </a:p>
        </p:txBody>
      </p:sp>
      <p:sp>
        <p:nvSpPr>
          <p:cNvPr id="341" name="Google Shape;341;p12"/>
          <p:cNvSpPr/>
          <p:nvPr/>
        </p:nvSpPr>
        <p:spPr>
          <a:xfrm>
            <a:off x="8305630" y="5103062"/>
            <a:ext cx="2478000" cy="841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Development Environment</a:t>
            </a:r>
            <a:endParaRPr sz="1300" b="1">
              <a:solidFill>
                <a:schemeClr val="dk1"/>
              </a:solidFill>
            </a:endParaRPr>
          </a:p>
          <a:p>
            <a:pPr marL="45720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400"/>
              </a:spcBef>
              <a:spcAft>
                <a:spcPts val="0"/>
              </a:spcAft>
              <a:buClr>
                <a:schemeClr val="dk1"/>
              </a:buClr>
              <a:buSzPts val="1100"/>
              <a:buFont typeface="Arial"/>
              <a:buNone/>
            </a:pPr>
            <a:endParaRPr sz="1200" b="1">
              <a:solidFill>
                <a:schemeClr val="dk1"/>
              </a:solidFill>
            </a:endParaRPr>
          </a:p>
          <a:p>
            <a:pPr marL="0" marR="0" lvl="0" indent="0" algn="l" rtl="0">
              <a:spcBef>
                <a:spcPts val="400"/>
              </a:spcBef>
              <a:spcAft>
                <a:spcPts val="0"/>
              </a:spcAft>
              <a:buClr>
                <a:srgbClr val="9AABA2"/>
              </a:buClr>
              <a:buSzPts val="1100"/>
              <a:buFont typeface="Calibri"/>
              <a:buNone/>
            </a:pPr>
            <a:endParaRPr sz="1200" i="1">
              <a:solidFill>
                <a:srgbClr val="9AABA2"/>
              </a:solidFill>
            </a:endParaRPr>
          </a:p>
        </p:txBody>
      </p:sp>
      <p:sp>
        <p:nvSpPr>
          <p:cNvPr id="342" name="Google Shape;342;p12"/>
          <p:cNvSpPr txBox="1"/>
          <p:nvPr/>
        </p:nvSpPr>
        <p:spPr>
          <a:xfrm>
            <a:off x="8298563" y="2297761"/>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dirty="0">
                <a:solidFill>
                  <a:schemeClr val="dk1"/>
                </a:solidFill>
              </a:rPr>
              <a:t>Pandas, NumPy and Scikit-Learn</a:t>
            </a:r>
            <a:endParaRPr sz="1100" dirty="0">
              <a:solidFill>
                <a:schemeClr val="dk1"/>
              </a:solidFill>
            </a:endParaRPr>
          </a:p>
        </p:txBody>
      </p:sp>
      <p:sp>
        <p:nvSpPr>
          <p:cNvPr id="343" name="Google Shape;343;p12"/>
          <p:cNvSpPr txBox="1"/>
          <p:nvPr/>
        </p:nvSpPr>
        <p:spPr>
          <a:xfrm>
            <a:off x="8579945" y="3336898"/>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dirty="0">
                <a:solidFill>
                  <a:schemeClr val="dk1"/>
                </a:solidFill>
              </a:rPr>
              <a:t>NLTK and </a:t>
            </a:r>
            <a:r>
              <a:rPr lang="en-US" sz="1100" dirty="0" err="1">
                <a:solidFill>
                  <a:schemeClr val="dk1"/>
                </a:solidFill>
              </a:rPr>
              <a:t>SpaCy</a:t>
            </a:r>
            <a:endParaRPr sz="1100" dirty="0">
              <a:solidFill>
                <a:schemeClr val="dk1"/>
              </a:solidFill>
            </a:endParaRPr>
          </a:p>
        </p:txBody>
      </p:sp>
      <p:sp>
        <p:nvSpPr>
          <p:cNvPr id="344" name="Google Shape;344;p12"/>
          <p:cNvSpPr txBox="1"/>
          <p:nvPr/>
        </p:nvSpPr>
        <p:spPr>
          <a:xfrm>
            <a:off x="8438655" y="4375791"/>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a:solidFill>
                  <a:schemeClr val="dk1"/>
                </a:solidFill>
              </a:rPr>
              <a:t>Plotly , Matplotlib and Seaborn</a:t>
            </a:r>
            <a:endParaRPr sz="1100">
              <a:solidFill>
                <a:schemeClr val="dk1"/>
              </a:solidFill>
            </a:endParaRPr>
          </a:p>
        </p:txBody>
      </p:sp>
      <p:sp>
        <p:nvSpPr>
          <p:cNvPr id="345" name="Google Shape;345;p12"/>
          <p:cNvSpPr txBox="1"/>
          <p:nvPr/>
        </p:nvSpPr>
        <p:spPr>
          <a:xfrm>
            <a:off x="8427356" y="5427036"/>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dirty="0">
                <a:solidFill>
                  <a:schemeClr val="dk1"/>
                </a:solidFill>
              </a:rPr>
              <a:t>VS Code, Co-Lab and GitHub</a:t>
            </a:r>
            <a:endParaRPr sz="1100"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0"/>
        <p:cNvGrpSpPr/>
        <p:nvPr/>
      </p:nvGrpSpPr>
      <p:grpSpPr>
        <a:xfrm>
          <a:off x="0" y="0"/>
          <a:ext cx="0" cy="0"/>
          <a:chOff x="0" y="0"/>
          <a:chExt cx="0" cy="0"/>
        </a:xfrm>
      </p:grpSpPr>
      <p:sp>
        <p:nvSpPr>
          <p:cNvPr id="351" name="Google Shape;351;p13"/>
          <p:cNvSpPr/>
          <p:nvPr/>
        </p:nvSpPr>
        <p:spPr>
          <a:xfrm>
            <a:off x="0" y="0"/>
            <a:ext cx="12191695" cy="164592"/>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3"/>
          <p:cNvSpPr/>
          <p:nvPr/>
        </p:nvSpPr>
        <p:spPr>
          <a:xfrm>
            <a:off x="502920" y="237744"/>
            <a:ext cx="109728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EXPECTED OUTCOME</a:t>
            </a:r>
            <a:endParaRPr sz="2800">
              <a:solidFill>
                <a:schemeClr val="dk1"/>
              </a:solidFill>
              <a:latin typeface="Calibri"/>
              <a:ea typeface="Calibri"/>
              <a:cs typeface="Calibri"/>
              <a:sym typeface="Calibri"/>
            </a:endParaRPr>
          </a:p>
        </p:txBody>
      </p:sp>
      <p:sp>
        <p:nvSpPr>
          <p:cNvPr id="353" name="Google Shape;353;p13"/>
          <p:cNvSpPr/>
          <p:nvPr/>
        </p:nvSpPr>
        <p:spPr>
          <a:xfrm>
            <a:off x="502920" y="859536"/>
            <a:ext cx="9144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cxnSp>
        <p:nvCxnSpPr>
          <p:cNvPr id="354" name="Google Shape;354;p13"/>
          <p:cNvCxnSpPr/>
          <p:nvPr/>
        </p:nvCxnSpPr>
        <p:spPr>
          <a:xfrm>
            <a:off x="502920" y="1024128"/>
            <a:ext cx="11185855" cy="0"/>
          </a:xfrm>
          <a:prstGeom prst="straightConnector1">
            <a:avLst/>
          </a:prstGeom>
          <a:noFill/>
          <a:ln w="15225" cap="flat" cmpd="sng">
            <a:solidFill>
              <a:srgbClr val="C9A841"/>
            </a:solidFill>
            <a:prstDash val="solid"/>
            <a:round/>
            <a:headEnd type="none" w="sm" len="sm"/>
            <a:tailEnd type="none" w="sm" len="sm"/>
          </a:ln>
        </p:spPr>
      </p:cxnSp>
      <p:cxnSp>
        <p:nvCxnSpPr>
          <p:cNvPr id="355" name="Google Shape;355;p13"/>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356" name="Google Shape;356;p13"/>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357" name="Google Shape;357;p13"/>
          <p:cNvSpPr/>
          <p:nvPr/>
        </p:nvSpPr>
        <p:spPr>
          <a:xfrm>
            <a:off x="3474720" y="6455664"/>
            <a:ext cx="5239512" cy="27432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358" name="Google Shape;358;p13"/>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11</a:t>
            </a:r>
            <a:endParaRPr sz="900">
              <a:solidFill>
                <a:schemeClr val="dk1"/>
              </a:solidFill>
              <a:latin typeface="Calibri"/>
              <a:ea typeface="Calibri"/>
              <a:cs typeface="Calibri"/>
              <a:sym typeface="Calibri"/>
            </a:endParaRPr>
          </a:p>
        </p:txBody>
      </p:sp>
      <p:sp>
        <p:nvSpPr>
          <p:cNvPr id="359" name="Google Shape;359;p13"/>
          <p:cNvSpPr/>
          <p:nvPr/>
        </p:nvSpPr>
        <p:spPr>
          <a:xfrm>
            <a:off x="737464" y="1188720"/>
            <a:ext cx="2011680" cy="4480560"/>
          </a:xfrm>
          <a:prstGeom prst="roundRect">
            <a:avLst>
              <a:gd name="adj" fmla="val 3636"/>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3"/>
          <p:cNvSpPr/>
          <p:nvPr/>
        </p:nvSpPr>
        <p:spPr>
          <a:xfrm>
            <a:off x="737464" y="1188720"/>
            <a:ext cx="2011680" cy="512064"/>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3"/>
          <p:cNvSpPr/>
          <p:nvPr/>
        </p:nvSpPr>
        <p:spPr>
          <a:xfrm>
            <a:off x="737464" y="1188720"/>
            <a:ext cx="201168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600"/>
              <a:buFont typeface="Cambria"/>
              <a:buNone/>
            </a:pPr>
            <a:r>
              <a:rPr lang="en-US" sz="1600" b="1">
                <a:solidFill>
                  <a:srgbClr val="C9A841"/>
                </a:solidFill>
                <a:latin typeface="Cambria"/>
                <a:ea typeface="Cambria"/>
                <a:cs typeface="Cambria"/>
                <a:sym typeface="Cambria"/>
              </a:rPr>
              <a:t>01</a:t>
            </a:r>
            <a:endParaRPr sz="1600">
              <a:solidFill>
                <a:schemeClr val="dk1"/>
              </a:solidFill>
              <a:latin typeface="Calibri"/>
              <a:ea typeface="Calibri"/>
              <a:cs typeface="Calibri"/>
              <a:sym typeface="Calibri"/>
            </a:endParaRPr>
          </a:p>
        </p:txBody>
      </p:sp>
      <p:sp>
        <p:nvSpPr>
          <p:cNvPr id="362" name="Google Shape;362;p13"/>
          <p:cNvSpPr/>
          <p:nvPr/>
        </p:nvSpPr>
        <p:spPr>
          <a:xfrm>
            <a:off x="865480" y="1810512"/>
            <a:ext cx="1755648" cy="713232"/>
          </a:xfrm>
          <a:prstGeom prst="roundRect">
            <a:avLst>
              <a:gd name="adj" fmla="val 6410"/>
            </a:avLst>
          </a:prstGeom>
          <a:solidFill>
            <a:srgbClr val="E8F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3"/>
          <p:cNvSpPr/>
          <p:nvPr/>
        </p:nvSpPr>
        <p:spPr>
          <a:xfrm>
            <a:off x="865480" y="1810512"/>
            <a:ext cx="1755648"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A3A"/>
              </a:buClr>
              <a:buSzPts val="950"/>
              <a:buFont typeface="Calibri"/>
              <a:buNone/>
            </a:pPr>
            <a:r>
              <a:rPr lang="en-US" sz="950" b="1">
                <a:solidFill>
                  <a:srgbClr val="1F4A3A"/>
                </a:solidFill>
                <a:latin typeface="Calibri"/>
                <a:ea typeface="Calibri"/>
                <a:cs typeface="Calibri"/>
                <a:sym typeface="Calibri"/>
              </a:rPr>
              <a:t>Primary Output</a:t>
            </a:r>
            <a:endParaRPr sz="950">
              <a:solidFill>
                <a:schemeClr val="dk1"/>
              </a:solidFill>
              <a:latin typeface="Calibri"/>
              <a:ea typeface="Calibri"/>
              <a:cs typeface="Calibri"/>
              <a:sym typeface="Calibri"/>
            </a:endParaRPr>
          </a:p>
        </p:txBody>
      </p:sp>
      <p:sp>
        <p:nvSpPr>
          <p:cNvPr id="364" name="Google Shape;364;p13"/>
          <p:cNvSpPr/>
          <p:nvPr/>
        </p:nvSpPr>
        <p:spPr>
          <a:xfrm>
            <a:off x="865480" y="2596896"/>
            <a:ext cx="1755648" cy="2944368"/>
          </a:xfrm>
          <a:prstGeom prst="roundRect">
            <a:avLst>
              <a:gd name="adj" fmla="val 3125"/>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3"/>
          <p:cNvSpPr/>
          <p:nvPr/>
        </p:nvSpPr>
        <p:spPr>
          <a:xfrm>
            <a:off x="1030072" y="2596896"/>
            <a:ext cx="1426464" cy="2944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sp>
        <p:nvSpPr>
          <p:cNvPr id="366" name="Google Shape;366;p13"/>
          <p:cNvSpPr/>
          <p:nvPr/>
        </p:nvSpPr>
        <p:spPr>
          <a:xfrm>
            <a:off x="2913736" y="1188720"/>
            <a:ext cx="2011680" cy="4480560"/>
          </a:xfrm>
          <a:prstGeom prst="roundRect">
            <a:avLst>
              <a:gd name="adj" fmla="val 3636"/>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3"/>
          <p:cNvSpPr/>
          <p:nvPr/>
        </p:nvSpPr>
        <p:spPr>
          <a:xfrm>
            <a:off x="2913736" y="1188720"/>
            <a:ext cx="2011680" cy="512064"/>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3"/>
          <p:cNvSpPr/>
          <p:nvPr/>
        </p:nvSpPr>
        <p:spPr>
          <a:xfrm>
            <a:off x="2913736" y="1188720"/>
            <a:ext cx="201168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600"/>
              <a:buFont typeface="Cambria"/>
              <a:buNone/>
            </a:pPr>
            <a:r>
              <a:rPr lang="en-US" sz="1600" b="1">
                <a:solidFill>
                  <a:srgbClr val="C9A841"/>
                </a:solidFill>
                <a:latin typeface="Cambria"/>
                <a:ea typeface="Cambria"/>
                <a:cs typeface="Cambria"/>
                <a:sym typeface="Cambria"/>
              </a:rPr>
              <a:t>02</a:t>
            </a:r>
            <a:endParaRPr sz="1600">
              <a:solidFill>
                <a:schemeClr val="dk1"/>
              </a:solidFill>
              <a:latin typeface="Calibri"/>
              <a:ea typeface="Calibri"/>
              <a:cs typeface="Calibri"/>
              <a:sym typeface="Calibri"/>
            </a:endParaRPr>
          </a:p>
        </p:txBody>
      </p:sp>
      <p:sp>
        <p:nvSpPr>
          <p:cNvPr id="369" name="Google Shape;369;p13"/>
          <p:cNvSpPr/>
          <p:nvPr/>
        </p:nvSpPr>
        <p:spPr>
          <a:xfrm>
            <a:off x="3041752" y="1810512"/>
            <a:ext cx="1755648" cy="713232"/>
          </a:xfrm>
          <a:prstGeom prst="roundRect">
            <a:avLst>
              <a:gd name="adj" fmla="val 6410"/>
            </a:avLst>
          </a:prstGeom>
          <a:solidFill>
            <a:srgbClr val="E8F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3"/>
          <p:cNvSpPr/>
          <p:nvPr/>
        </p:nvSpPr>
        <p:spPr>
          <a:xfrm>
            <a:off x="3041752" y="1810512"/>
            <a:ext cx="1755648"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A3A"/>
              </a:buClr>
              <a:buSzPts val="950"/>
              <a:buFont typeface="Calibri"/>
              <a:buNone/>
            </a:pPr>
            <a:r>
              <a:rPr lang="en-US" sz="950" b="1">
                <a:solidFill>
                  <a:srgbClr val="1F4A3A"/>
                </a:solidFill>
                <a:latin typeface="Calibri"/>
                <a:ea typeface="Calibri"/>
                <a:cs typeface="Calibri"/>
                <a:sym typeface="Calibri"/>
              </a:rPr>
              <a:t>Accuracy / Performance</a:t>
            </a:r>
            <a:endParaRPr sz="950">
              <a:solidFill>
                <a:schemeClr val="dk1"/>
              </a:solidFill>
              <a:latin typeface="Calibri"/>
              <a:ea typeface="Calibri"/>
              <a:cs typeface="Calibri"/>
              <a:sym typeface="Calibri"/>
            </a:endParaRPr>
          </a:p>
        </p:txBody>
      </p:sp>
      <p:sp>
        <p:nvSpPr>
          <p:cNvPr id="371" name="Google Shape;371;p13"/>
          <p:cNvSpPr/>
          <p:nvPr/>
        </p:nvSpPr>
        <p:spPr>
          <a:xfrm>
            <a:off x="3041752" y="2596896"/>
            <a:ext cx="1755648" cy="2944368"/>
          </a:xfrm>
          <a:prstGeom prst="roundRect">
            <a:avLst>
              <a:gd name="adj" fmla="val 3125"/>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3"/>
          <p:cNvSpPr/>
          <p:nvPr/>
        </p:nvSpPr>
        <p:spPr>
          <a:xfrm>
            <a:off x="3206344" y="2596896"/>
            <a:ext cx="1426464" cy="294436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000">
                <a:solidFill>
                  <a:schemeClr val="dk1"/>
                </a:solidFill>
              </a:rPr>
              <a:t>Accurate Feedback Analysis</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Intelligent Topic Detection</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Fast Data Processing</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Scalable Architecture</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Reliable Insights</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marR="0" lvl="0" indent="0" algn="l" rtl="0">
              <a:spcBef>
                <a:spcPts val="0"/>
              </a:spcBef>
              <a:spcAft>
                <a:spcPts val="0"/>
              </a:spcAft>
              <a:buClr>
                <a:srgbClr val="9AABA2"/>
              </a:buClr>
              <a:buSzPts val="1100"/>
              <a:buFont typeface="Calibri"/>
              <a:buNone/>
            </a:pPr>
            <a:endParaRPr sz="1100" i="1">
              <a:solidFill>
                <a:srgbClr val="9AABA2"/>
              </a:solidFill>
              <a:latin typeface="Calibri"/>
              <a:ea typeface="Calibri"/>
              <a:cs typeface="Calibri"/>
              <a:sym typeface="Calibri"/>
            </a:endParaRPr>
          </a:p>
        </p:txBody>
      </p:sp>
      <p:sp>
        <p:nvSpPr>
          <p:cNvPr id="373" name="Google Shape;373;p13"/>
          <p:cNvSpPr/>
          <p:nvPr/>
        </p:nvSpPr>
        <p:spPr>
          <a:xfrm>
            <a:off x="5090008" y="1188720"/>
            <a:ext cx="2011680" cy="4480560"/>
          </a:xfrm>
          <a:prstGeom prst="roundRect">
            <a:avLst>
              <a:gd name="adj" fmla="val 3636"/>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3"/>
          <p:cNvSpPr/>
          <p:nvPr/>
        </p:nvSpPr>
        <p:spPr>
          <a:xfrm>
            <a:off x="5090008" y="1188720"/>
            <a:ext cx="2011680" cy="512064"/>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3"/>
          <p:cNvSpPr/>
          <p:nvPr/>
        </p:nvSpPr>
        <p:spPr>
          <a:xfrm>
            <a:off x="5090008" y="1188720"/>
            <a:ext cx="201168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600"/>
              <a:buFont typeface="Cambria"/>
              <a:buNone/>
            </a:pPr>
            <a:r>
              <a:rPr lang="en-US" sz="1600" b="1">
                <a:solidFill>
                  <a:srgbClr val="C9A841"/>
                </a:solidFill>
                <a:latin typeface="Cambria"/>
                <a:ea typeface="Cambria"/>
                <a:cs typeface="Cambria"/>
                <a:sym typeface="Cambria"/>
              </a:rPr>
              <a:t>03</a:t>
            </a:r>
            <a:endParaRPr sz="1600">
              <a:solidFill>
                <a:schemeClr val="dk1"/>
              </a:solidFill>
              <a:latin typeface="Calibri"/>
              <a:ea typeface="Calibri"/>
              <a:cs typeface="Calibri"/>
              <a:sym typeface="Calibri"/>
            </a:endParaRPr>
          </a:p>
        </p:txBody>
      </p:sp>
      <p:sp>
        <p:nvSpPr>
          <p:cNvPr id="376" name="Google Shape;376;p13"/>
          <p:cNvSpPr/>
          <p:nvPr/>
        </p:nvSpPr>
        <p:spPr>
          <a:xfrm>
            <a:off x="5218024" y="1810512"/>
            <a:ext cx="1755648" cy="713232"/>
          </a:xfrm>
          <a:prstGeom prst="roundRect">
            <a:avLst>
              <a:gd name="adj" fmla="val 6410"/>
            </a:avLst>
          </a:prstGeom>
          <a:solidFill>
            <a:srgbClr val="E8F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3"/>
          <p:cNvSpPr/>
          <p:nvPr/>
        </p:nvSpPr>
        <p:spPr>
          <a:xfrm>
            <a:off x="5218024" y="1810512"/>
            <a:ext cx="1755648"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A3A"/>
              </a:buClr>
              <a:buSzPts val="950"/>
              <a:buFont typeface="Calibri"/>
              <a:buNone/>
            </a:pPr>
            <a:r>
              <a:rPr lang="en-US" sz="950" b="1">
                <a:solidFill>
                  <a:srgbClr val="1F4A3A"/>
                </a:solidFill>
                <a:latin typeface="Calibri"/>
                <a:ea typeface="Calibri"/>
                <a:cs typeface="Calibri"/>
                <a:sym typeface="Calibri"/>
              </a:rPr>
              <a:t>Dataset / Artefact</a:t>
            </a:r>
            <a:endParaRPr sz="950">
              <a:solidFill>
                <a:schemeClr val="dk1"/>
              </a:solidFill>
              <a:latin typeface="Calibri"/>
              <a:ea typeface="Calibri"/>
              <a:cs typeface="Calibri"/>
              <a:sym typeface="Calibri"/>
            </a:endParaRPr>
          </a:p>
        </p:txBody>
      </p:sp>
      <p:sp>
        <p:nvSpPr>
          <p:cNvPr id="378" name="Google Shape;378;p13"/>
          <p:cNvSpPr/>
          <p:nvPr/>
        </p:nvSpPr>
        <p:spPr>
          <a:xfrm>
            <a:off x="5218024" y="2596896"/>
            <a:ext cx="1755648" cy="2944368"/>
          </a:xfrm>
          <a:prstGeom prst="roundRect">
            <a:avLst>
              <a:gd name="adj" fmla="val 3125"/>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3"/>
          <p:cNvSpPr/>
          <p:nvPr/>
        </p:nvSpPr>
        <p:spPr>
          <a:xfrm>
            <a:off x="5382616" y="2596896"/>
            <a:ext cx="1426464" cy="294436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a:solidFill>
                  <a:schemeClr val="dk1"/>
                </a:solidFill>
              </a:rPr>
              <a:t>Placement Feedback Dataset</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US" sz="1000">
                <a:solidFill>
                  <a:schemeClr val="dk1"/>
                </a:solidFill>
              </a:rPr>
              <a:t>Interview Experience Repository</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US" sz="1000">
                <a:solidFill>
                  <a:schemeClr val="dk1"/>
                </a:solidFill>
              </a:rPr>
              <a:t>AI Analysis Reports</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US" sz="1000">
                <a:solidFill>
                  <a:schemeClr val="dk1"/>
                </a:solidFill>
              </a:rPr>
              <a:t>Web Application</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US" sz="1000">
                <a:solidFill>
                  <a:schemeClr val="dk1"/>
                </a:solidFill>
              </a:rPr>
              <a:t>Technical Documentation</a:t>
            </a:r>
            <a:endParaRPr sz="1000">
              <a:solidFill>
                <a:schemeClr val="dk1"/>
              </a:solidFill>
            </a:endParaRPr>
          </a:p>
          <a:p>
            <a:pPr marL="0" marR="0" lvl="0" indent="0" algn="l" rtl="0">
              <a:spcBef>
                <a:spcPts val="0"/>
              </a:spcBef>
              <a:spcAft>
                <a:spcPts val="0"/>
              </a:spcAft>
              <a:buNone/>
            </a:pPr>
            <a:endParaRPr sz="1000">
              <a:solidFill>
                <a:schemeClr val="dk1"/>
              </a:solidFill>
            </a:endParaRPr>
          </a:p>
        </p:txBody>
      </p:sp>
      <p:sp>
        <p:nvSpPr>
          <p:cNvPr id="380" name="Google Shape;380;p13"/>
          <p:cNvSpPr/>
          <p:nvPr/>
        </p:nvSpPr>
        <p:spPr>
          <a:xfrm>
            <a:off x="7266280" y="1188720"/>
            <a:ext cx="2011680" cy="4480560"/>
          </a:xfrm>
          <a:prstGeom prst="roundRect">
            <a:avLst>
              <a:gd name="adj" fmla="val 3636"/>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3"/>
          <p:cNvSpPr/>
          <p:nvPr/>
        </p:nvSpPr>
        <p:spPr>
          <a:xfrm>
            <a:off x="7266280" y="1188720"/>
            <a:ext cx="2011680" cy="512064"/>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3"/>
          <p:cNvSpPr/>
          <p:nvPr/>
        </p:nvSpPr>
        <p:spPr>
          <a:xfrm>
            <a:off x="7266280" y="1188720"/>
            <a:ext cx="201168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600"/>
              <a:buFont typeface="Cambria"/>
              <a:buNone/>
            </a:pPr>
            <a:r>
              <a:rPr lang="en-US" sz="1600" b="1">
                <a:solidFill>
                  <a:srgbClr val="C9A841"/>
                </a:solidFill>
                <a:latin typeface="Cambria"/>
                <a:ea typeface="Cambria"/>
                <a:cs typeface="Cambria"/>
                <a:sym typeface="Cambria"/>
              </a:rPr>
              <a:t>04</a:t>
            </a:r>
            <a:endParaRPr sz="1600">
              <a:solidFill>
                <a:schemeClr val="dk1"/>
              </a:solidFill>
              <a:latin typeface="Calibri"/>
              <a:ea typeface="Calibri"/>
              <a:cs typeface="Calibri"/>
              <a:sym typeface="Calibri"/>
            </a:endParaRPr>
          </a:p>
        </p:txBody>
      </p:sp>
      <p:sp>
        <p:nvSpPr>
          <p:cNvPr id="383" name="Google Shape;383;p13"/>
          <p:cNvSpPr/>
          <p:nvPr/>
        </p:nvSpPr>
        <p:spPr>
          <a:xfrm>
            <a:off x="7394296" y="1810512"/>
            <a:ext cx="1755648" cy="713232"/>
          </a:xfrm>
          <a:prstGeom prst="roundRect">
            <a:avLst>
              <a:gd name="adj" fmla="val 6410"/>
            </a:avLst>
          </a:prstGeom>
          <a:solidFill>
            <a:srgbClr val="E8F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3"/>
          <p:cNvSpPr/>
          <p:nvPr/>
        </p:nvSpPr>
        <p:spPr>
          <a:xfrm>
            <a:off x="7394296" y="1810512"/>
            <a:ext cx="1755648"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A3A"/>
              </a:buClr>
              <a:buSzPts val="950"/>
              <a:buFont typeface="Calibri"/>
              <a:buNone/>
            </a:pPr>
            <a:r>
              <a:rPr lang="en-US" sz="950" b="1">
                <a:solidFill>
                  <a:srgbClr val="1F4A3A"/>
                </a:solidFill>
                <a:latin typeface="Calibri"/>
                <a:ea typeface="Calibri"/>
                <a:cs typeface="Calibri"/>
                <a:sym typeface="Calibri"/>
              </a:rPr>
              <a:t>Explainability / Visualisation</a:t>
            </a:r>
            <a:endParaRPr sz="950">
              <a:solidFill>
                <a:schemeClr val="dk1"/>
              </a:solidFill>
              <a:latin typeface="Calibri"/>
              <a:ea typeface="Calibri"/>
              <a:cs typeface="Calibri"/>
              <a:sym typeface="Calibri"/>
            </a:endParaRPr>
          </a:p>
        </p:txBody>
      </p:sp>
      <p:sp>
        <p:nvSpPr>
          <p:cNvPr id="385" name="Google Shape;385;p13"/>
          <p:cNvSpPr/>
          <p:nvPr/>
        </p:nvSpPr>
        <p:spPr>
          <a:xfrm>
            <a:off x="7394296" y="2596896"/>
            <a:ext cx="1755648" cy="2944368"/>
          </a:xfrm>
          <a:prstGeom prst="roundRect">
            <a:avLst>
              <a:gd name="adj" fmla="val 3125"/>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3"/>
          <p:cNvSpPr/>
          <p:nvPr/>
        </p:nvSpPr>
        <p:spPr>
          <a:xfrm>
            <a:off x="7558888" y="2596896"/>
            <a:ext cx="1426464" cy="294436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000">
                <a:solidFill>
                  <a:schemeClr val="dk1"/>
                </a:solidFill>
              </a:rPr>
              <a:t>Interactive Dashboards</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Company-wise Reports</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Interview Trend Analysis</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Skill Gap Dashboard</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Performance Analytics</a:t>
            </a:r>
            <a:endParaRPr sz="1000">
              <a:solidFill>
                <a:schemeClr val="dk1"/>
              </a:solidFill>
            </a:endParaRPr>
          </a:p>
          <a:p>
            <a:pPr marL="0" marR="0" lvl="0" indent="0" algn="l" rtl="0">
              <a:spcBef>
                <a:spcPts val="0"/>
              </a:spcBef>
              <a:spcAft>
                <a:spcPts val="0"/>
              </a:spcAft>
              <a:buClr>
                <a:srgbClr val="9AABA2"/>
              </a:buClr>
              <a:buSzPts val="1100"/>
              <a:buFont typeface="Calibri"/>
              <a:buNone/>
            </a:pPr>
            <a:endParaRPr sz="1000">
              <a:solidFill>
                <a:schemeClr val="dk1"/>
              </a:solidFill>
            </a:endParaRPr>
          </a:p>
        </p:txBody>
      </p:sp>
      <p:sp>
        <p:nvSpPr>
          <p:cNvPr id="387" name="Google Shape;387;p13"/>
          <p:cNvSpPr/>
          <p:nvPr/>
        </p:nvSpPr>
        <p:spPr>
          <a:xfrm>
            <a:off x="9442552" y="1188720"/>
            <a:ext cx="2011680" cy="4480560"/>
          </a:xfrm>
          <a:prstGeom prst="roundRect">
            <a:avLst>
              <a:gd name="adj" fmla="val 3636"/>
            </a:avLst>
          </a:prstGeom>
          <a:solidFill>
            <a:srgbClr val="FFFFFF"/>
          </a:solidFill>
          <a:ln w="12700" cap="flat" cmpd="sng">
            <a:solidFill>
              <a:srgbClr val="D4E2DC"/>
            </a:solidFill>
            <a:prstDash val="solid"/>
            <a:round/>
            <a:headEnd type="none" w="sm" len="sm"/>
            <a:tailEnd type="none" w="sm" len="sm"/>
          </a:ln>
          <a:effectLst>
            <a:outerShdw blurRad="63500" dist="25400" dir="5400000" algn="bl" rotWithShape="0">
              <a:srgbClr val="AAAAAA">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3"/>
          <p:cNvSpPr/>
          <p:nvPr/>
        </p:nvSpPr>
        <p:spPr>
          <a:xfrm>
            <a:off x="9442552" y="1188720"/>
            <a:ext cx="2011680" cy="512064"/>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3"/>
          <p:cNvSpPr/>
          <p:nvPr/>
        </p:nvSpPr>
        <p:spPr>
          <a:xfrm>
            <a:off x="9442552" y="1188720"/>
            <a:ext cx="201168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600"/>
              <a:buFont typeface="Cambria"/>
              <a:buNone/>
            </a:pPr>
            <a:r>
              <a:rPr lang="en-US" sz="1600" b="1">
                <a:solidFill>
                  <a:srgbClr val="C9A841"/>
                </a:solidFill>
                <a:latin typeface="Cambria"/>
                <a:ea typeface="Cambria"/>
                <a:cs typeface="Cambria"/>
                <a:sym typeface="Cambria"/>
              </a:rPr>
              <a:t>05</a:t>
            </a:r>
            <a:endParaRPr sz="1600">
              <a:solidFill>
                <a:schemeClr val="dk1"/>
              </a:solidFill>
              <a:latin typeface="Calibri"/>
              <a:ea typeface="Calibri"/>
              <a:cs typeface="Calibri"/>
              <a:sym typeface="Calibri"/>
            </a:endParaRPr>
          </a:p>
        </p:txBody>
      </p:sp>
      <p:sp>
        <p:nvSpPr>
          <p:cNvPr id="390" name="Google Shape;390;p13"/>
          <p:cNvSpPr/>
          <p:nvPr/>
        </p:nvSpPr>
        <p:spPr>
          <a:xfrm>
            <a:off x="9570568" y="1810512"/>
            <a:ext cx="1755648" cy="713232"/>
          </a:xfrm>
          <a:prstGeom prst="roundRect">
            <a:avLst>
              <a:gd name="adj" fmla="val 6410"/>
            </a:avLst>
          </a:prstGeom>
          <a:solidFill>
            <a:srgbClr val="E8F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3"/>
          <p:cNvSpPr/>
          <p:nvPr/>
        </p:nvSpPr>
        <p:spPr>
          <a:xfrm>
            <a:off x="9570568" y="1810512"/>
            <a:ext cx="1755648"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A3A"/>
              </a:buClr>
              <a:buSzPts val="950"/>
              <a:buFont typeface="Calibri"/>
              <a:buNone/>
            </a:pPr>
            <a:r>
              <a:rPr lang="en-US" sz="950" b="1">
                <a:solidFill>
                  <a:srgbClr val="1F4A3A"/>
                </a:solidFill>
                <a:latin typeface="Calibri"/>
                <a:ea typeface="Calibri"/>
                <a:cs typeface="Calibri"/>
                <a:sym typeface="Calibri"/>
              </a:rPr>
              <a:t>Social / Industry Impact</a:t>
            </a:r>
            <a:endParaRPr sz="950">
              <a:solidFill>
                <a:schemeClr val="dk1"/>
              </a:solidFill>
              <a:latin typeface="Calibri"/>
              <a:ea typeface="Calibri"/>
              <a:cs typeface="Calibri"/>
              <a:sym typeface="Calibri"/>
            </a:endParaRPr>
          </a:p>
        </p:txBody>
      </p:sp>
      <p:sp>
        <p:nvSpPr>
          <p:cNvPr id="392" name="Google Shape;392;p13"/>
          <p:cNvSpPr/>
          <p:nvPr/>
        </p:nvSpPr>
        <p:spPr>
          <a:xfrm>
            <a:off x="9570568" y="2596896"/>
            <a:ext cx="1755648" cy="2944368"/>
          </a:xfrm>
          <a:prstGeom prst="roundRect">
            <a:avLst>
              <a:gd name="adj" fmla="val 3125"/>
            </a:avLst>
          </a:prstGeom>
          <a:solidFill>
            <a:srgbClr val="F5FAF8"/>
          </a:solidFill>
          <a:ln w="12700" cap="flat" cmpd="sng">
            <a:solidFill>
              <a:srgbClr val="D4E2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3"/>
          <p:cNvSpPr/>
          <p:nvPr/>
        </p:nvSpPr>
        <p:spPr>
          <a:xfrm>
            <a:off x="9735160" y="2596896"/>
            <a:ext cx="1426464" cy="294436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000">
                <a:solidFill>
                  <a:schemeClr val="dk1"/>
                </a:solidFill>
              </a:rPr>
              <a:t>Enhanced Student Readiness</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Smarter Placement Training</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Data-Driven Decision Making</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Improved Institutional Planning</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Increased Placement Success</a:t>
            </a:r>
            <a:endParaRPr sz="1000">
              <a:solidFill>
                <a:schemeClr val="dk1"/>
              </a:solidFill>
            </a:endParaRPr>
          </a:p>
          <a:p>
            <a:pPr marL="0" marR="0" lvl="0" indent="0" algn="l" rtl="0">
              <a:spcBef>
                <a:spcPts val="0"/>
              </a:spcBef>
              <a:spcAft>
                <a:spcPts val="0"/>
              </a:spcAft>
              <a:buClr>
                <a:srgbClr val="9AABA2"/>
              </a:buClr>
              <a:buSzPts val="1100"/>
              <a:buFont typeface="Calibri"/>
              <a:buNone/>
            </a:pPr>
            <a:endParaRPr sz="1000">
              <a:solidFill>
                <a:schemeClr val="dk1"/>
              </a:solidFill>
            </a:endParaRPr>
          </a:p>
        </p:txBody>
      </p:sp>
      <p:sp>
        <p:nvSpPr>
          <p:cNvPr id="394" name="Google Shape;394;p13"/>
          <p:cNvSpPr txBox="1"/>
          <p:nvPr/>
        </p:nvSpPr>
        <p:spPr>
          <a:xfrm>
            <a:off x="865520" y="2692975"/>
            <a:ext cx="1755600" cy="2786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000"/>
              <a:t>AI Placement Intelligence Platform</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US" sz="1000"/>
              <a:t>Feedback Management System</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US" sz="1000"/>
              <a:t>AI Analytics Engine</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US" sz="1000"/>
              <a:t>Student </a:t>
            </a:r>
            <a:endParaRPr sz="1000"/>
          </a:p>
          <a:p>
            <a:pPr marL="0" lvl="0" indent="0" algn="l" rtl="0">
              <a:spcBef>
                <a:spcPts val="0"/>
              </a:spcBef>
              <a:spcAft>
                <a:spcPts val="0"/>
              </a:spcAft>
              <a:buNone/>
            </a:pPr>
            <a:r>
              <a:rPr lang="en-US" sz="1000"/>
              <a:t>Recommendation Module</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US" sz="1000"/>
              <a:t>Placement Dashboard</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9"/>
        <p:cNvGrpSpPr/>
        <p:nvPr/>
      </p:nvGrpSpPr>
      <p:grpSpPr>
        <a:xfrm>
          <a:off x="0" y="0"/>
          <a:ext cx="0" cy="0"/>
          <a:chOff x="0" y="0"/>
          <a:chExt cx="0" cy="0"/>
        </a:xfrm>
      </p:grpSpPr>
      <p:sp>
        <p:nvSpPr>
          <p:cNvPr id="400" name="Google Shape;400;p14"/>
          <p:cNvSpPr/>
          <p:nvPr/>
        </p:nvSpPr>
        <p:spPr>
          <a:xfrm>
            <a:off x="0" y="0"/>
            <a:ext cx="12191700" cy="164700"/>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4"/>
          <p:cNvSpPr/>
          <p:nvPr/>
        </p:nvSpPr>
        <p:spPr>
          <a:xfrm>
            <a:off x="502920" y="237744"/>
            <a:ext cx="10972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PROJECT MAPPING WITH SUSTAINABLE DEVELOPMENT GOALS (SDGS)</a:t>
            </a:r>
            <a:endParaRPr sz="2800">
              <a:solidFill>
                <a:schemeClr val="dk1"/>
              </a:solidFill>
              <a:latin typeface="Calibri"/>
              <a:ea typeface="Calibri"/>
              <a:cs typeface="Calibri"/>
              <a:sym typeface="Calibri"/>
            </a:endParaRPr>
          </a:p>
        </p:txBody>
      </p:sp>
      <p:sp>
        <p:nvSpPr>
          <p:cNvPr id="402" name="Google Shape;402;p14"/>
          <p:cNvSpPr/>
          <p:nvPr/>
        </p:nvSpPr>
        <p:spPr>
          <a:xfrm>
            <a:off x="502920" y="859536"/>
            <a:ext cx="9144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cxnSp>
        <p:nvCxnSpPr>
          <p:cNvPr id="403" name="Google Shape;403;p14"/>
          <p:cNvCxnSpPr/>
          <p:nvPr/>
        </p:nvCxnSpPr>
        <p:spPr>
          <a:xfrm>
            <a:off x="502920" y="1024128"/>
            <a:ext cx="11185800" cy="0"/>
          </a:xfrm>
          <a:prstGeom prst="straightConnector1">
            <a:avLst/>
          </a:prstGeom>
          <a:noFill/>
          <a:ln w="15225" cap="flat" cmpd="sng">
            <a:solidFill>
              <a:srgbClr val="C9A841"/>
            </a:solidFill>
            <a:prstDash val="solid"/>
            <a:round/>
            <a:headEnd type="none" w="sm" len="sm"/>
            <a:tailEnd type="none" w="sm" len="sm"/>
          </a:ln>
        </p:spPr>
      </p:cxnSp>
      <p:cxnSp>
        <p:nvCxnSpPr>
          <p:cNvPr id="404" name="Google Shape;404;p14"/>
          <p:cNvCxnSpPr/>
          <p:nvPr/>
        </p:nvCxnSpPr>
        <p:spPr>
          <a:xfrm>
            <a:off x="457200" y="6400800"/>
            <a:ext cx="11277300" cy="0"/>
          </a:xfrm>
          <a:prstGeom prst="straightConnector1">
            <a:avLst/>
          </a:prstGeom>
          <a:noFill/>
          <a:ln w="9525" cap="flat" cmpd="sng">
            <a:solidFill>
              <a:srgbClr val="D4E2DC"/>
            </a:solidFill>
            <a:prstDash val="solid"/>
            <a:round/>
            <a:headEnd type="none" w="sm" len="sm"/>
            <a:tailEnd type="none" w="sm" len="sm"/>
          </a:ln>
        </p:spPr>
      </p:cxnSp>
      <p:sp>
        <p:nvSpPr>
          <p:cNvPr id="405" name="Google Shape;405;p14"/>
          <p:cNvSpPr/>
          <p:nvPr/>
        </p:nvSpPr>
        <p:spPr>
          <a:xfrm>
            <a:off x="457200" y="6455664"/>
            <a:ext cx="2926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406" name="Google Shape;406;p14"/>
          <p:cNvSpPr/>
          <p:nvPr/>
        </p:nvSpPr>
        <p:spPr>
          <a:xfrm>
            <a:off x="3474720" y="6455664"/>
            <a:ext cx="5239500" cy="274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407" name="Google Shape;407;p14"/>
          <p:cNvSpPr/>
          <p:nvPr/>
        </p:nvSpPr>
        <p:spPr>
          <a:xfrm>
            <a:off x="11277295" y="6455664"/>
            <a:ext cx="457200" cy="274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12</a:t>
            </a:r>
            <a:endParaRPr sz="900">
              <a:solidFill>
                <a:schemeClr val="dk1"/>
              </a:solidFill>
              <a:latin typeface="Calibri"/>
              <a:ea typeface="Calibri"/>
              <a:cs typeface="Calibri"/>
              <a:sym typeface="Calibri"/>
            </a:endParaRPr>
          </a:p>
        </p:txBody>
      </p:sp>
      <p:sp>
        <p:nvSpPr>
          <p:cNvPr id="408" name="Google Shape;408;p14"/>
          <p:cNvSpPr/>
          <p:nvPr/>
        </p:nvSpPr>
        <p:spPr>
          <a:xfrm>
            <a:off x="457200" y="1819708"/>
            <a:ext cx="914400" cy="932700"/>
          </a:xfrm>
          <a:prstGeom prst="roundRect">
            <a:avLst>
              <a:gd name="adj" fmla="val 6000"/>
            </a:avLst>
          </a:prstGeom>
          <a:solidFill>
            <a:srgbClr val="E5243B"/>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4"/>
          <p:cNvSpPr/>
          <p:nvPr/>
        </p:nvSpPr>
        <p:spPr>
          <a:xfrm>
            <a:off x="457200" y="1892860"/>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a:t>
            </a:r>
            <a:endParaRPr sz="1600">
              <a:solidFill>
                <a:schemeClr val="dk1"/>
              </a:solidFill>
              <a:latin typeface="Calibri"/>
              <a:ea typeface="Calibri"/>
              <a:cs typeface="Calibri"/>
              <a:sym typeface="Calibri"/>
            </a:endParaRPr>
          </a:p>
        </p:txBody>
      </p:sp>
      <p:sp>
        <p:nvSpPr>
          <p:cNvPr id="410" name="Google Shape;410;p14"/>
          <p:cNvSpPr/>
          <p:nvPr/>
        </p:nvSpPr>
        <p:spPr>
          <a:xfrm>
            <a:off x="502920" y="2240332"/>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No Poverty</a:t>
            </a:r>
            <a:endParaRPr sz="750">
              <a:solidFill>
                <a:schemeClr val="dk1"/>
              </a:solidFill>
              <a:latin typeface="Calibri"/>
              <a:ea typeface="Calibri"/>
              <a:cs typeface="Calibri"/>
              <a:sym typeface="Calibri"/>
            </a:endParaRPr>
          </a:p>
        </p:txBody>
      </p:sp>
      <p:sp>
        <p:nvSpPr>
          <p:cNvPr id="411" name="Google Shape;411;p14"/>
          <p:cNvSpPr/>
          <p:nvPr/>
        </p:nvSpPr>
        <p:spPr>
          <a:xfrm>
            <a:off x="1463040" y="1819708"/>
            <a:ext cx="914400" cy="932700"/>
          </a:xfrm>
          <a:prstGeom prst="roundRect">
            <a:avLst>
              <a:gd name="adj" fmla="val 6000"/>
            </a:avLst>
          </a:prstGeom>
          <a:solidFill>
            <a:srgbClr val="DDA63A"/>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4"/>
          <p:cNvSpPr/>
          <p:nvPr/>
        </p:nvSpPr>
        <p:spPr>
          <a:xfrm>
            <a:off x="1463040" y="1892860"/>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2</a:t>
            </a:r>
            <a:endParaRPr sz="1600">
              <a:solidFill>
                <a:schemeClr val="dk1"/>
              </a:solidFill>
              <a:latin typeface="Calibri"/>
              <a:ea typeface="Calibri"/>
              <a:cs typeface="Calibri"/>
              <a:sym typeface="Calibri"/>
            </a:endParaRPr>
          </a:p>
        </p:txBody>
      </p:sp>
      <p:sp>
        <p:nvSpPr>
          <p:cNvPr id="413" name="Google Shape;413;p14"/>
          <p:cNvSpPr/>
          <p:nvPr/>
        </p:nvSpPr>
        <p:spPr>
          <a:xfrm>
            <a:off x="1508760" y="2240332"/>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Zero Hunger</a:t>
            </a:r>
            <a:endParaRPr sz="750">
              <a:solidFill>
                <a:schemeClr val="dk1"/>
              </a:solidFill>
              <a:latin typeface="Calibri"/>
              <a:ea typeface="Calibri"/>
              <a:cs typeface="Calibri"/>
              <a:sym typeface="Calibri"/>
            </a:endParaRPr>
          </a:p>
        </p:txBody>
      </p:sp>
      <p:sp>
        <p:nvSpPr>
          <p:cNvPr id="414" name="Google Shape;414;p14"/>
          <p:cNvSpPr/>
          <p:nvPr/>
        </p:nvSpPr>
        <p:spPr>
          <a:xfrm>
            <a:off x="2468880" y="1819708"/>
            <a:ext cx="914400" cy="932700"/>
          </a:xfrm>
          <a:prstGeom prst="roundRect">
            <a:avLst>
              <a:gd name="adj" fmla="val 6000"/>
            </a:avLst>
          </a:prstGeom>
          <a:solidFill>
            <a:srgbClr val="4C9F38"/>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4"/>
          <p:cNvSpPr/>
          <p:nvPr/>
        </p:nvSpPr>
        <p:spPr>
          <a:xfrm>
            <a:off x="2468880" y="1892860"/>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3</a:t>
            </a:r>
            <a:endParaRPr sz="1600">
              <a:solidFill>
                <a:schemeClr val="dk1"/>
              </a:solidFill>
              <a:latin typeface="Calibri"/>
              <a:ea typeface="Calibri"/>
              <a:cs typeface="Calibri"/>
              <a:sym typeface="Calibri"/>
            </a:endParaRPr>
          </a:p>
        </p:txBody>
      </p:sp>
      <p:sp>
        <p:nvSpPr>
          <p:cNvPr id="416" name="Google Shape;416;p14"/>
          <p:cNvSpPr/>
          <p:nvPr/>
        </p:nvSpPr>
        <p:spPr>
          <a:xfrm>
            <a:off x="2514600" y="2240332"/>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Good Health</a:t>
            </a:r>
            <a:endParaRPr sz="750">
              <a:solidFill>
                <a:schemeClr val="dk1"/>
              </a:solidFill>
              <a:latin typeface="Calibri"/>
              <a:ea typeface="Calibri"/>
              <a:cs typeface="Calibri"/>
              <a:sym typeface="Calibri"/>
            </a:endParaRPr>
          </a:p>
        </p:txBody>
      </p:sp>
      <p:sp>
        <p:nvSpPr>
          <p:cNvPr id="417" name="Google Shape;417;p14"/>
          <p:cNvSpPr/>
          <p:nvPr/>
        </p:nvSpPr>
        <p:spPr>
          <a:xfrm>
            <a:off x="3474720" y="1819708"/>
            <a:ext cx="914400" cy="932700"/>
          </a:xfrm>
          <a:prstGeom prst="roundRect">
            <a:avLst>
              <a:gd name="adj" fmla="val 6000"/>
            </a:avLst>
          </a:prstGeom>
          <a:solidFill>
            <a:srgbClr val="C5192D"/>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4"/>
          <p:cNvSpPr/>
          <p:nvPr/>
        </p:nvSpPr>
        <p:spPr>
          <a:xfrm>
            <a:off x="3474720" y="1892860"/>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4</a:t>
            </a:r>
            <a:endParaRPr sz="1600">
              <a:solidFill>
                <a:schemeClr val="dk1"/>
              </a:solidFill>
              <a:latin typeface="Calibri"/>
              <a:ea typeface="Calibri"/>
              <a:cs typeface="Calibri"/>
              <a:sym typeface="Calibri"/>
            </a:endParaRPr>
          </a:p>
        </p:txBody>
      </p:sp>
      <p:sp>
        <p:nvSpPr>
          <p:cNvPr id="419" name="Google Shape;419;p14"/>
          <p:cNvSpPr/>
          <p:nvPr/>
        </p:nvSpPr>
        <p:spPr>
          <a:xfrm>
            <a:off x="3520440" y="2240332"/>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Quality Education</a:t>
            </a:r>
            <a:endParaRPr sz="750">
              <a:solidFill>
                <a:schemeClr val="dk1"/>
              </a:solidFill>
              <a:latin typeface="Calibri"/>
              <a:ea typeface="Calibri"/>
              <a:cs typeface="Calibri"/>
              <a:sym typeface="Calibri"/>
            </a:endParaRPr>
          </a:p>
        </p:txBody>
      </p:sp>
      <p:sp>
        <p:nvSpPr>
          <p:cNvPr id="420" name="Google Shape;420;p14"/>
          <p:cNvSpPr/>
          <p:nvPr/>
        </p:nvSpPr>
        <p:spPr>
          <a:xfrm>
            <a:off x="4480560" y="1819708"/>
            <a:ext cx="914400" cy="932700"/>
          </a:xfrm>
          <a:prstGeom prst="roundRect">
            <a:avLst>
              <a:gd name="adj" fmla="val 6000"/>
            </a:avLst>
          </a:prstGeom>
          <a:solidFill>
            <a:srgbClr val="FF3A21"/>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4"/>
          <p:cNvSpPr/>
          <p:nvPr/>
        </p:nvSpPr>
        <p:spPr>
          <a:xfrm>
            <a:off x="4480560" y="1892860"/>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5</a:t>
            </a:r>
            <a:endParaRPr sz="1600">
              <a:solidFill>
                <a:schemeClr val="dk1"/>
              </a:solidFill>
              <a:latin typeface="Calibri"/>
              <a:ea typeface="Calibri"/>
              <a:cs typeface="Calibri"/>
              <a:sym typeface="Calibri"/>
            </a:endParaRPr>
          </a:p>
        </p:txBody>
      </p:sp>
      <p:sp>
        <p:nvSpPr>
          <p:cNvPr id="422" name="Google Shape;422;p14"/>
          <p:cNvSpPr/>
          <p:nvPr/>
        </p:nvSpPr>
        <p:spPr>
          <a:xfrm>
            <a:off x="4526280" y="2240332"/>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Gender Equality</a:t>
            </a:r>
            <a:endParaRPr sz="750">
              <a:solidFill>
                <a:schemeClr val="dk1"/>
              </a:solidFill>
              <a:latin typeface="Calibri"/>
              <a:ea typeface="Calibri"/>
              <a:cs typeface="Calibri"/>
              <a:sym typeface="Calibri"/>
            </a:endParaRPr>
          </a:p>
        </p:txBody>
      </p:sp>
      <p:sp>
        <p:nvSpPr>
          <p:cNvPr id="423" name="Google Shape;423;p14"/>
          <p:cNvSpPr/>
          <p:nvPr/>
        </p:nvSpPr>
        <p:spPr>
          <a:xfrm>
            <a:off x="5486400" y="1819708"/>
            <a:ext cx="914400" cy="932700"/>
          </a:xfrm>
          <a:prstGeom prst="roundRect">
            <a:avLst>
              <a:gd name="adj" fmla="val 6000"/>
            </a:avLst>
          </a:prstGeom>
          <a:solidFill>
            <a:srgbClr val="26BDE2"/>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4"/>
          <p:cNvSpPr/>
          <p:nvPr/>
        </p:nvSpPr>
        <p:spPr>
          <a:xfrm>
            <a:off x="5486400" y="1892860"/>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6</a:t>
            </a:r>
            <a:endParaRPr sz="1600">
              <a:solidFill>
                <a:schemeClr val="dk1"/>
              </a:solidFill>
              <a:latin typeface="Calibri"/>
              <a:ea typeface="Calibri"/>
              <a:cs typeface="Calibri"/>
              <a:sym typeface="Calibri"/>
            </a:endParaRPr>
          </a:p>
        </p:txBody>
      </p:sp>
      <p:sp>
        <p:nvSpPr>
          <p:cNvPr id="425" name="Google Shape;425;p14"/>
          <p:cNvSpPr/>
          <p:nvPr/>
        </p:nvSpPr>
        <p:spPr>
          <a:xfrm>
            <a:off x="5532120" y="2240332"/>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Clean Water</a:t>
            </a:r>
            <a:endParaRPr sz="750">
              <a:solidFill>
                <a:schemeClr val="dk1"/>
              </a:solidFill>
              <a:latin typeface="Calibri"/>
              <a:ea typeface="Calibri"/>
              <a:cs typeface="Calibri"/>
              <a:sym typeface="Calibri"/>
            </a:endParaRPr>
          </a:p>
        </p:txBody>
      </p:sp>
      <p:sp>
        <p:nvSpPr>
          <p:cNvPr id="426" name="Google Shape;426;p14"/>
          <p:cNvSpPr/>
          <p:nvPr/>
        </p:nvSpPr>
        <p:spPr>
          <a:xfrm>
            <a:off x="457200" y="2843836"/>
            <a:ext cx="914400" cy="932700"/>
          </a:xfrm>
          <a:prstGeom prst="roundRect">
            <a:avLst>
              <a:gd name="adj" fmla="val 6000"/>
            </a:avLst>
          </a:prstGeom>
          <a:solidFill>
            <a:srgbClr val="FCC30B"/>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4"/>
          <p:cNvSpPr/>
          <p:nvPr/>
        </p:nvSpPr>
        <p:spPr>
          <a:xfrm>
            <a:off x="457200" y="2916988"/>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7</a:t>
            </a:r>
            <a:endParaRPr sz="1600">
              <a:solidFill>
                <a:schemeClr val="dk1"/>
              </a:solidFill>
              <a:latin typeface="Calibri"/>
              <a:ea typeface="Calibri"/>
              <a:cs typeface="Calibri"/>
              <a:sym typeface="Calibri"/>
            </a:endParaRPr>
          </a:p>
        </p:txBody>
      </p:sp>
      <p:sp>
        <p:nvSpPr>
          <p:cNvPr id="428" name="Google Shape;428;p14"/>
          <p:cNvSpPr/>
          <p:nvPr/>
        </p:nvSpPr>
        <p:spPr>
          <a:xfrm>
            <a:off x="502920" y="3264460"/>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Affordable Energy</a:t>
            </a:r>
            <a:endParaRPr sz="750">
              <a:solidFill>
                <a:schemeClr val="dk1"/>
              </a:solidFill>
              <a:latin typeface="Calibri"/>
              <a:ea typeface="Calibri"/>
              <a:cs typeface="Calibri"/>
              <a:sym typeface="Calibri"/>
            </a:endParaRPr>
          </a:p>
        </p:txBody>
      </p:sp>
      <p:sp>
        <p:nvSpPr>
          <p:cNvPr id="429" name="Google Shape;429;p14"/>
          <p:cNvSpPr/>
          <p:nvPr/>
        </p:nvSpPr>
        <p:spPr>
          <a:xfrm>
            <a:off x="1463040" y="2843836"/>
            <a:ext cx="914400" cy="932700"/>
          </a:xfrm>
          <a:prstGeom prst="roundRect">
            <a:avLst>
              <a:gd name="adj" fmla="val 6000"/>
            </a:avLst>
          </a:prstGeom>
          <a:solidFill>
            <a:srgbClr val="A21942"/>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4"/>
          <p:cNvSpPr/>
          <p:nvPr/>
        </p:nvSpPr>
        <p:spPr>
          <a:xfrm>
            <a:off x="1463040" y="2916988"/>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8</a:t>
            </a:r>
            <a:endParaRPr sz="1600">
              <a:solidFill>
                <a:schemeClr val="dk1"/>
              </a:solidFill>
              <a:latin typeface="Calibri"/>
              <a:ea typeface="Calibri"/>
              <a:cs typeface="Calibri"/>
              <a:sym typeface="Calibri"/>
            </a:endParaRPr>
          </a:p>
        </p:txBody>
      </p:sp>
      <p:sp>
        <p:nvSpPr>
          <p:cNvPr id="431" name="Google Shape;431;p14"/>
          <p:cNvSpPr/>
          <p:nvPr/>
        </p:nvSpPr>
        <p:spPr>
          <a:xfrm>
            <a:off x="1508760" y="3264460"/>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Decent Work</a:t>
            </a:r>
            <a:endParaRPr sz="750">
              <a:solidFill>
                <a:schemeClr val="dk1"/>
              </a:solidFill>
              <a:latin typeface="Calibri"/>
              <a:ea typeface="Calibri"/>
              <a:cs typeface="Calibri"/>
              <a:sym typeface="Calibri"/>
            </a:endParaRPr>
          </a:p>
        </p:txBody>
      </p:sp>
      <p:sp>
        <p:nvSpPr>
          <p:cNvPr id="432" name="Google Shape;432;p14"/>
          <p:cNvSpPr/>
          <p:nvPr/>
        </p:nvSpPr>
        <p:spPr>
          <a:xfrm>
            <a:off x="2468880" y="2843836"/>
            <a:ext cx="914400" cy="932700"/>
          </a:xfrm>
          <a:prstGeom prst="roundRect">
            <a:avLst>
              <a:gd name="adj" fmla="val 6000"/>
            </a:avLst>
          </a:prstGeom>
          <a:solidFill>
            <a:srgbClr val="FD6925"/>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4"/>
          <p:cNvSpPr/>
          <p:nvPr/>
        </p:nvSpPr>
        <p:spPr>
          <a:xfrm>
            <a:off x="2468880" y="2916988"/>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9</a:t>
            </a:r>
            <a:endParaRPr sz="1600">
              <a:solidFill>
                <a:schemeClr val="dk1"/>
              </a:solidFill>
              <a:latin typeface="Calibri"/>
              <a:ea typeface="Calibri"/>
              <a:cs typeface="Calibri"/>
              <a:sym typeface="Calibri"/>
            </a:endParaRPr>
          </a:p>
        </p:txBody>
      </p:sp>
      <p:sp>
        <p:nvSpPr>
          <p:cNvPr id="434" name="Google Shape;434;p14"/>
          <p:cNvSpPr/>
          <p:nvPr/>
        </p:nvSpPr>
        <p:spPr>
          <a:xfrm>
            <a:off x="2514600" y="3264460"/>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Industry &amp; Innovation</a:t>
            </a:r>
            <a:endParaRPr sz="750">
              <a:solidFill>
                <a:schemeClr val="dk1"/>
              </a:solidFill>
              <a:latin typeface="Calibri"/>
              <a:ea typeface="Calibri"/>
              <a:cs typeface="Calibri"/>
              <a:sym typeface="Calibri"/>
            </a:endParaRPr>
          </a:p>
        </p:txBody>
      </p:sp>
      <p:sp>
        <p:nvSpPr>
          <p:cNvPr id="435" name="Google Shape;435;p14"/>
          <p:cNvSpPr/>
          <p:nvPr/>
        </p:nvSpPr>
        <p:spPr>
          <a:xfrm>
            <a:off x="3474720" y="2843836"/>
            <a:ext cx="914400" cy="932700"/>
          </a:xfrm>
          <a:prstGeom prst="roundRect">
            <a:avLst>
              <a:gd name="adj" fmla="val 6000"/>
            </a:avLst>
          </a:prstGeom>
          <a:solidFill>
            <a:srgbClr val="DD1367"/>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4"/>
          <p:cNvSpPr/>
          <p:nvPr/>
        </p:nvSpPr>
        <p:spPr>
          <a:xfrm>
            <a:off x="3474720" y="2916988"/>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10</a:t>
            </a:r>
            <a:endParaRPr sz="1600">
              <a:solidFill>
                <a:schemeClr val="dk1"/>
              </a:solidFill>
              <a:latin typeface="Calibri"/>
              <a:ea typeface="Calibri"/>
              <a:cs typeface="Calibri"/>
              <a:sym typeface="Calibri"/>
            </a:endParaRPr>
          </a:p>
        </p:txBody>
      </p:sp>
      <p:sp>
        <p:nvSpPr>
          <p:cNvPr id="437" name="Google Shape;437;p14"/>
          <p:cNvSpPr/>
          <p:nvPr/>
        </p:nvSpPr>
        <p:spPr>
          <a:xfrm>
            <a:off x="3520440" y="3264460"/>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Reduced Inequalities</a:t>
            </a:r>
            <a:endParaRPr sz="750">
              <a:solidFill>
                <a:schemeClr val="dk1"/>
              </a:solidFill>
              <a:latin typeface="Calibri"/>
              <a:ea typeface="Calibri"/>
              <a:cs typeface="Calibri"/>
              <a:sym typeface="Calibri"/>
            </a:endParaRPr>
          </a:p>
        </p:txBody>
      </p:sp>
      <p:sp>
        <p:nvSpPr>
          <p:cNvPr id="438" name="Google Shape;438;p14"/>
          <p:cNvSpPr/>
          <p:nvPr/>
        </p:nvSpPr>
        <p:spPr>
          <a:xfrm>
            <a:off x="4480560" y="2843836"/>
            <a:ext cx="914400" cy="932700"/>
          </a:xfrm>
          <a:prstGeom prst="roundRect">
            <a:avLst>
              <a:gd name="adj" fmla="val 6000"/>
            </a:avLst>
          </a:prstGeom>
          <a:solidFill>
            <a:srgbClr val="FD9D24"/>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4"/>
          <p:cNvSpPr/>
          <p:nvPr/>
        </p:nvSpPr>
        <p:spPr>
          <a:xfrm>
            <a:off x="4480560" y="2916988"/>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11</a:t>
            </a:r>
            <a:endParaRPr sz="1600">
              <a:solidFill>
                <a:schemeClr val="dk1"/>
              </a:solidFill>
              <a:latin typeface="Calibri"/>
              <a:ea typeface="Calibri"/>
              <a:cs typeface="Calibri"/>
              <a:sym typeface="Calibri"/>
            </a:endParaRPr>
          </a:p>
        </p:txBody>
      </p:sp>
      <p:sp>
        <p:nvSpPr>
          <p:cNvPr id="440" name="Google Shape;440;p14"/>
          <p:cNvSpPr/>
          <p:nvPr/>
        </p:nvSpPr>
        <p:spPr>
          <a:xfrm>
            <a:off x="4526280" y="3264460"/>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Sustainable Cities</a:t>
            </a:r>
            <a:endParaRPr sz="750">
              <a:solidFill>
                <a:schemeClr val="dk1"/>
              </a:solidFill>
              <a:latin typeface="Calibri"/>
              <a:ea typeface="Calibri"/>
              <a:cs typeface="Calibri"/>
              <a:sym typeface="Calibri"/>
            </a:endParaRPr>
          </a:p>
        </p:txBody>
      </p:sp>
      <p:sp>
        <p:nvSpPr>
          <p:cNvPr id="441" name="Google Shape;441;p14"/>
          <p:cNvSpPr/>
          <p:nvPr/>
        </p:nvSpPr>
        <p:spPr>
          <a:xfrm>
            <a:off x="5486400" y="2843836"/>
            <a:ext cx="914400" cy="932700"/>
          </a:xfrm>
          <a:prstGeom prst="roundRect">
            <a:avLst>
              <a:gd name="adj" fmla="val 6000"/>
            </a:avLst>
          </a:prstGeom>
          <a:solidFill>
            <a:srgbClr val="BF8B2E"/>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4"/>
          <p:cNvSpPr/>
          <p:nvPr/>
        </p:nvSpPr>
        <p:spPr>
          <a:xfrm>
            <a:off x="5486400" y="2916988"/>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12</a:t>
            </a:r>
            <a:endParaRPr sz="1600">
              <a:solidFill>
                <a:schemeClr val="dk1"/>
              </a:solidFill>
              <a:latin typeface="Calibri"/>
              <a:ea typeface="Calibri"/>
              <a:cs typeface="Calibri"/>
              <a:sym typeface="Calibri"/>
            </a:endParaRPr>
          </a:p>
        </p:txBody>
      </p:sp>
      <p:sp>
        <p:nvSpPr>
          <p:cNvPr id="443" name="Google Shape;443;p14"/>
          <p:cNvSpPr/>
          <p:nvPr/>
        </p:nvSpPr>
        <p:spPr>
          <a:xfrm>
            <a:off x="5532120" y="3264460"/>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Responsible Consumption</a:t>
            </a:r>
            <a:endParaRPr sz="750">
              <a:solidFill>
                <a:schemeClr val="dk1"/>
              </a:solidFill>
              <a:latin typeface="Calibri"/>
              <a:ea typeface="Calibri"/>
              <a:cs typeface="Calibri"/>
              <a:sym typeface="Calibri"/>
            </a:endParaRPr>
          </a:p>
        </p:txBody>
      </p:sp>
      <p:sp>
        <p:nvSpPr>
          <p:cNvPr id="444" name="Google Shape;444;p14"/>
          <p:cNvSpPr/>
          <p:nvPr/>
        </p:nvSpPr>
        <p:spPr>
          <a:xfrm>
            <a:off x="457200" y="3867964"/>
            <a:ext cx="914400" cy="932700"/>
          </a:xfrm>
          <a:prstGeom prst="roundRect">
            <a:avLst>
              <a:gd name="adj" fmla="val 6000"/>
            </a:avLst>
          </a:prstGeom>
          <a:solidFill>
            <a:srgbClr val="3F7E44"/>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4"/>
          <p:cNvSpPr/>
          <p:nvPr/>
        </p:nvSpPr>
        <p:spPr>
          <a:xfrm>
            <a:off x="457200" y="3941116"/>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13</a:t>
            </a:r>
            <a:endParaRPr sz="1600">
              <a:solidFill>
                <a:schemeClr val="dk1"/>
              </a:solidFill>
              <a:latin typeface="Calibri"/>
              <a:ea typeface="Calibri"/>
              <a:cs typeface="Calibri"/>
              <a:sym typeface="Calibri"/>
            </a:endParaRPr>
          </a:p>
        </p:txBody>
      </p:sp>
      <p:sp>
        <p:nvSpPr>
          <p:cNvPr id="446" name="Google Shape;446;p14"/>
          <p:cNvSpPr/>
          <p:nvPr/>
        </p:nvSpPr>
        <p:spPr>
          <a:xfrm>
            <a:off x="502920" y="4288588"/>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Climate Action</a:t>
            </a:r>
            <a:endParaRPr sz="750">
              <a:solidFill>
                <a:schemeClr val="dk1"/>
              </a:solidFill>
              <a:latin typeface="Calibri"/>
              <a:ea typeface="Calibri"/>
              <a:cs typeface="Calibri"/>
              <a:sym typeface="Calibri"/>
            </a:endParaRPr>
          </a:p>
        </p:txBody>
      </p:sp>
      <p:sp>
        <p:nvSpPr>
          <p:cNvPr id="447" name="Google Shape;447;p14"/>
          <p:cNvSpPr/>
          <p:nvPr/>
        </p:nvSpPr>
        <p:spPr>
          <a:xfrm>
            <a:off x="1463040" y="3867964"/>
            <a:ext cx="914400" cy="932700"/>
          </a:xfrm>
          <a:prstGeom prst="roundRect">
            <a:avLst>
              <a:gd name="adj" fmla="val 6000"/>
            </a:avLst>
          </a:prstGeom>
          <a:solidFill>
            <a:srgbClr val="0A97D9"/>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4"/>
          <p:cNvSpPr/>
          <p:nvPr/>
        </p:nvSpPr>
        <p:spPr>
          <a:xfrm>
            <a:off x="1463040" y="3941116"/>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14</a:t>
            </a:r>
            <a:endParaRPr sz="1600">
              <a:solidFill>
                <a:schemeClr val="dk1"/>
              </a:solidFill>
              <a:latin typeface="Calibri"/>
              <a:ea typeface="Calibri"/>
              <a:cs typeface="Calibri"/>
              <a:sym typeface="Calibri"/>
            </a:endParaRPr>
          </a:p>
        </p:txBody>
      </p:sp>
      <p:sp>
        <p:nvSpPr>
          <p:cNvPr id="449" name="Google Shape;449;p14"/>
          <p:cNvSpPr/>
          <p:nvPr/>
        </p:nvSpPr>
        <p:spPr>
          <a:xfrm>
            <a:off x="1508760" y="4288588"/>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Life Below Water</a:t>
            </a:r>
            <a:endParaRPr sz="750">
              <a:solidFill>
                <a:schemeClr val="dk1"/>
              </a:solidFill>
              <a:latin typeface="Calibri"/>
              <a:ea typeface="Calibri"/>
              <a:cs typeface="Calibri"/>
              <a:sym typeface="Calibri"/>
            </a:endParaRPr>
          </a:p>
        </p:txBody>
      </p:sp>
      <p:sp>
        <p:nvSpPr>
          <p:cNvPr id="450" name="Google Shape;450;p14"/>
          <p:cNvSpPr/>
          <p:nvPr/>
        </p:nvSpPr>
        <p:spPr>
          <a:xfrm>
            <a:off x="2468880" y="3867964"/>
            <a:ext cx="914400" cy="932700"/>
          </a:xfrm>
          <a:prstGeom prst="roundRect">
            <a:avLst>
              <a:gd name="adj" fmla="val 6000"/>
            </a:avLst>
          </a:prstGeom>
          <a:solidFill>
            <a:srgbClr val="56C02B"/>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4"/>
          <p:cNvSpPr/>
          <p:nvPr/>
        </p:nvSpPr>
        <p:spPr>
          <a:xfrm>
            <a:off x="2468880" y="3941116"/>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15</a:t>
            </a:r>
            <a:endParaRPr sz="1600">
              <a:solidFill>
                <a:schemeClr val="dk1"/>
              </a:solidFill>
              <a:latin typeface="Calibri"/>
              <a:ea typeface="Calibri"/>
              <a:cs typeface="Calibri"/>
              <a:sym typeface="Calibri"/>
            </a:endParaRPr>
          </a:p>
        </p:txBody>
      </p:sp>
      <p:sp>
        <p:nvSpPr>
          <p:cNvPr id="452" name="Google Shape;452;p14"/>
          <p:cNvSpPr/>
          <p:nvPr/>
        </p:nvSpPr>
        <p:spPr>
          <a:xfrm>
            <a:off x="2514600" y="4288588"/>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Life on Land</a:t>
            </a:r>
            <a:endParaRPr sz="750">
              <a:solidFill>
                <a:schemeClr val="dk1"/>
              </a:solidFill>
              <a:latin typeface="Calibri"/>
              <a:ea typeface="Calibri"/>
              <a:cs typeface="Calibri"/>
              <a:sym typeface="Calibri"/>
            </a:endParaRPr>
          </a:p>
        </p:txBody>
      </p:sp>
      <p:sp>
        <p:nvSpPr>
          <p:cNvPr id="453" name="Google Shape;453;p14"/>
          <p:cNvSpPr/>
          <p:nvPr/>
        </p:nvSpPr>
        <p:spPr>
          <a:xfrm>
            <a:off x="3474720" y="3867964"/>
            <a:ext cx="914400" cy="932700"/>
          </a:xfrm>
          <a:prstGeom prst="roundRect">
            <a:avLst>
              <a:gd name="adj" fmla="val 6000"/>
            </a:avLst>
          </a:prstGeom>
          <a:solidFill>
            <a:srgbClr val="00689D"/>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4"/>
          <p:cNvSpPr/>
          <p:nvPr/>
        </p:nvSpPr>
        <p:spPr>
          <a:xfrm>
            <a:off x="3474720" y="3941116"/>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16</a:t>
            </a:r>
            <a:endParaRPr sz="1600">
              <a:solidFill>
                <a:schemeClr val="dk1"/>
              </a:solidFill>
              <a:latin typeface="Calibri"/>
              <a:ea typeface="Calibri"/>
              <a:cs typeface="Calibri"/>
              <a:sym typeface="Calibri"/>
            </a:endParaRPr>
          </a:p>
        </p:txBody>
      </p:sp>
      <p:sp>
        <p:nvSpPr>
          <p:cNvPr id="455" name="Google Shape;455;p14"/>
          <p:cNvSpPr/>
          <p:nvPr/>
        </p:nvSpPr>
        <p:spPr>
          <a:xfrm>
            <a:off x="3520440" y="4288588"/>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Peace &amp; Justice</a:t>
            </a:r>
            <a:endParaRPr sz="750">
              <a:solidFill>
                <a:schemeClr val="dk1"/>
              </a:solidFill>
              <a:latin typeface="Calibri"/>
              <a:ea typeface="Calibri"/>
              <a:cs typeface="Calibri"/>
              <a:sym typeface="Calibri"/>
            </a:endParaRPr>
          </a:p>
        </p:txBody>
      </p:sp>
      <p:sp>
        <p:nvSpPr>
          <p:cNvPr id="456" name="Google Shape;456;p14"/>
          <p:cNvSpPr/>
          <p:nvPr/>
        </p:nvSpPr>
        <p:spPr>
          <a:xfrm>
            <a:off x="4480560" y="3867964"/>
            <a:ext cx="914400" cy="932700"/>
          </a:xfrm>
          <a:prstGeom prst="roundRect">
            <a:avLst>
              <a:gd name="adj" fmla="val 6000"/>
            </a:avLst>
          </a:prstGeom>
          <a:solidFill>
            <a:srgbClr val="19486A"/>
          </a:solidFill>
          <a:ln>
            <a:noFill/>
          </a:ln>
          <a:effectLst>
            <a:outerShdw blurRad="63500" dist="25400" dir="5400000" algn="bl" rotWithShape="0">
              <a:srgbClr val="AAAAAA">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4"/>
          <p:cNvSpPr/>
          <p:nvPr/>
        </p:nvSpPr>
        <p:spPr>
          <a:xfrm>
            <a:off x="4480560" y="3941116"/>
            <a:ext cx="9144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a:solidFill>
                  <a:srgbClr val="FFFFFF"/>
                </a:solidFill>
                <a:latin typeface="Cambria"/>
                <a:ea typeface="Cambria"/>
                <a:cs typeface="Cambria"/>
                <a:sym typeface="Cambria"/>
              </a:rPr>
              <a:t>17</a:t>
            </a:r>
            <a:endParaRPr sz="1600">
              <a:solidFill>
                <a:schemeClr val="dk1"/>
              </a:solidFill>
              <a:latin typeface="Calibri"/>
              <a:ea typeface="Calibri"/>
              <a:cs typeface="Calibri"/>
              <a:sym typeface="Calibri"/>
            </a:endParaRPr>
          </a:p>
        </p:txBody>
      </p:sp>
      <p:sp>
        <p:nvSpPr>
          <p:cNvPr id="458" name="Google Shape;458;p14"/>
          <p:cNvSpPr/>
          <p:nvPr/>
        </p:nvSpPr>
        <p:spPr>
          <a:xfrm>
            <a:off x="4526280" y="4288588"/>
            <a:ext cx="8229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50"/>
              <a:buFont typeface="Calibri"/>
              <a:buNone/>
            </a:pPr>
            <a:r>
              <a:rPr lang="en-US" sz="750" b="1">
                <a:solidFill>
                  <a:srgbClr val="FFFFFF"/>
                </a:solidFill>
                <a:latin typeface="Calibri"/>
                <a:ea typeface="Calibri"/>
                <a:cs typeface="Calibri"/>
                <a:sym typeface="Calibri"/>
              </a:rPr>
              <a:t>Partnerships</a:t>
            </a:r>
            <a:endParaRPr sz="750">
              <a:solidFill>
                <a:schemeClr val="dk1"/>
              </a:solidFill>
              <a:latin typeface="Calibri"/>
              <a:ea typeface="Calibri"/>
              <a:cs typeface="Calibri"/>
              <a:sym typeface="Calibri"/>
            </a:endParaRPr>
          </a:p>
        </p:txBody>
      </p:sp>
      <p:sp>
        <p:nvSpPr>
          <p:cNvPr id="459" name="Google Shape;459;p14"/>
          <p:cNvSpPr/>
          <p:nvPr/>
        </p:nvSpPr>
        <p:spPr>
          <a:xfrm>
            <a:off x="6656832" y="1207008"/>
            <a:ext cx="51690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050"/>
              <a:buFont typeface="Calibri"/>
              <a:buNone/>
            </a:pPr>
            <a:endParaRPr sz="1050">
              <a:solidFill>
                <a:schemeClr val="dk1"/>
              </a:solidFill>
              <a:latin typeface="Calibri"/>
              <a:ea typeface="Calibri"/>
              <a:cs typeface="Calibri"/>
              <a:sym typeface="Calibri"/>
            </a:endParaRPr>
          </a:p>
        </p:txBody>
      </p:sp>
      <p:graphicFrame>
        <p:nvGraphicFramePr>
          <p:cNvPr id="460" name="Google Shape;460;p14"/>
          <p:cNvGraphicFramePr/>
          <p:nvPr/>
        </p:nvGraphicFramePr>
        <p:xfrm>
          <a:off x="6656832" y="1591056"/>
          <a:ext cx="5169100" cy="3566170"/>
        </p:xfrm>
        <a:graphic>
          <a:graphicData uri="http://schemas.openxmlformats.org/drawingml/2006/table">
            <a:tbl>
              <a:tblPr>
                <a:noFill/>
                <a:tableStyleId>{447C9BEA-6194-4350-8763-1165BE206493}</a:tableStyleId>
              </a:tblPr>
              <a:tblGrid>
                <a:gridCol w="7315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3340300">
                  <a:extLst>
                    <a:ext uri="{9D8B030D-6E8A-4147-A177-3AD203B41FA5}">
                      <a16:colId xmlns:a16="http://schemas.microsoft.com/office/drawing/2014/main" val="20002"/>
                    </a:ext>
                  </a:extLst>
                </a:gridCol>
              </a:tblGrid>
              <a:tr h="868675">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rPr>
                        <a:t>SDG No.</a:t>
                      </a:r>
                      <a:endParaRPr sz="10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rPr>
                        <a:t>SDG Name</a:t>
                      </a:r>
                      <a:endParaRPr sz="10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rPr>
                        <a:t>How This Project Contributes</a:t>
                      </a:r>
                      <a:endParaRPr sz="100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1F4A3A"/>
                    </a:solidFill>
                  </a:tcPr>
                </a:tc>
                <a:extLst>
                  <a:ext uri="{0D108BD9-81ED-4DB2-BD59-A6C34878D82A}">
                    <a16:rowId xmlns:a16="http://schemas.microsoft.com/office/drawing/2014/main" val="10000"/>
                  </a:ext>
                </a:extLst>
              </a:tr>
              <a:tr h="868675">
                <a:tc>
                  <a:txBody>
                    <a:bodyPr/>
                    <a:lstStyle/>
                    <a:p>
                      <a:pPr marL="0" marR="0" lvl="0" indent="0" algn="ctr" rtl="0">
                        <a:spcBef>
                          <a:spcPts val="0"/>
                        </a:spcBef>
                        <a:spcAft>
                          <a:spcPts val="0"/>
                        </a:spcAft>
                        <a:buClr>
                          <a:srgbClr val="1C2526"/>
                        </a:buClr>
                        <a:buSzPts val="950"/>
                        <a:buFont typeface="Calibri"/>
                        <a:buNone/>
                      </a:pPr>
                      <a:r>
                        <a:rPr lang="en-US" sz="950">
                          <a:solidFill>
                            <a:srgbClr val="1C2526"/>
                          </a:solidFill>
                        </a:rPr>
                        <a:t>SDG 4 </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950"/>
                        <a:buFont typeface="Calibri"/>
                        <a:buNone/>
                      </a:pPr>
                      <a:r>
                        <a:rPr lang="en-US" sz="950">
                          <a:solidFill>
                            <a:srgbClr val="1C2526"/>
                          </a:solidFill>
                        </a:rPr>
                        <a:t>Quality Education </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9AABA2"/>
                        </a:buClr>
                        <a:buSzPts val="900"/>
                        <a:buFont typeface="Calibri"/>
                        <a:buNone/>
                      </a:pPr>
                      <a:r>
                        <a:rPr lang="en-US" sz="900" i="1">
                          <a:solidFill>
                            <a:schemeClr val="dk1"/>
                          </a:solidFill>
                        </a:rPr>
                        <a:t>The proposed AI-powered placement intelligence platform helps educational institutions improve placement training by analyzing interview feedback, identifying student skill gaps, and providing personalized learning recommendations. This enables students to develop industry-relevant skills and become better prepared for employment opportunities. </a:t>
                      </a:r>
                      <a:endParaRPr sz="900" u="none" strike="noStrike" cap="none">
                        <a:solidFill>
                          <a:schemeClr val="dk1"/>
                        </a:solidFill>
                      </a:endParaRPr>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868675">
                <a:tc>
                  <a:txBody>
                    <a:bodyPr/>
                    <a:lstStyle/>
                    <a:p>
                      <a:pPr marL="0" marR="0" lvl="0" indent="0" algn="ctr" rtl="0">
                        <a:spcBef>
                          <a:spcPts val="0"/>
                        </a:spcBef>
                        <a:spcAft>
                          <a:spcPts val="0"/>
                        </a:spcAft>
                        <a:buClr>
                          <a:srgbClr val="1C2526"/>
                        </a:buClr>
                        <a:buSzPts val="950"/>
                        <a:buFont typeface="Calibri"/>
                        <a:buNone/>
                      </a:pPr>
                      <a:r>
                        <a:rPr lang="en-US" sz="950">
                          <a:solidFill>
                            <a:srgbClr val="1C2526"/>
                          </a:solidFill>
                        </a:rPr>
                        <a:t>SDG 8 </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tc>
                  <a:txBody>
                    <a:bodyPr/>
                    <a:lstStyle/>
                    <a:p>
                      <a:pPr marL="0" marR="0" lvl="0" indent="0" algn="l" rtl="0">
                        <a:spcBef>
                          <a:spcPts val="0"/>
                        </a:spcBef>
                        <a:spcAft>
                          <a:spcPts val="0"/>
                        </a:spcAft>
                        <a:buClr>
                          <a:srgbClr val="1C2526"/>
                        </a:buClr>
                        <a:buSzPts val="950"/>
                        <a:buFont typeface="Calibri"/>
                        <a:buNone/>
                      </a:pPr>
                      <a:r>
                        <a:rPr lang="en-US" sz="950">
                          <a:solidFill>
                            <a:srgbClr val="1C2526"/>
                          </a:solidFill>
                        </a:rPr>
                        <a:t>Decent Work and Economic Growth </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tc>
                  <a:txBody>
                    <a:bodyPr/>
                    <a:lstStyle/>
                    <a:p>
                      <a:pPr marL="0" marR="0" lvl="0" indent="0" algn="l" rtl="0">
                        <a:spcBef>
                          <a:spcPts val="0"/>
                        </a:spcBef>
                        <a:spcAft>
                          <a:spcPts val="0"/>
                        </a:spcAft>
                        <a:buClr>
                          <a:srgbClr val="9AABA2"/>
                        </a:buClr>
                        <a:buSzPts val="900"/>
                        <a:buFont typeface="Calibri"/>
                        <a:buNone/>
                      </a:pPr>
                      <a:r>
                        <a:rPr lang="en-US" sz="900" i="1">
                          <a:solidFill>
                            <a:schemeClr val="dk1"/>
                          </a:solidFill>
                        </a:rPr>
                        <a:t>The system enhances student employability by providing data-driven insights into interview performance, frequently asked topics, and company-specific recruitment trends. Better preparation increases placement success rates, supporting access to decent employment and contributing to economic growth. </a:t>
                      </a:r>
                      <a:endParaRPr sz="900" u="none" strike="noStrike" cap="none">
                        <a:solidFill>
                          <a:schemeClr val="dk1"/>
                        </a:solidFill>
                      </a:endParaRPr>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E8F5F0"/>
                    </a:solidFill>
                  </a:tcPr>
                </a:tc>
                <a:extLst>
                  <a:ext uri="{0D108BD9-81ED-4DB2-BD59-A6C34878D82A}">
                    <a16:rowId xmlns:a16="http://schemas.microsoft.com/office/drawing/2014/main" val="10002"/>
                  </a:ext>
                </a:extLst>
              </a:tr>
              <a:tr h="868675">
                <a:tc>
                  <a:txBody>
                    <a:bodyPr/>
                    <a:lstStyle/>
                    <a:p>
                      <a:pPr marL="0" marR="0" lvl="0" indent="0" algn="ctr" rtl="0">
                        <a:spcBef>
                          <a:spcPts val="0"/>
                        </a:spcBef>
                        <a:spcAft>
                          <a:spcPts val="0"/>
                        </a:spcAft>
                        <a:buClr>
                          <a:srgbClr val="1C2526"/>
                        </a:buClr>
                        <a:buSzPts val="950"/>
                        <a:buFont typeface="Calibri"/>
                        <a:buNone/>
                      </a:pPr>
                      <a:r>
                        <a:rPr lang="en-US" sz="950">
                          <a:solidFill>
                            <a:srgbClr val="1C2526"/>
                          </a:solidFill>
                        </a:rPr>
                        <a:t>SDG 9 </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C2526"/>
                        </a:buClr>
                        <a:buSzPts val="950"/>
                        <a:buFont typeface="Calibri"/>
                        <a:buNone/>
                      </a:pPr>
                      <a:r>
                        <a:rPr lang="en-US" sz="950">
                          <a:solidFill>
                            <a:srgbClr val="1C2526"/>
                          </a:solidFill>
                        </a:rPr>
                        <a:t>Industry, Innovation and Infrastructure </a:t>
                      </a:r>
                      <a:endParaRPr sz="950" u="none" strike="noStrike" cap="none"/>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9AABA2"/>
                        </a:buClr>
                        <a:buSzPts val="900"/>
                        <a:buFont typeface="Calibri"/>
                        <a:buNone/>
                      </a:pPr>
                      <a:r>
                        <a:rPr lang="en-US" sz="900" i="1">
                          <a:solidFill>
                            <a:schemeClr val="dk1"/>
                          </a:solidFill>
                        </a:rPr>
                        <a:t>The project leverages Artificial Intelligence, Machine Learning, Natural Language Processing, and Business Intelligence tools to transform placement feedback into actionable insights. This innovative digital platform promotes data-driven decision-making and modernizes campus placement management. </a:t>
                      </a:r>
                      <a:endParaRPr sz="900" u="none" strike="noStrike" cap="none">
                        <a:solidFill>
                          <a:schemeClr val="dk1"/>
                        </a:solidFill>
                      </a:endParaRPr>
                    </a:p>
                  </a:txBody>
                  <a:tcPr marL="91450" marR="91450" marT="45725" marB="45725" anchor="ctr">
                    <a:lnL w="9525" cap="flat" cmpd="sng">
                      <a:solidFill>
                        <a:srgbClr val="D4E2DC"/>
                      </a:solidFill>
                      <a:prstDash val="solid"/>
                      <a:round/>
                      <a:headEnd type="none" w="sm" len="sm"/>
                      <a:tailEnd type="none" w="sm" len="sm"/>
                    </a:lnL>
                    <a:lnR w="9525" cap="flat" cmpd="sng">
                      <a:solidFill>
                        <a:srgbClr val="D4E2DC"/>
                      </a:solidFill>
                      <a:prstDash val="solid"/>
                      <a:round/>
                      <a:headEnd type="none" w="sm" len="sm"/>
                      <a:tailEnd type="none" w="sm" len="sm"/>
                    </a:lnR>
                    <a:lnT w="9525" cap="flat" cmpd="sng">
                      <a:solidFill>
                        <a:srgbClr val="D4E2DC"/>
                      </a:solidFill>
                      <a:prstDash val="solid"/>
                      <a:round/>
                      <a:headEnd type="none" w="sm" len="sm"/>
                      <a:tailEnd type="none" w="sm" len="sm"/>
                    </a:lnT>
                    <a:lnB w="9525" cap="flat" cmpd="sng">
                      <a:solidFill>
                        <a:srgbClr val="D4E2DC"/>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5"/>
        <p:cNvGrpSpPr/>
        <p:nvPr/>
      </p:nvGrpSpPr>
      <p:grpSpPr>
        <a:xfrm>
          <a:off x="0" y="0"/>
          <a:ext cx="0" cy="0"/>
          <a:chOff x="0" y="0"/>
          <a:chExt cx="0" cy="0"/>
        </a:xfrm>
      </p:grpSpPr>
      <p:sp>
        <p:nvSpPr>
          <p:cNvPr id="466" name="Google Shape;466;p15"/>
          <p:cNvSpPr/>
          <p:nvPr/>
        </p:nvSpPr>
        <p:spPr>
          <a:xfrm>
            <a:off x="0" y="0"/>
            <a:ext cx="12191695" cy="164592"/>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5"/>
          <p:cNvSpPr/>
          <p:nvPr/>
        </p:nvSpPr>
        <p:spPr>
          <a:xfrm>
            <a:off x="502920" y="237744"/>
            <a:ext cx="1097280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A3A"/>
              </a:buClr>
              <a:buSzPts val="2800"/>
              <a:buFont typeface="Cambria"/>
              <a:buNone/>
            </a:pPr>
            <a:r>
              <a:rPr lang="en-US" sz="2800" b="1">
                <a:solidFill>
                  <a:srgbClr val="1F4A3A"/>
                </a:solidFill>
                <a:latin typeface="Cambria"/>
                <a:ea typeface="Cambria"/>
                <a:cs typeface="Cambria"/>
                <a:sym typeface="Cambria"/>
              </a:rPr>
              <a:t>GANTT CHART</a:t>
            </a:r>
            <a:endParaRPr sz="2800">
              <a:solidFill>
                <a:schemeClr val="dk1"/>
              </a:solidFill>
              <a:latin typeface="Calibri"/>
              <a:ea typeface="Calibri"/>
              <a:cs typeface="Calibri"/>
              <a:sym typeface="Calibri"/>
            </a:endParaRPr>
          </a:p>
        </p:txBody>
      </p:sp>
      <p:sp>
        <p:nvSpPr>
          <p:cNvPr id="468" name="Google Shape;468;p15"/>
          <p:cNvSpPr/>
          <p:nvPr/>
        </p:nvSpPr>
        <p:spPr>
          <a:xfrm>
            <a:off x="502920" y="859536"/>
            <a:ext cx="9144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1100"/>
              <a:buFont typeface="Calibri"/>
              <a:buNone/>
            </a:pPr>
            <a:endParaRPr sz="1100">
              <a:solidFill>
                <a:schemeClr val="dk1"/>
              </a:solidFill>
              <a:latin typeface="Calibri"/>
              <a:ea typeface="Calibri"/>
              <a:cs typeface="Calibri"/>
              <a:sym typeface="Calibri"/>
            </a:endParaRPr>
          </a:p>
        </p:txBody>
      </p:sp>
      <p:cxnSp>
        <p:nvCxnSpPr>
          <p:cNvPr id="469" name="Google Shape;469;p15"/>
          <p:cNvCxnSpPr/>
          <p:nvPr/>
        </p:nvCxnSpPr>
        <p:spPr>
          <a:xfrm>
            <a:off x="502920" y="1024128"/>
            <a:ext cx="11185855" cy="0"/>
          </a:xfrm>
          <a:prstGeom prst="straightConnector1">
            <a:avLst/>
          </a:prstGeom>
          <a:noFill/>
          <a:ln w="15225" cap="flat" cmpd="sng">
            <a:solidFill>
              <a:srgbClr val="C9A841"/>
            </a:solidFill>
            <a:prstDash val="solid"/>
            <a:round/>
            <a:headEnd type="none" w="sm" len="sm"/>
            <a:tailEnd type="none" w="sm" len="sm"/>
          </a:ln>
        </p:spPr>
      </p:cxnSp>
      <p:cxnSp>
        <p:nvCxnSpPr>
          <p:cNvPr id="470" name="Google Shape;470;p15"/>
          <p:cNvCxnSpPr/>
          <p:nvPr/>
        </p:nvCxnSpPr>
        <p:spPr>
          <a:xfrm>
            <a:off x="457200" y="6400800"/>
            <a:ext cx="11277295" cy="0"/>
          </a:xfrm>
          <a:prstGeom prst="straightConnector1">
            <a:avLst/>
          </a:prstGeom>
          <a:noFill/>
          <a:ln w="9525" cap="flat" cmpd="sng">
            <a:solidFill>
              <a:srgbClr val="D4E2DC"/>
            </a:solidFill>
            <a:prstDash val="solid"/>
            <a:round/>
            <a:headEnd type="none" w="sm" len="sm"/>
            <a:tailEnd type="none" w="sm" len="sm"/>
          </a:ln>
        </p:spPr>
      </p:cxnSp>
      <p:sp>
        <p:nvSpPr>
          <p:cNvPr id="471" name="Google Shape;471;p15"/>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472" name="Google Shape;472;p15"/>
          <p:cNvSpPr/>
          <p:nvPr/>
        </p:nvSpPr>
        <p:spPr>
          <a:xfrm>
            <a:off x="3474720" y="6455664"/>
            <a:ext cx="5239512" cy="27432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a:p>
            <a:pPr marL="0" marR="0" lvl="0" indent="0" algn="ctr" rtl="0">
              <a:spcBef>
                <a:spcPts val="0"/>
              </a:spcBef>
              <a:spcAft>
                <a:spcPts val="0"/>
              </a:spcAft>
              <a:buClr>
                <a:srgbClr val="6B7B73"/>
              </a:buClr>
              <a:buSzPts val="900"/>
              <a:buFont typeface="Calibri"/>
              <a:buNone/>
            </a:pPr>
            <a:endParaRPr sz="900" i="1">
              <a:solidFill>
                <a:srgbClr val="6B7B73"/>
              </a:solidFill>
              <a:latin typeface="Calibri"/>
              <a:ea typeface="Calibri"/>
              <a:cs typeface="Calibri"/>
              <a:sym typeface="Calibri"/>
            </a:endParaRPr>
          </a:p>
        </p:txBody>
      </p:sp>
      <p:sp>
        <p:nvSpPr>
          <p:cNvPr id="473" name="Google Shape;473;p15"/>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13</a:t>
            </a:r>
            <a:endParaRPr sz="900">
              <a:solidFill>
                <a:schemeClr val="dk1"/>
              </a:solidFill>
              <a:latin typeface="Calibri"/>
              <a:ea typeface="Calibri"/>
              <a:cs typeface="Calibri"/>
              <a:sym typeface="Calibri"/>
            </a:endParaRPr>
          </a:p>
        </p:txBody>
      </p:sp>
      <p:sp>
        <p:nvSpPr>
          <p:cNvPr id="474" name="Google Shape;474;p15"/>
          <p:cNvSpPr/>
          <p:nvPr/>
        </p:nvSpPr>
        <p:spPr>
          <a:xfrm>
            <a:off x="3474720" y="768096"/>
            <a:ext cx="2743200" cy="256032"/>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5"/>
          <p:cNvSpPr/>
          <p:nvPr/>
        </p:nvSpPr>
        <p:spPr>
          <a:xfrm>
            <a:off x="3474720" y="768096"/>
            <a:ext cx="274320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JULY 2026</a:t>
            </a:r>
            <a:endParaRPr sz="900">
              <a:solidFill>
                <a:schemeClr val="dk1"/>
              </a:solidFill>
              <a:latin typeface="Calibri"/>
              <a:ea typeface="Calibri"/>
              <a:cs typeface="Calibri"/>
              <a:sym typeface="Calibri"/>
            </a:endParaRPr>
          </a:p>
        </p:txBody>
      </p:sp>
      <p:sp>
        <p:nvSpPr>
          <p:cNvPr id="476" name="Google Shape;476;p15"/>
          <p:cNvSpPr/>
          <p:nvPr/>
        </p:nvSpPr>
        <p:spPr>
          <a:xfrm>
            <a:off x="6217920" y="768096"/>
            <a:ext cx="2743200" cy="256032"/>
          </a:xfrm>
          <a:prstGeom prst="rect">
            <a:avLst/>
          </a:prstGeom>
          <a:solidFill>
            <a:srgbClr val="285B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5"/>
          <p:cNvSpPr/>
          <p:nvPr/>
        </p:nvSpPr>
        <p:spPr>
          <a:xfrm>
            <a:off x="6217920" y="768096"/>
            <a:ext cx="274320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AUGUST 2026</a:t>
            </a:r>
            <a:endParaRPr sz="900">
              <a:solidFill>
                <a:schemeClr val="dk1"/>
              </a:solidFill>
              <a:latin typeface="Calibri"/>
              <a:ea typeface="Calibri"/>
              <a:cs typeface="Calibri"/>
              <a:sym typeface="Calibri"/>
            </a:endParaRPr>
          </a:p>
        </p:txBody>
      </p:sp>
      <p:sp>
        <p:nvSpPr>
          <p:cNvPr id="478" name="Google Shape;478;p15"/>
          <p:cNvSpPr/>
          <p:nvPr/>
        </p:nvSpPr>
        <p:spPr>
          <a:xfrm>
            <a:off x="8961120" y="768096"/>
            <a:ext cx="2743200" cy="256032"/>
          </a:xfrm>
          <a:prstGeom prst="rect">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5"/>
          <p:cNvSpPr/>
          <p:nvPr/>
        </p:nvSpPr>
        <p:spPr>
          <a:xfrm>
            <a:off x="8961120" y="768096"/>
            <a:ext cx="274320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a:solidFill>
                  <a:srgbClr val="FFFFFF"/>
                </a:solidFill>
                <a:latin typeface="Calibri"/>
                <a:ea typeface="Calibri"/>
                <a:cs typeface="Calibri"/>
                <a:sym typeface="Calibri"/>
              </a:rPr>
              <a:t>SEPTEMBER 2026</a:t>
            </a:r>
            <a:endParaRPr sz="900">
              <a:solidFill>
                <a:schemeClr val="dk1"/>
              </a:solidFill>
              <a:latin typeface="Calibri"/>
              <a:ea typeface="Calibri"/>
              <a:cs typeface="Calibri"/>
              <a:sym typeface="Calibri"/>
            </a:endParaRPr>
          </a:p>
        </p:txBody>
      </p:sp>
      <p:sp>
        <p:nvSpPr>
          <p:cNvPr id="480" name="Google Shape;480;p15"/>
          <p:cNvSpPr/>
          <p:nvPr/>
        </p:nvSpPr>
        <p:spPr>
          <a:xfrm>
            <a:off x="34747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Jul W1</a:t>
            </a:r>
            <a:endParaRPr sz="800">
              <a:solidFill>
                <a:schemeClr val="dk1"/>
              </a:solidFill>
              <a:latin typeface="Calibri"/>
              <a:ea typeface="Calibri"/>
              <a:cs typeface="Calibri"/>
              <a:sym typeface="Calibri"/>
            </a:endParaRPr>
          </a:p>
        </p:txBody>
      </p:sp>
      <p:sp>
        <p:nvSpPr>
          <p:cNvPr id="481" name="Google Shape;481;p15"/>
          <p:cNvSpPr/>
          <p:nvPr/>
        </p:nvSpPr>
        <p:spPr>
          <a:xfrm>
            <a:off x="41605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Jul W2</a:t>
            </a:r>
            <a:endParaRPr sz="800">
              <a:solidFill>
                <a:schemeClr val="dk1"/>
              </a:solidFill>
              <a:latin typeface="Calibri"/>
              <a:ea typeface="Calibri"/>
              <a:cs typeface="Calibri"/>
              <a:sym typeface="Calibri"/>
            </a:endParaRPr>
          </a:p>
        </p:txBody>
      </p:sp>
      <p:sp>
        <p:nvSpPr>
          <p:cNvPr id="482" name="Google Shape;482;p15"/>
          <p:cNvSpPr/>
          <p:nvPr/>
        </p:nvSpPr>
        <p:spPr>
          <a:xfrm>
            <a:off x="48463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Jul W3</a:t>
            </a:r>
            <a:endParaRPr sz="800">
              <a:solidFill>
                <a:schemeClr val="dk1"/>
              </a:solidFill>
              <a:latin typeface="Calibri"/>
              <a:ea typeface="Calibri"/>
              <a:cs typeface="Calibri"/>
              <a:sym typeface="Calibri"/>
            </a:endParaRPr>
          </a:p>
        </p:txBody>
      </p:sp>
      <p:sp>
        <p:nvSpPr>
          <p:cNvPr id="483" name="Google Shape;483;p15"/>
          <p:cNvSpPr/>
          <p:nvPr/>
        </p:nvSpPr>
        <p:spPr>
          <a:xfrm>
            <a:off x="55321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Jul W4</a:t>
            </a:r>
            <a:endParaRPr sz="800">
              <a:solidFill>
                <a:schemeClr val="dk1"/>
              </a:solidFill>
              <a:latin typeface="Calibri"/>
              <a:ea typeface="Calibri"/>
              <a:cs typeface="Calibri"/>
              <a:sym typeface="Calibri"/>
            </a:endParaRPr>
          </a:p>
        </p:txBody>
      </p:sp>
      <p:sp>
        <p:nvSpPr>
          <p:cNvPr id="484" name="Google Shape;484;p15"/>
          <p:cNvSpPr/>
          <p:nvPr/>
        </p:nvSpPr>
        <p:spPr>
          <a:xfrm>
            <a:off x="62179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Aug W1</a:t>
            </a:r>
            <a:endParaRPr sz="800">
              <a:solidFill>
                <a:schemeClr val="dk1"/>
              </a:solidFill>
              <a:latin typeface="Calibri"/>
              <a:ea typeface="Calibri"/>
              <a:cs typeface="Calibri"/>
              <a:sym typeface="Calibri"/>
            </a:endParaRPr>
          </a:p>
        </p:txBody>
      </p:sp>
      <p:sp>
        <p:nvSpPr>
          <p:cNvPr id="485" name="Google Shape;485;p15"/>
          <p:cNvSpPr/>
          <p:nvPr/>
        </p:nvSpPr>
        <p:spPr>
          <a:xfrm>
            <a:off x="69037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Aug W2</a:t>
            </a:r>
            <a:endParaRPr sz="800">
              <a:solidFill>
                <a:schemeClr val="dk1"/>
              </a:solidFill>
              <a:latin typeface="Calibri"/>
              <a:ea typeface="Calibri"/>
              <a:cs typeface="Calibri"/>
              <a:sym typeface="Calibri"/>
            </a:endParaRPr>
          </a:p>
        </p:txBody>
      </p:sp>
      <p:sp>
        <p:nvSpPr>
          <p:cNvPr id="486" name="Google Shape;486;p15"/>
          <p:cNvSpPr/>
          <p:nvPr/>
        </p:nvSpPr>
        <p:spPr>
          <a:xfrm>
            <a:off x="75895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Aug W3</a:t>
            </a:r>
            <a:endParaRPr sz="800">
              <a:solidFill>
                <a:schemeClr val="dk1"/>
              </a:solidFill>
              <a:latin typeface="Calibri"/>
              <a:ea typeface="Calibri"/>
              <a:cs typeface="Calibri"/>
              <a:sym typeface="Calibri"/>
            </a:endParaRPr>
          </a:p>
        </p:txBody>
      </p:sp>
      <p:sp>
        <p:nvSpPr>
          <p:cNvPr id="487" name="Google Shape;487;p15"/>
          <p:cNvSpPr/>
          <p:nvPr/>
        </p:nvSpPr>
        <p:spPr>
          <a:xfrm>
            <a:off x="82753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Aug W4</a:t>
            </a:r>
            <a:endParaRPr sz="800">
              <a:solidFill>
                <a:schemeClr val="dk1"/>
              </a:solidFill>
              <a:latin typeface="Calibri"/>
              <a:ea typeface="Calibri"/>
              <a:cs typeface="Calibri"/>
              <a:sym typeface="Calibri"/>
            </a:endParaRPr>
          </a:p>
        </p:txBody>
      </p:sp>
      <p:sp>
        <p:nvSpPr>
          <p:cNvPr id="488" name="Google Shape;488;p15"/>
          <p:cNvSpPr/>
          <p:nvPr/>
        </p:nvSpPr>
        <p:spPr>
          <a:xfrm>
            <a:off x="89611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Sep W1</a:t>
            </a:r>
            <a:endParaRPr sz="800">
              <a:solidFill>
                <a:schemeClr val="dk1"/>
              </a:solidFill>
              <a:latin typeface="Calibri"/>
              <a:ea typeface="Calibri"/>
              <a:cs typeface="Calibri"/>
              <a:sym typeface="Calibri"/>
            </a:endParaRPr>
          </a:p>
        </p:txBody>
      </p:sp>
      <p:sp>
        <p:nvSpPr>
          <p:cNvPr id="489" name="Google Shape;489;p15"/>
          <p:cNvSpPr/>
          <p:nvPr/>
        </p:nvSpPr>
        <p:spPr>
          <a:xfrm>
            <a:off x="96469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Sep W2</a:t>
            </a:r>
            <a:endParaRPr sz="800">
              <a:solidFill>
                <a:schemeClr val="dk1"/>
              </a:solidFill>
              <a:latin typeface="Calibri"/>
              <a:ea typeface="Calibri"/>
              <a:cs typeface="Calibri"/>
              <a:sym typeface="Calibri"/>
            </a:endParaRPr>
          </a:p>
        </p:txBody>
      </p:sp>
      <p:sp>
        <p:nvSpPr>
          <p:cNvPr id="490" name="Google Shape;490;p15"/>
          <p:cNvSpPr/>
          <p:nvPr/>
        </p:nvSpPr>
        <p:spPr>
          <a:xfrm>
            <a:off x="103327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Sep W3</a:t>
            </a:r>
            <a:endParaRPr sz="800">
              <a:solidFill>
                <a:schemeClr val="dk1"/>
              </a:solidFill>
              <a:latin typeface="Calibri"/>
              <a:ea typeface="Calibri"/>
              <a:cs typeface="Calibri"/>
              <a:sym typeface="Calibri"/>
            </a:endParaRPr>
          </a:p>
        </p:txBody>
      </p:sp>
      <p:sp>
        <p:nvSpPr>
          <p:cNvPr id="491" name="Google Shape;491;p15"/>
          <p:cNvSpPr/>
          <p:nvPr/>
        </p:nvSpPr>
        <p:spPr>
          <a:xfrm>
            <a:off x="11018520" y="1042416"/>
            <a:ext cx="68580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800"/>
              <a:buFont typeface="Calibri"/>
              <a:buNone/>
            </a:pPr>
            <a:r>
              <a:rPr lang="en-US" sz="800" b="1">
                <a:solidFill>
                  <a:srgbClr val="6B7B73"/>
                </a:solidFill>
                <a:latin typeface="Calibri"/>
                <a:ea typeface="Calibri"/>
                <a:cs typeface="Calibri"/>
                <a:sym typeface="Calibri"/>
              </a:rPr>
              <a:t>Sep W4</a:t>
            </a:r>
            <a:endParaRPr sz="800">
              <a:solidFill>
                <a:schemeClr val="dk1"/>
              </a:solidFill>
              <a:latin typeface="Calibri"/>
              <a:ea typeface="Calibri"/>
              <a:cs typeface="Calibri"/>
              <a:sym typeface="Calibri"/>
            </a:endParaRPr>
          </a:p>
        </p:txBody>
      </p:sp>
      <p:sp>
        <p:nvSpPr>
          <p:cNvPr id="492" name="Google Shape;492;p15"/>
          <p:cNvSpPr/>
          <p:nvPr/>
        </p:nvSpPr>
        <p:spPr>
          <a:xfrm>
            <a:off x="457200" y="1280160"/>
            <a:ext cx="2907792"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900"/>
              <a:buFont typeface="Calibri"/>
              <a:buNone/>
            </a:pPr>
            <a:r>
              <a:rPr lang="en-US" sz="900">
                <a:solidFill>
                  <a:srgbClr val="1C2526"/>
                </a:solidFill>
                <a:latin typeface="Calibri"/>
                <a:ea typeface="Calibri"/>
                <a:cs typeface="Calibri"/>
                <a:sym typeface="Calibri"/>
              </a:rPr>
              <a:t>Literature Survey &amp; Problem Finalization</a:t>
            </a:r>
            <a:endParaRPr sz="900">
              <a:solidFill>
                <a:schemeClr val="dk1"/>
              </a:solidFill>
              <a:latin typeface="Calibri"/>
              <a:ea typeface="Calibri"/>
              <a:cs typeface="Calibri"/>
              <a:sym typeface="Calibri"/>
            </a:endParaRPr>
          </a:p>
        </p:txBody>
      </p:sp>
      <p:sp>
        <p:nvSpPr>
          <p:cNvPr id="493" name="Google Shape;493;p15"/>
          <p:cNvSpPr/>
          <p:nvPr/>
        </p:nvSpPr>
        <p:spPr>
          <a:xfrm>
            <a:off x="3474720" y="1280160"/>
            <a:ext cx="8229600" cy="425196"/>
          </a:xfrm>
          <a:prstGeom prst="rect">
            <a:avLst/>
          </a:prstGeom>
          <a:solidFill>
            <a:srgbClr val="E8F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4" name="Google Shape;494;p15"/>
          <p:cNvCxnSpPr/>
          <p:nvPr/>
        </p:nvCxnSpPr>
        <p:spPr>
          <a:xfrm>
            <a:off x="34747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495" name="Google Shape;495;p15"/>
          <p:cNvCxnSpPr/>
          <p:nvPr/>
        </p:nvCxnSpPr>
        <p:spPr>
          <a:xfrm>
            <a:off x="41605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496" name="Google Shape;496;p15"/>
          <p:cNvCxnSpPr/>
          <p:nvPr/>
        </p:nvCxnSpPr>
        <p:spPr>
          <a:xfrm>
            <a:off x="48463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497" name="Google Shape;497;p15"/>
          <p:cNvCxnSpPr/>
          <p:nvPr/>
        </p:nvCxnSpPr>
        <p:spPr>
          <a:xfrm>
            <a:off x="55321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498" name="Google Shape;498;p15"/>
          <p:cNvCxnSpPr/>
          <p:nvPr/>
        </p:nvCxnSpPr>
        <p:spPr>
          <a:xfrm>
            <a:off x="62179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499" name="Google Shape;499;p15"/>
          <p:cNvCxnSpPr/>
          <p:nvPr/>
        </p:nvCxnSpPr>
        <p:spPr>
          <a:xfrm>
            <a:off x="69037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500" name="Google Shape;500;p15"/>
          <p:cNvCxnSpPr/>
          <p:nvPr/>
        </p:nvCxnSpPr>
        <p:spPr>
          <a:xfrm>
            <a:off x="75895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501" name="Google Shape;501;p15"/>
          <p:cNvCxnSpPr/>
          <p:nvPr/>
        </p:nvCxnSpPr>
        <p:spPr>
          <a:xfrm>
            <a:off x="82753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502" name="Google Shape;502;p15"/>
          <p:cNvCxnSpPr/>
          <p:nvPr/>
        </p:nvCxnSpPr>
        <p:spPr>
          <a:xfrm>
            <a:off x="89611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503" name="Google Shape;503;p15"/>
          <p:cNvCxnSpPr/>
          <p:nvPr/>
        </p:nvCxnSpPr>
        <p:spPr>
          <a:xfrm>
            <a:off x="96469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504" name="Google Shape;504;p15"/>
          <p:cNvCxnSpPr/>
          <p:nvPr/>
        </p:nvCxnSpPr>
        <p:spPr>
          <a:xfrm>
            <a:off x="10332720" y="1280160"/>
            <a:ext cx="0" cy="425196"/>
          </a:xfrm>
          <a:prstGeom prst="straightConnector1">
            <a:avLst/>
          </a:prstGeom>
          <a:noFill/>
          <a:ln w="9525" cap="flat" cmpd="sng">
            <a:solidFill>
              <a:srgbClr val="D4E2DC"/>
            </a:solidFill>
            <a:prstDash val="solid"/>
            <a:round/>
            <a:headEnd type="none" w="sm" len="sm"/>
            <a:tailEnd type="none" w="sm" len="sm"/>
          </a:ln>
        </p:spPr>
      </p:cxnSp>
      <p:cxnSp>
        <p:nvCxnSpPr>
          <p:cNvPr id="505" name="Google Shape;505;p15"/>
          <p:cNvCxnSpPr/>
          <p:nvPr/>
        </p:nvCxnSpPr>
        <p:spPr>
          <a:xfrm>
            <a:off x="11018520" y="1280160"/>
            <a:ext cx="0" cy="425196"/>
          </a:xfrm>
          <a:prstGeom prst="straightConnector1">
            <a:avLst/>
          </a:prstGeom>
          <a:noFill/>
          <a:ln w="9525" cap="flat" cmpd="sng">
            <a:solidFill>
              <a:srgbClr val="D4E2DC"/>
            </a:solidFill>
            <a:prstDash val="solid"/>
            <a:round/>
            <a:headEnd type="none" w="sm" len="sm"/>
            <a:tailEnd type="none" w="sm" len="sm"/>
          </a:ln>
        </p:spPr>
      </p:cxnSp>
      <p:sp>
        <p:nvSpPr>
          <p:cNvPr id="506" name="Google Shape;506;p15"/>
          <p:cNvSpPr/>
          <p:nvPr/>
        </p:nvSpPr>
        <p:spPr>
          <a:xfrm>
            <a:off x="3502152" y="1353312"/>
            <a:ext cx="1316736" cy="278892"/>
          </a:xfrm>
          <a:prstGeom prst="roundRect">
            <a:avLst>
              <a:gd name="adj" fmla="val 11475"/>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5"/>
          <p:cNvSpPr/>
          <p:nvPr/>
        </p:nvSpPr>
        <p:spPr>
          <a:xfrm>
            <a:off x="457200" y="1705356"/>
            <a:ext cx="2907792"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900"/>
              <a:buFont typeface="Calibri"/>
              <a:buNone/>
            </a:pPr>
            <a:r>
              <a:rPr lang="en-US" sz="900">
                <a:solidFill>
                  <a:srgbClr val="1C2526"/>
                </a:solidFill>
                <a:latin typeface="Calibri"/>
                <a:ea typeface="Calibri"/>
                <a:cs typeface="Calibri"/>
                <a:sym typeface="Calibri"/>
              </a:rPr>
              <a:t>Base Paper Study &amp; Analysis</a:t>
            </a:r>
            <a:endParaRPr sz="900">
              <a:solidFill>
                <a:schemeClr val="dk1"/>
              </a:solidFill>
              <a:latin typeface="Calibri"/>
              <a:ea typeface="Calibri"/>
              <a:cs typeface="Calibri"/>
              <a:sym typeface="Calibri"/>
            </a:endParaRPr>
          </a:p>
        </p:txBody>
      </p:sp>
      <p:sp>
        <p:nvSpPr>
          <p:cNvPr id="508" name="Google Shape;508;p15"/>
          <p:cNvSpPr/>
          <p:nvPr/>
        </p:nvSpPr>
        <p:spPr>
          <a:xfrm>
            <a:off x="3474720" y="1705356"/>
            <a:ext cx="8229600" cy="425196"/>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9" name="Google Shape;509;p15"/>
          <p:cNvCxnSpPr/>
          <p:nvPr/>
        </p:nvCxnSpPr>
        <p:spPr>
          <a:xfrm>
            <a:off x="34747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10" name="Google Shape;510;p15"/>
          <p:cNvCxnSpPr/>
          <p:nvPr/>
        </p:nvCxnSpPr>
        <p:spPr>
          <a:xfrm>
            <a:off x="41605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11" name="Google Shape;511;p15"/>
          <p:cNvCxnSpPr/>
          <p:nvPr/>
        </p:nvCxnSpPr>
        <p:spPr>
          <a:xfrm>
            <a:off x="48463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12" name="Google Shape;512;p15"/>
          <p:cNvCxnSpPr/>
          <p:nvPr/>
        </p:nvCxnSpPr>
        <p:spPr>
          <a:xfrm>
            <a:off x="55321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13" name="Google Shape;513;p15"/>
          <p:cNvCxnSpPr/>
          <p:nvPr/>
        </p:nvCxnSpPr>
        <p:spPr>
          <a:xfrm>
            <a:off x="62179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14" name="Google Shape;514;p15"/>
          <p:cNvCxnSpPr/>
          <p:nvPr/>
        </p:nvCxnSpPr>
        <p:spPr>
          <a:xfrm>
            <a:off x="69037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15" name="Google Shape;515;p15"/>
          <p:cNvCxnSpPr/>
          <p:nvPr/>
        </p:nvCxnSpPr>
        <p:spPr>
          <a:xfrm>
            <a:off x="75895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16" name="Google Shape;516;p15"/>
          <p:cNvCxnSpPr/>
          <p:nvPr/>
        </p:nvCxnSpPr>
        <p:spPr>
          <a:xfrm>
            <a:off x="82753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17" name="Google Shape;517;p15"/>
          <p:cNvCxnSpPr/>
          <p:nvPr/>
        </p:nvCxnSpPr>
        <p:spPr>
          <a:xfrm>
            <a:off x="89611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18" name="Google Shape;518;p15"/>
          <p:cNvCxnSpPr/>
          <p:nvPr/>
        </p:nvCxnSpPr>
        <p:spPr>
          <a:xfrm>
            <a:off x="96469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19" name="Google Shape;519;p15"/>
          <p:cNvCxnSpPr/>
          <p:nvPr/>
        </p:nvCxnSpPr>
        <p:spPr>
          <a:xfrm>
            <a:off x="10332720" y="1705356"/>
            <a:ext cx="0" cy="425196"/>
          </a:xfrm>
          <a:prstGeom prst="straightConnector1">
            <a:avLst/>
          </a:prstGeom>
          <a:noFill/>
          <a:ln w="9525" cap="flat" cmpd="sng">
            <a:solidFill>
              <a:srgbClr val="D4E2DC"/>
            </a:solidFill>
            <a:prstDash val="solid"/>
            <a:round/>
            <a:headEnd type="none" w="sm" len="sm"/>
            <a:tailEnd type="none" w="sm" len="sm"/>
          </a:ln>
        </p:spPr>
      </p:cxnSp>
      <p:cxnSp>
        <p:nvCxnSpPr>
          <p:cNvPr id="520" name="Google Shape;520;p15"/>
          <p:cNvCxnSpPr/>
          <p:nvPr/>
        </p:nvCxnSpPr>
        <p:spPr>
          <a:xfrm>
            <a:off x="11018520" y="1705356"/>
            <a:ext cx="0" cy="425196"/>
          </a:xfrm>
          <a:prstGeom prst="straightConnector1">
            <a:avLst/>
          </a:prstGeom>
          <a:noFill/>
          <a:ln w="9525" cap="flat" cmpd="sng">
            <a:solidFill>
              <a:srgbClr val="D4E2DC"/>
            </a:solidFill>
            <a:prstDash val="solid"/>
            <a:round/>
            <a:headEnd type="none" w="sm" len="sm"/>
            <a:tailEnd type="none" w="sm" len="sm"/>
          </a:ln>
        </p:spPr>
      </p:cxnSp>
      <p:sp>
        <p:nvSpPr>
          <p:cNvPr id="521" name="Google Shape;521;p15"/>
          <p:cNvSpPr/>
          <p:nvPr/>
        </p:nvSpPr>
        <p:spPr>
          <a:xfrm>
            <a:off x="3502152" y="1778508"/>
            <a:ext cx="2002536" cy="278892"/>
          </a:xfrm>
          <a:prstGeom prst="roundRect">
            <a:avLst>
              <a:gd name="adj" fmla="val 11475"/>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5"/>
          <p:cNvSpPr/>
          <p:nvPr/>
        </p:nvSpPr>
        <p:spPr>
          <a:xfrm>
            <a:off x="457200" y="2130552"/>
            <a:ext cx="2907792"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900"/>
              <a:buFont typeface="Calibri"/>
              <a:buNone/>
            </a:pPr>
            <a:r>
              <a:rPr lang="en-US" sz="900">
                <a:solidFill>
                  <a:srgbClr val="1C2526"/>
                </a:solidFill>
                <a:latin typeface="Calibri"/>
                <a:ea typeface="Calibri"/>
                <a:cs typeface="Calibri"/>
                <a:sym typeface="Calibri"/>
              </a:rPr>
              <a:t>Requirement Analysis &amp; Tool Setup</a:t>
            </a:r>
            <a:endParaRPr sz="900">
              <a:solidFill>
                <a:schemeClr val="dk1"/>
              </a:solidFill>
              <a:latin typeface="Calibri"/>
              <a:ea typeface="Calibri"/>
              <a:cs typeface="Calibri"/>
              <a:sym typeface="Calibri"/>
            </a:endParaRPr>
          </a:p>
        </p:txBody>
      </p:sp>
      <p:sp>
        <p:nvSpPr>
          <p:cNvPr id="523" name="Google Shape;523;p15"/>
          <p:cNvSpPr/>
          <p:nvPr/>
        </p:nvSpPr>
        <p:spPr>
          <a:xfrm>
            <a:off x="3474720" y="2130552"/>
            <a:ext cx="8229600" cy="425196"/>
          </a:xfrm>
          <a:prstGeom prst="rect">
            <a:avLst/>
          </a:prstGeom>
          <a:solidFill>
            <a:srgbClr val="E8F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4" name="Google Shape;524;p15"/>
          <p:cNvCxnSpPr/>
          <p:nvPr/>
        </p:nvCxnSpPr>
        <p:spPr>
          <a:xfrm>
            <a:off x="34747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25" name="Google Shape;525;p15"/>
          <p:cNvCxnSpPr/>
          <p:nvPr/>
        </p:nvCxnSpPr>
        <p:spPr>
          <a:xfrm>
            <a:off x="41605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26" name="Google Shape;526;p15"/>
          <p:cNvCxnSpPr/>
          <p:nvPr/>
        </p:nvCxnSpPr>
        <p:spPr>
          <a:xfrm>
            <a:off x="48463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27" name="Google Shape;527;p15"/>
          <p:cNvCxnSpPr/>
          <p:nvPr/>
        </p:nvCxnSpPr>
        <p:spPr>
          <a:xfrm>
            <a:off x="55321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28" name="Google Shape;528;p15"/>
          <p:cNvCxnSpPr/>
          <p:nvPr/>
        </p:nvCxnSpPr>
        <p:spPr>
          <a:xfrm>
            <a:off x="62179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29" name="Google Shape;529;p15"/>
          <p:cNvCxnSpPr/>
          <p:nvPr/>
        </p:nvCxnSpPr>
        <p:spPr>
          <a:xfrm>
            <a:off x="69037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30" name="Google Shape;530;p15"/>
          <p:cNvCxnSpPr/>
          <p:nvPr/>
        </p:nvCxnSpPr>
        <p:spPr>
          <a:xfrm>
            <a:off x="75895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31" name="Google Shape;531;p15"/>
          <p:cNvCxnSpPr/>
          <p:nvPr/>
        </p:nvCxnSpPr>
        <p:spPr>
          <a:xfrm>
            <a:off x="82753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32" name="Google Shape;532;p15"/>
          <p:cNvCxnSpPr/>
          <p:nvPr/>
        </p:nvCxnSpPr>
        <p:spPr>
          <a:xfrm>
            <a:off x="89611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33" name="Google Shape;533;p15"/>
          <p:cNvCxnSpPr/>
          <p:nvPr/>
        </p:nvCxnSpPr>
        <p:spPr>
          <a:xfrm>
            <a:off x="96469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34" name="Google Shape;534;p15"/>
          <p:cNvCxnSpPr/>
          <p:nvPr/>
        </p:nvCxnSpPr>
        <p:spPr>
          <a:xfrm>
            <a:off x="10332720" y="2130552"/>
            <a:ext cx="0" cy="425196"/>
          </a:xfrm>
          <a:prstGeom prst="straightConnector1">
            <a:avLst/>
          </a:prstGeom>
          <a:noFill/>
          <a:ln w="9525" cap="flat" cmpd="sng">
            <a:solidFill>
              <a:srgbClr val="D4E2DC"/>
            </a:solidFill>
            <a:prstDash val="solid"/>
            <a:round/>
            <a:headEnd type="none" w="sm" len="sm"/>
            <a:tailEnd type="none" w="sm" len="sm"/>
          </a:ln>
        </p:spPr>
      </p:cxnSp>
      <p:cxnSp>
        <p:nvCxnSpPr>
          <p:cNvPr id="535" name="Google Shape;535;p15"/>
          <p:cNvCxnSpPr/>
          <p:nvPr/>
        </p:nvCxnSpPr>
        <p:spPr>
          <a:xfrm>
            <a:off x="11018520" y="2130552"/>
            <a:ext cx="0" cy="425196"/>
          </a:xfrm>
          <a:prstGeom prst="straightConnector1">
            <a:avLst/>
          </a:prstGeom>
          <a:noFill/>
          <a:ln w="9525" cap="flat" cmpd="sng">
            <a:solidFill>
              <a:srgbClr val="D4E2DC"/>
            </a:solidFill>
            <a:prstDash val="solid"/>
            <a:round/>
            <a:headEnd type="none" w="sm" len="sm"/>
            <a:tailEnd type="none" w="sm" len="sm"/>
          </a:ln>
        </p:spPr>
      </p:cxnSp>
      <p:sp>
        <p:nvSpPr>
          <p:cNvPr id="536" name="Google Shape;536;p15"/>
          <p:cNvSpPr/>
          <p:nvPr/>
        </p:nvSpPr>
        <p:spPr>
          <a:xfrm>
            <a:off x="4187952" y="2203704"/>
            <a:ext cx="1316736" cy="278892"/>
          </a:xfrm>
          <a:prstGeom prst="roundRect">
            <a:avLst>
              <a:gd name="adj" fmla="val 11475"/>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5"/>
          <p:cNvSpPr/>
          <p:nvPr/>
        </p:nvSpPr>
        <p:spPr>
          <a:xfrm>
            <a:off x="457200" y="2555748"/>
            <a:ext cx="2907792"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900"/>
              <a:buFont typeface="Calibri"/>
              <a:buNone/>
            </a:pPr>
            <a:r>
              <a:rPr lang="en-US" sz="900">
                <a:solidFill>
                  <a:srgbClr val="1C2526"/>
                </a:solidFill>
                <a:latin typeface="Calibri"/>
                <a:ea typeface="Calibri"/>
                <a:cs typeface="Calibri"/>
                <a:sym typeface="Calibri"/>
              </a:rPr>
              <a:t>Data Collection / Dataset Preparation</a:t>
            </a:r>
            <a:endParaRPr sz="900">
              <a:solidFill>
                <a:schemeClr val="dk1"/>
              </a:solidFill>
              <a:latin typeface="Calibri"/>
              <a:ea typeface="Calibri"/>
              <a:cs typeface="Calibri"/>
              <a:sym typeface="Calibri"/>
            </a:endParaRPr>
          </a:p>
        </p:txBody>
      </p:sp>
      <p:sp>
        <p:nvSpPr>
          <p:cNvPr id="538" name="Google Shape;538;p15"/>
          <p:cNvSpPr/>
          <p:nvPr/>
        </p:nvSpPr>
        <p:spPr>
          <a:xfrm>
            <a:off x="3474720" y="2555748"/>
            <a:ext cx="8229600" cy="425196"/>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15"/>
          <p:cNvCxnSpPr/>
          <p:nvPr/>
        </p:nvCxnSpPr>
        <p:spPr>
          <a:xfrm>
            <a:off x="34747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40" name="Google Shape;540;p15"/>
          <p:cNvCxnSpPr/>
          <p:nvPr/>
        </p:nvCxnSpPr>
        <p:spPr>
          <a:xfrm>
            <a:off x="41605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41" name="Google Shape;541;p15"/>
          <p:cNvCxnSpPr/>
          <p:nvPr/>
        </p:nvCxnSpPr>
        <p:spPr>
          <a:xfrm>
            <a:off x="48463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42" name="Google Shape;542;p15"/>
          <p:cNvCxnSpPr/>
          <p:nvPr/>
        </p:nvCxnSpPr>
        <p:spPr>
          <a:xfrm>
            <a:off x="55321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43" name="Google Shape;543;p15"/>
          <p:cNvCxnSpPr/>
          <p:nvPr/>
        </p:nvCxnSpPr>
        <p:spPr>
          <a:xfrm>
            <a:off x="62179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44" name="Google Shape;544;p15"/>
          <p:cNvCxnSpPr/>
          <p:nvPr/>
        </p:nvCxnSpPr>
        <p:spPr>
          <a:xfrm>
            <a:off x="69037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45" name="Google Shape;545;p15"/>
          <p:cNvCxnSpPr/>
          <p:nvPr/>
        </p:nvCxnSpPr>
        <p:spPr>
          <a:xfrm>
            <a:off x="75895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46" name="Google Shape;546;p15"/>
          <p:cNvCxnSpPr/>
          <p:nvPr/>
        </p:nvCxnSpPr>
        <p:spPr>
          <a:xfrm>
            <a:off x="82753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47" name="Google Shape;547;p15"/>
          <p:cNvCxnSpPr/>
          <p:nvPr/>
        </p:nvCxnSpPr>
        <p:spPr>
          <a:xfrm>
            <a:off x="89611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48" name="Google Shape;548;p15"/>
          <p:cNvCxnSpPr/>
          <p:nvPr/>
        </p:nvCxnSpPr>
        <p:spPr>
          <a:xfrm>
            <a:off x="96469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49" name="Google Shape;549;p15"/>
          <p:cNvCxnSpPr/>
          <p:nvPr/>
        </p:nvCxnSpPr>
        <p:spPr>
          <a:xfrm>
            <a:off x="10332720" y="2555748"/>
            <a:ext cx="0" cy="425196"/>
          </a:xfrm>
          <a:prstGeom prst="straightConnector1">
            <a:avLst/>
          </a:prstGeom>
          <a:noFill/>
          <a:ln w="9525" cap="flat" cmpd="sng">
            <a:solidFill>
              <a:srgbClr val="D4E2DC"/>
            </a:solidFill>
            <a:prstDash val="solid"/>
            <a:round/>
            <a:headEnd type="none" w="sm" len="sm"/>
            <a:tailEnd type="none" w="sm" len="sm"/>
          </a:ln>
        </p:spPr>
      </p:cxnSp>
      <p:cxnSp>
        <p:nvCxnSpPr>
          <p:cNvPr id="550" name="Google Shape;550;p15"/>
          <p:cNvCxnSpPr/>
          <p:nvPr/>
        </p:nvCxnSpPr>
        <p:spPr>
          <a:xfrm>
            <a:off x="11018520" y="2555748"/>
            <a:ext cx="0" cy="425196"/>
          </a:xfrm>
          <a:prstGeom prst="straightConnector1">
            <a:avLst/>
          </a:prstGeom>
          <a:noFill/>
          <a:ln w="9525" cap="flat" cmpd="sng">
            <a:solidFill>
              <a:srgbClr val="D4E2DC"/>
            </a:solidFill>
            <a:prstDash val="solid"/>
            <a:round/>
            <a:headEnd type="none" w="sm" len="sm"/>
            <a:tailEnd type="none" w="sm" len="sm"/>
          </a:ln>
        </p:spPr>
      </p:cxnSp>
      <p:sp>
        <p:nvSpPr>
          <p:cNvPr id="551" name="Google Shape;551;p15"/>
          <p:cNvSpPr/>
          <p:nvPr/>
        </p:nvSpPr>
        <p:spPr>
          <a:xfrm>
            <a:off x="4873752" y="2628900"/>
            <a:ext cx="1316736" cy="278892"/>
          </a:xfrm>
          <a:prstGeom prst="roundRect">
            <a:avLst>
              <a:gd name="adj" fmla="val 11475"/>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5"/>
          <p:cNvSpPr/>
          <p:nvPr/>
        </p:nvSpPr>
        <p:spPr>
          <a:xfrm>
            <a:off x="457200" y="2980944"/>
            <a:ext cx="2907792"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900"/>
              <a:buFont typeface="Calibri"/>
              <a:buNone/>
            </a:pPr>
            <a:r>
              <a:rPr lang="en-US" sz="900">
                <a:solidFill>
                  <a:srgbClr val="1C2526"/>
                </a:solidFill>
                <a:latin typeface="Calibri"/>
                <a:ea typeface="Calibri"/>
                <a:cs typeface="Calibri"/>
                <a:sym typeface="Calibri"/>
              </a:rPr>
              <a:t>Existing System Implementation</a:t>
            </a:r>
            <a:endParaRPr sz="900">
              <a:solidFill>
                <a:schemeClr val="dk1"/>
              </a:solidFill>
              <a:latin typeface="Calibri"/>
              <a:ea typeface="Calibri"/>
              <a:cs typeface="Calibri"/>
              <a:sym typeface="Calibri"/>
            </a:endParaRPr>
          </a:p>
        </p:txBody>
      </p:sp>
      <p:sp>
        <p:nvSpPr>
          <p:cNvPr id="553" name="Google Shape;553;p15"/>
          <p:cNvSpPr/>
          <p:nvPr/>
        </p:nvSpPr>
        <p:spPr>
          <a:xfrm>
            <a:off x="3474720" y="2980944"/>
            <a:ext cx="8229600" cy="425196"/>
          </a:xfrm>
          <a:prstGeom prst="rect">
            <a:avLst/>
          </a:prstGeom>
          <a:solidFill>
            <a:srgbClr val="E8F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4" name="Google Shape;554;p15"/>
          <p:cNvCxnSpPr/>
          <p:nvPr/>
        </p:nvCxnSpPr>
        <p:spPr>
          <a:xfrm>
            <a:off x="34747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55" name="Google Shape;555;p15"/>
          <p:cNvCxnSpPr/>
          <p:nvPr/>
        </p:nvCxnSpPr>
        <p:spPr>
          <a:xfrm>
            <a:off x="41605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56" name="Google Shape;556;p15"/>
          <p:cNvCxnSpPr/>
          <p:nvPr/>
        </p:nvCxnSpPr>
        <p:spPr>
          <a:xfrm>
            <a:off x="48463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57" name="Google Shape;557;p15"/>
          <p:cNvCxnSpPr/>
          <p:nvPr/>
        </p:nvCxnSpPr>
        <p:spPr>
          <a:xfrm>
            <a:off x="55321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58" name="Google Shape;558;p15"/>
          <p:cNvCxnSpPr/>
          <p:nvPr/>
        </p:nvCxnSpPr>
        <p:spPr>
          <a:xfrm>
            <a:off x="62179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59" name="Google Shape;559;p15"/>
          <p:cNvCxnSpPr/>
          <p:nvPr/>
        </p:nvCxnSpPr>
        <p:spPr>
          <a:xfrm>
            <a:off x="69037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60" name="Google Shape;560;p15"/>
          <p:cNvCxnSpPr/>
          <p:nvPr/>
        </p:nvCxnSpPr>
        <p:spPr>
          <a:xfrm>
            <a:off x="75895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61" name="Google Shape;561;p15"/>
          <p:cNvCxnSpPr/>
          <p:nvPr/>
        </p:nvCxnSpPr>
        <p:spPr>
          <a:xfrm>
            <a:off x="82753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62" name="Google Shape;562;p15"/>
          <p:cNvCxnSpPr/>
          <p:nvPr/>
        </p:nvCxnSpPr>
        <p:spPr>
          <a:xfrm>
            <a:off x="89611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63" name="Google Shape;563;p15"/>
          <p:cNvCxnSpPr/>
          <p:nvPr/>
        </p:nvCxnSpPr>
        <p:spPr>
          <a:xfrm>
            <a:off x="96469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64" name="Google Shape;564;p15"/>
          <p:cNvCxnSpPr/>
          <p:nvPr/>
        </p:nvCxnSpPr>
        <p:spPr>
          <a:xfrm>
            <a:off x="10332720" y="2980944"/>
            <a:ext cx="0" cy="425196"/>
          </a:xfrm>
          <a:prstGeom prst="straightConnector1">
            <a:avLst/>
          </a:prstGeom>
          <a:noFill/>
          <a:ln w="9525" cap="flat" cmpd="sng">
            <a:solidFill>
              <a:srgbClr val="D4E2DC"/>
            </a:solidFill>
            <a:prstDash val="solid"/>
            <a:round/>
            <a:headEnd type="none" w="sm" len="sm"/>
            <a:tailEnd type="none" w="sm" len="sm"/>
          </a:ln>
        </p:spPr>
      </p:cxnSp>
      <p:cxnSp>
        <p:nvCxnSpPr>
          <p:cNvPr id="565" name="Google Shape;565;p15"/>
          <p:cNvCxnSpPr/>
          <p:nvPr/>
        </p:nvCxnSpPr>
        <p:spPr>
          <a:xfrm>
            <a:off x="11018520" y="2980944"/>
            <a:ext cx="0" cy="425196"/>
          </a:xfrm>
          <a:prstGeom prst="straightConnector1">
            <a:avLst/>
          </a:prstGeom>
          <a:noFill/>
          <a:ln w="9525" cap="flat" cmpd="sng">
            <a:solidFill>
              <a:srgbClr val="D4E2DC"/>
            </a:solidFill>
            <a:prstDash val="solid"/>
            <a:round/>
            <a:headEnd type="none" w="sm" len="sm"/>
            <a:tailEnd type="none" w="sm" len="sm"/>
          </a:ln>
        </p:spPr>
      </p:cxnSp>
      <p:sp>
        <p:nvSpPr>
          <p:cNvPr id="566" name="Google Shape;566;p15"/>
          <p:cNvSpPr/>
          <p:nvPr/>
        </p:nvSpPr>
        <p:spPr>
          <a:xfrm>
            <a:off x="4873752" y="3054096"/>
            <a:ext cx="2002536" cy="278892"/>
          </a:xfrm>
          <a:prstGeom prst="roundRect">
            <a:avLst>
              <a:gd name="adj" fmla="val 11475"/>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5"/>
          <p:cNvSpPr/>
          <p:nvPr/>
        </p:nvSpPr>
        <p:spPr>
          <a:xfrm>
            <a:off x="457200" y="3406140"/>
            <a:ext cx="2907792"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900"/>
              <a:buFont typeface="Calibri"/>
              <a:buNone/>
            </a:pPr>
            <a:r>
              <a:rPr lang="en-US" sz="900">
                <a:solidFill>
                  <a:srgbClr val="1C2526"/>
                </a:solidFill>
                <a:latin typeface="Calibri"/>
                <a:ea typeface="Calibri"/>
                <a:cs typeface="Calibri"/>
                <a:sym typeface="Calibri"/>
              </a:rPr>
              <a:t>Proposed System Design</a:t>
            </a:r>
            <a:endParaRPr sz="900">
              <a:solidFill>
                <a:schemeClr val="dk1"/>
              </a:solidFill>
              <a:latin typeface="Calibri"/>
              <a:ea typeface="Calibri"/>
              <a:cs typeface="Calibri"/>
              <a:sym typeface="Calibri"/>
            </a:endParaRPr>
          </a:p>
        </p:txBody>
      </p:sp>
      <p:sp>
        <p:nvSpPr>
          <p:cNvPr id="568" name="Google Shape;568;p15"/>
          <p:cNvSpPr/>
          <p:nvPr/>
        </p:nvSpPr>
        <p:spPr>
          <a:xfrm>
            <a:off x="3474720" y="3406140"/>
            <a:ext cx="8229600" cy="425196"/>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69" name="Google Shape;569;p15"/>
          <p:cNvCxnSpPr/>
          <p:nvPr/>
        </p:nvCxnSpPr>
        <p:spPr>
          <a:xfrm>
            <a:off x="34747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70" name="Google Shape;570;p15"/>
          <p:cNvCxnSpPr/>
          <p:nvPr/>
        </p:nvCxnSpPr>
        <p:spPr>
          <a:xfrm>
            <a:off x="41605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71" name="Google Shape;571;p15"/>
          <p:cNvCxnSpPr/>
          <p:nvPr/>
        </p:nvCxnSpPr>
        <p:spPr>
          <a:xfrm>
            <a:off x="48463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72" name="Google Shape;572;p15"/>
          <p:cNvCxnSpPr/>
          <p:nvPr/>
        </p:nvCxnSpPr>
        <p:spPr>
          <a:xfrm>
            <a:off x="55321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73" name="Google Shape;573;p15"/>
          <p:cNvCxnSpPr/>
          <p:nvPr/>
        </p:nvCxnSpPr>
        <p:spPr>
          <a:xfrm>
            <a:off x="62179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74" name="Google Shape;574;p15"/>
          <p:cNvCxnSpPr/>
          <p:nvPr/>
        </p:nvCxnSpPr>
        <p:spPr>
          <a:xfrm>
            <a:off x="69037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75" name="Google Shape;575;p15"/>
          <p:cNvCxnSpPr/>
          <p:nvPr/>
        </p:nvCxnSpPr>
        <p:spPr>
          <a:xfrm>
            <a:off x="75895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76" name="Google Shape;576;p15"/>
          <p:cNvCxnSpPr/>
          <p:nvPr/>
        </p:nvCxnSpPr>
        <p:spPr>
          <a:xfrm>
            <a:off x="82753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77" name="Google Shape;577;p15"/>
          <p:cNvCxnSpPr/>
          <p:nvPr/>
        </p:nvCxnSpPr>
        <p:spPr>
          <a:xfrm>
            <a:off x="89611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78" name="Google Shape;578;p15"/>
          <p:cNvCxnSpPr/>
          <p:nvPr/>
        </p:nvCxnSpPr>
        <p:spPr>
          <a:xfrm>
            <a:off x="96469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79" name="Google Shape;579;p15"/>
          <p:cNvCxnSpPr/>
          <p:nvPr/>
        </p:nvCxnSpPr>
        <p:spPr>
          <a:xfrm>
            <a:off x="10332720" y="3406140"/>
            <a:ext cx="0" cy="425196"/>
          </a:xfrm>
          <a:prstGeom prst="straightConnector1">
            <a:avLst/>
          </a:prstGeom>
          <a:noFill/>
          <a:ln w="9525" cap="flat" cmpd="sng">
            <a:solidFill>
              <a:srgbClr val="D4E2DC"/>
            </a:solidFill>
            <a:prstDash val="solid"/>
            <a:round/>
            <a:headEnd type="none" w="sm" len="sm"/>
            <a:tailEnd type="none" w="sm" len="sm"/>
          </a:ln>
        </p:spPr>
      </p:cxnSp>
      <p:cxnSp>
        <p:nvCxnSpPr>
          <p:cNvPr id="580" name="Google Shape;580;p15"/>
          <p:cNvCxnSpPr/>
          <p:nvPr/>
        </p:nvCxnSpPr>
        <p:spPr>
          <a:xfrm>
            <a:off x="11018520" y="3406140"/>
            <a:ext cx="0" cy="425196"/>
          </a:xfrm>
          <a:prstGeom prst="straightConnector1">
            <a:avLst/>
          </a:prstGeom>
          <a:noFill/>
          <a:ln w="9525" cap="flat" cmpd="sng">
            <a:solidFill>
              <a:srgbClr val="D4E2DC"/>
            </a:solidFill>
            <a:prstDash val="solid"/>
            <a:round/>
            <a:headEnd type="none" w="sm" len="sm"/>
            <a:tailEnd type="none" w="sm" len="sm"/>
          </a:ln>
        </p:spPr>
      </p:cxnSp>
      <p:sp>
        <p:nvSpPr>
          <p:cNvPr id="581" name="Google Shape;581;p15"/>
          <p:cNvSpPr/>
          <p:nvPr/>
        </p:nvSpPr>
        <p:spPr>
          <a:xfrm>
            <a:off x="5559552" y="3479292"/>
            <a:ext cx="2002536" cy="278892"/>
          </a:xfrm>
          <a:prstGeom prst="roundRect">
            <a:avLst>
              <a:gd name="adj" fmla="val 11475"/>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5"/>
          <p:cNvSpPr/>
          <p:nvPr/>
        </p:nvSpPr>
        <p:spPr>
          <a:xfrm>
            <a:off x="457200" y="3831336"/>
            <a:ext cx="2907792"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900"/>
              <a:buFont typeface="Calibri"/>
              <a:buNone/>
            </a:pPr>
            <a:r>
              <a:rPr lang="en-US" sz="900">
                <a:solidFill>
                  <a:srgbClr val="1C2526"/>
                </a:solidFill>
                <a:latin typeface="Calibri"/>
                <a:ea typeface="Calibri"/>
                <a:cs typeface="Calibri"/>
                <a:sym typeface="Calibri"/>
              </a:rPr>
              <a:t>Algorithm / Model Development</a:t>
            </a:r>
            <a:endParaRPr sz="900">
              <a:solidFill>
                <a:schemeClr val="dk1"/>
              </a:solidFill>
              <a:latin typeface="Calibri"/>
              <a:ea typeface="Calibri"/>
              <a:cs typeface="Calibri"/>
              <a:sym typeface="Calibri"/>
            </a:endParaRPr>
          </a:p>
        </p:txBody>
      </p:sp>
      <p:sp>
        <p:nvSpPr>
          <p:cNvPr id="583" name="Google Shape;583;p15"/>
          <p:cNvSpPr/>
          <p:nvPr/>
        </p:nvSpPr>
        <p:spPr>
          <a:xfrm>
            <a:off x="3474720" y="3831336"/>
            <a:ext cx="8229600" cy="425196"/>
          </a:xfrm>
          <a:prstGeom prst="rect">
            <a:avLst/>
          </a:prstGeom>
          <a:solidFill>
            <a:srgbClr val="E8F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4" name="Google Shape;584;p15"/>
          <p:cNvCxnSpPr/>
          <p:nvPr/>
        </p:nvCxnSpPr>
        <p:spPr>
          <a:xfrm>
            <a:off x="34747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85" name="Google Shape;585;p15"/>
          <p:cNvCxnSpPr/>
          <p:nvPr/>
        </p:nvCxnSpPr>
        <p:spPr>
          <a:xfrm>
            <a:off x="41605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86" name="Google Shape;586;p15"/>
          <p:cNvCxnSpPr/>
          <p:nvPr/>
        </p:nvCxnSpPr>
        <p:spPr>
          <a:xfrm>
            <a:off x="48463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87" name="Google Shape;587;p15"/>
          <p:cNvCxnSpPr/>
          <p:nvPr/>
        </p:nvCxnSpPr>
        <p:spPr>
          <a:xfrm>
            <a:off x="55321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88" name="Google Shape;588;p15"/>
          <p:cNvCxnSpPr/>
          <p:nvPr/>
        </p:nvCxnSpPr>
        <p:spPr>
          <a:xfrm>
            <a:off x="62179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89" name="Google Shape;589;p15"/>
          <p:cNvCxnSpPr/>
          <p:nvPr/>
        </p:nvCxnSpPr>
        <p:spPr>
          <a:xfrm>
            <a:off x="69037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90" name="Google Shape;590;p15"/>
          <p:cNvCxnSpPr/>
          <p:nvPr/>
        </p:nvCxnSpPr>
        <p:spPr>
          <a:xfrm>
            <a:off x="75895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91" name="Google Shape;591;p15"/>
          <p:cNvCxnSpPr/>
          <p:nvPr/>
        </p:nvCxnSpPr>
        <p:spPr>
          <a:xfrm>
            <a:off x="82753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92" name="Google Shape;592;p15"/>
          <p:cNvCxnSpPr/>
          <p:nvPr/>
        </p:nvCxnSpPr>
        <p:spPr>
          <a:xfrm>
            <a:off x="89611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93" name="Google Shape;593;p15"/>
          <p:cNvCxnSpPr/>
          <p:nvPr/>
        </p:nvCxnSpPr>
        <p:spPr>
          <a:xfrm>
            <a:off x="96469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94" name="Google Shape;594;p15"/>
          <p:cNvCxnSpPr/>
          <p:nvPr/>
        </p:nvCxnSpPr>
        <p:spPr>
          <a:xfrm>
            <a:off x="10332720" y="3831336"/>
            <a:ext cx="0" cy="425196"/>
          </a:xfrm>
          <a:prstGeom prst="straightConnector1">
            <a:avLst/>
          </a:prstGeom>
          <a:noFill/>
          <a:ln w="9525" cap="flat" cmpd="sng">
            <a:solidFill>
              <a:srgbClr val="D4E2DC"/>
            </a:solidFill>
            <a:prstDash val="solid"/>
            <a:round/>
            <a:headEnd type="none" w="sm" len="sm"/>
            <a:tailEnd type="none" w="sm" len="sm"/>
          </a:ln>
        </p:spPr>
      </p:cxnSp>
      <p:cxnSp>
        <p:nvCxnSpPr>
          <p:cNvPr id="595" name="Google Shape;595;p15"/>
          <p:cNvCxnSpPr/>
          <p:nvPr/>
        </p:nvCxnSpPr>
        <p:spPr>
          <a:xfrm>
            <a:off x="11018520" y="3831336"/>
            <a:ext cx="0" cy="425196"/>
          </a:xfrm>
          <a:prstGeom prst="straightConnector1">
            <a:avLst/>
          </a:prstGeom>
          <a:noFill/>
          <a:ln w="9525" cap="flat" cmpd="sng">
            <a:solidFill>
              <a:srgbClr val="D4E2DC"/>
            </a:solidFill>
            <a:prstDash val="solid"/>
            <a:round/>
            <a:headEnd type="none" w="sm" len="sm"/>
            <a:tailEnd type="none" w="sm" len="sm"/>
          </a:ln>
        </p:spPr>
      </p:cxnSp>
      <p:sp>
        <p:nvSpPr>
          <p:cNvPr id="596" name="Google Shape;596;p15"/>
          <p:cNvSpPr/>
          <p:nvPr/>
        </p:nvSpPr>
        <p:spPr>
          <a:xfrm>
            <a:off x="6931152" y="3904488"/>
            <a:ext cx="2002536" cy="278892"/>
          </a:xfrm>
          <a:prstGeom prst="roundRect">
            <a:avLst>
              <a:gd name="adj" fmla="val 11475"/>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5"/>
          <p:cNvSpPr/>
          <p:nvPr/>
        </p:nvSpPr>
        <p:spPr>
          <a:xfrm>
            <a:off x="457200" y="4256532"/>
            <a:ext cx="2907792"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900"/>
              <a:buFont typeface="Calibri"/>
              <a:buNone/>
            </a:pPr>
            <a:r>
              <a:rPr lang="en-US" sz="900">
                <a:solidFill>
                  <a:srgbClr val="1C2526"/>
                </a:solidFill>
                <a:latin typeface="Calibri"/>
                <a:ea typeface="Calibri"/>
                <a:cs typeface="Calibri"/>
                <a:sym typeface="Calibri"/>
              </a:rPr>
              <a:t>Implementation &amp; Testing</a:t>
            </a:r>
            <a:endParaRPr sz="900">
              <a:solidFill>
                <a:schemeClr val="dk1"/>
              </a:solidFill>
              <a:latin typeface="Calibri"/>
              <a:ea typeface="Calibri"/>
              <a:cs typeface="Calibri"/>
              <a:sym typeface="Calibri"/>
            </a:endParaRPr>
          </a:p>
        </p:txBody>
      </p:sp>
      <p:sp>
        <p:nvSpPr>
          <p:cNvPr id="598" name="Google Shape;598;p15"/>
          <p:cNvSpPr/>
          <p:nvPr/>
        </p:nvSpPr>
        <p:spPr>
          <a:xfrm>
            <a:off x="3474720" y="4256532"/>
            <a:ext cx="8229600" cy="425196"/>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9" name="Google Shape;599;p15"/>
          <p:cNvCxnSpPr/>
          <p:nvPr/>
        </p:nvCxnSpPr>
        <p:spPr>
          <a:xfrm>
            <a:off x="34747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00" name="Google Shape;600;p15"/>
          <p:cNvCxnSpPr/>
          <p:nvPr/>
        </p:nvCxnSpPr>
        <p:spPr>
          <a:xfrm>
            <a:off x="41605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01" name="Google Shape;601;p15"/>
          <p:cNvCxnSpPr/>
          <p:nvPr/>
        </p:nvCxnSpPr>
        <p:spPr>
          <a:xfrm>
            <a:off x="48463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02" name="Google Shape;602;p15"/>
          <p:cNvCxnSpPr/>
          <p:nvPr/>
        </p:nvCxnSpPr>
        <p:spPr>
          <a:xfrm>
            <a:off x="55321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03" name="Google Shape;603;p15"/>
          <p:cNvCxnSpPr/>
          <p:nvPr/>
        </p:nvCxnSpPr>
        <p:spPr>
          <a:xfrm>
            <a:off x="62179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04" name="Google Shape;604;p15"/>
          <p:cNvCxnSpPr/>
          <p:nvPr/>
        </p:nvCxnSpPr>
        <p:spPr>
          <a:xfrm>
            <a:off x="69037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05" name="Google Shape;605;p15"/>
          <p:cNvCxnSpPr/>
          <p:nvPr/>
        </p:nvCxnSpPr>
        <p:spPr>
          <a:xfrm>
            <a:off x="75895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06" name="Google Shape;606;p15"/>
          <p:cNvCxnSpPr/>
          <p:nvPr/>
        </p:nvCxnSpPr>
        <p:spPr>
          <a:xfrm>
            <a:off x="82753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07" name="Google Shape;607;p15"/>
          <p:cNvCxnSpPr/>
          <p:nvPr/>
        </p:nvCxnSpPr>
        <p:spPr>
          <a:xfrm>
            <a:off x="89611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08" name="Google Shape;608;p15"/>
          <p:cNvCxnSpPr/>
          <p:nvPr/>
        </p:nvCxnSpPr>
        <p:spPr>
          <a:xfrm>
            <a:off x="96469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09" name="Google Shape;609;p15"/>
          <p:cNvCxnSpPr/>
          <p:nvPr/>
        </p:nvCxnSpPr>
        <p:spPr>
          <a:xfrm>
            <a:off x="10332720" y="4256532"/>
            <a:ext cx="0" cy="425196"/>
          </a:xfrm>
          <a:prstGeom prst="straightConnector1">
            <a:avLst/>
          </a:prstGeom>
          <a:noFill/>
          <a:ln w="9525" cap="flat" cmpd="sng">
            <a:solidFill>
              <a:srgbClr val="D4E2DC"/>
            </a:solidFill>
            <a:prstDash val="solid"/>
            <a:round/>
            <a:headEnd type="none" w="sm" len="sm"/>
            <a:tailEnd type="none" w="sm" len="sm"/>
          </a:ln>
        </p:spPr>
      </p:cxnSp>
      <p:cxnSp>
        <p:nvCxnSpPr>
          <p:cNvPr id="610" name="Google Shape;610;p15"/>
          <p:cNvCxnSpPr/>
          <p:nvPr/>
        </p:nvCxnSpPr>
        <p:spPr>
          <a:xfrm>
            <a:off x="11018520" y="4256532"/>
            <a:ext cx="0" cy="425196"/>
          </a:xfrm>
          <a:prstGeom prst="straightConnector1">
            <a:avLst/>
          </a:prstGeom>
          <a:noFill/>
          <a:ln w="9525" cap="flat" cmpd="sng">
            <a:solidFill>
              <a:srgbClr val="D4E2DC"/>
            </a:solidFill>
            <a:prstDash val="solid"/>
            <a:round/>
            <a:headEnd type="none" w="sm" len="sm"/>
            <a:tailEnd type="none" w="sm" len="sm"/>
          </a:ln>
        </p:spPr>
      </p:cxnSp>
      <p:sp>
        <p:nvSpPr>
          <p:cNvPr id="611" name="Google Shape;611;p15"/>
          <p:cNvSpPr/>
          <p:nvPr/>
        </p:nvSpPr>
        <p:spPr>
          <a:xfrm>
            <a:off x="7616952" y="4329684"/>
            <a:ext cx="2002536" cy="278892"/>
          </a:xfrm>
          <a:prstGeom prst="roundRect">
            <a:avLst>
              <a:gd name="adj" fmla="val 11475"/>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5"/>
          <p:cNvSpPr/>
          <p:nvPr/>
        </p:nvSpPr>
        <p:spPr>
          <a:xfrm>
            <a:off x="457200" y="4681728"/>
            <a:ext cx="2907792"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900"/>
              <a:buFont typeface="Calibri"/>
              <a:buNone/>
            </a:pPr>
            <a:r>
              <a:rPr lang="en-US" sz="900">
                <a:solidFill>
                  <a:srgbClr val="1C2526"/>
                </a:solidFill>
                <a:latin typeface="Calibri"/>
                <a:ea typeface="Calibri"/>
                <a:cs typeface="Calibri"/>
                <a:sym typeface="Calibri"/>
              </a:rPr>
              <a:t>Documentation &amp; Report</a:t>
            </a:r>
            <a:endParaRPr sz="900">
              <a:solidFill>
                <a:schemeClr val="dk1"/>
              </a:solidFill>
              <a:latin typeface="Calibri"/>
              <a:ea typeface="Calibri"/>
              <a:cs typeface="Calibri"/>
              <a:sym typeface="Calibri"/>
            </a:endParaRPr>
          </a:p>
        </p:txBody>
      </p:sp>
      <p:sp>
        <p:nvSpPr>
          <p:cNvPr id="613" name="Google Shape;613;p15"/>
          <p:cNvSpPr/>
          <p:nvPr/>
        </p:nvSpPr>
        <p:spPr>
          <a:xfrm>
            <a:off x="3474720" y="4681728"/>
            <a:ext cx="8229600" cy="425196"/>
          </a:xfrm>
          <a:prstGeom prst="rect">
            <a:avLst/>
          </a:prstGeom>
          <a:solidFill>
            <a:srgbClr val="E8F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4" name="Google Shape;614;p15"/>
          <p:cNvCxnSpPr/>
          <p:nvPr/>
        </p:nvCxnSpPr>
        <p:spPr>
          <a:xfrm>
            <a:off x="34747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15" name="Google Shape;615;p15"/>
          <p:cNvCxnSpPr/>
          <p:nvPr/>
        </p:nvCxnSpPr>
        <p:spPr>
          <a:xfrm>
            <a:off x="41605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16" name="Google Shape;616;p15"/>
          <p:cNvCxnSpPr/>
          <p:nvPr/>
        </p:nvCxnSpPr>
        <p:spPr>
          <a:xfrm>
            <a:off x="48463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17" name="Google Shape;617;p15"/>
          <p:cNvCxnSpPr/>
          <p:nvPr/>
        </p:nvCxnSpPr>
        <p:spPr>
          <a:xfrm>
            <a:off x="55321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18" name="Google Shape;618;p15"/>
          <p:cNvCxnSpPr/>
          <p:nvPr/>
        </p:nvCxnSpPr>
        <p:spPr>
          <a:xfrm>
            <a:off x="62179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19" name="Google Shape;619;p15"/>
          <p:cNvCxnSpPr/>
          <p:nvPr/>
        </p:nvCxnSpPr>
        <p:spPr>
          <a:xfrm>
            <a:off x="69037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20" name="Google Shape;620;p15"/>
          <p:cNvCxnSpPr/>
          <p:nvPr/>
        </p:nvCxnSpPr>
        <p:spPr>
          <a:xfrm>
            <a:off x="75895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21" name="Google Shape;621;p15"/>
          <p:cNvCxnSpPr/>
          <p:nvPr/>
        </p:nvCxnSpPr>
        <p:spPr>
          <a:xfrm>
            <a:off x="82753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22" name="Google Shape;622;p15"/>
          <p:cNvCxnSpPr/>
          <p:nvPr/>
        </p:nvCxnSpPr>
        <p:spPr>
          <a:xfrm>
            <a:off x="89611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23" name="Google Shape;623;p15"/>
          <p:cNvCxnSpPr/>
          <p:nvPr/>
        </p:nvCxnSpPr>
        <p:spPr>
          <a:xfrm>
            <a:off x="96469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24" name="Google Shape;624;p15"/>
          <p:cNvCxnSpPr/>
          <p:nvPr/>
        </p:nvCxnSpPr>
        <p:spPr>
          <a:xfrm>
            <a:off x="10332720" y="4681728"/>
            <a:ext cx="0" cy="425196"/>
          </a:xfrm>
          <a:prstGeom prst="straightConnector1">
            <a:avLst/>
          </a:prstGeom>
          <a:noFill/>
          <a:ln w="9525" cap="flat" cmpd="sng">
            <a:solidFill>
              <a:srgbClr val="D4E2DC"/>
            </a:solidFill>
            <a:prstDash val="solid"/>
            <a:round/>
            <a:headEnd type="none" w="sm" len="sm"/>
            <a:tailEnd type="none" w="sm" len="sm"/>
          </a:ln>
        </p:spPr>
      </p:cxnSp>
      <p:cxnSp>
        <p:nvCxnSpPr>
          <p:cNvPr id="625" name="Google Shape;625;p15"/>
          <p:cNvCxnSpPr/>
          <p:nvPr/>
        </p:nvCxnSpPr>
        <p:spPr>
          <a:xfrm>
            <a:off x="11018520" y="4681728"/>
            <a:ext cx="0" cy="425196"/>
          </a:xfrm>
          <a:prstGeom prst="straightConnector1">
            <a:avLst/>
          </a:prstGeom>
          <a:noFill/>
          <a:ln w="9525" cap="flat" cmpd="sng">
            <a:solidFill>
              <a:srgbClr val="D4E2DC"/>
            </a:solidFill>
            <a:prstDash val="solid"/>
            <a:round/>
            <a:headEnd type="none" w="sm" len="sm"/>
            <a:tailEnd type="none" w="sm" len="sm"/>
          </a:ln>
        </p:spPr>
      </p:cxnSp>
      <p:sp>
        <p:nvSpPr>
          <p:cNvPr id="626" name="Google Shape;626;p15"/>
          <p:cNvSpPr/>
          <p:nvPr/>
        </p:nvSpPr>
        <p:spPr>
          <a:xfrm>
            <a:off x="8988552" y="4754880"/>
            <a:ext cx="2002536" cy="278892"/>
          </a:xfrm>
          <a:prstGeom prst="roundRect">
            <a:avLst>
              <a:gd name="adj" fmla="val 11475"/>
            </a:avLst>
          </a:prstGeom>
          <a:solidFill>
            <a:srgbClr val="1F4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5"/>
          <p:cNvSpPr/>
          <p:nvPr/>
        </p:nvSpPr>
        <p:spPr>
          <a:xfrm>
            <a:off x="457200" y="5106924"/>
            <a:ext cx="2907792"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2526"/>
              </a:buClr>
              <a:buSzPts val="900"/>
              <a:buFont typeface="Calibri"/>
              <a:buNone/>
            </a:pPr>
            <a:r>
              <a:rPr lang="en-US" sz="900">
                <a:solidFill>
                  <a:srgbClr val="1C2526"/>
                </a:solidFill>
                <a:latin typeface="Calibri"/>
                <a:ea typeface="Calibri"/>
                <a:cs typeface="Calibri"/>
                <a:sym typeface="Calibri"/>
              </a:rPr>
              <a:t>Review Preparation</a:t>
            </a:r>
            <a:endParaRPr sz="900">
              <a:solidFill>
                <a:schemeClr val="dk1"/>
              </a:solidFill>
              <a:latin typeface="Calibri"/>
              <a:ea typeface="Calibri"/>
              <a:cs typeface="Calibri"/>
              <a:sym typeface="Calibri"/>
            </a:endParaRPr>
          </a:p>
        </p:txBody>
      </p:sp>
      <p:sp>
        <p:nvSpPr>
          <p:cNvPr id="628" name="Google Shape;628;p15"/>
          <p:cNvSpPr/>
          <p:nvPr/>
        </p:nvSpPr>
        <p:spPr>
          <a:xfrm>
            <a:off x="3474720" y="5106924"/>
            <a:ext cx="8229600" cy="425196"/>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9" name="Google Shape;629;p15"/>
          <p:cNvCxnSpPr/>
          <p:nvPr/>
        </p:nvCxnSpPr>
        <p:spPr>
          <a:xfrm>
            <a:off x="34747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30" name="Google Shape;630;p15"/>
          <p:cNvCxnSpPr/>
          <p:nvPr/>
        </p:nvCxnSpPr>
        <p:spPr>
          <a:xfrm>
            <a:off x="41605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31" name="Google Shape;631;p15"/>
          <p:cNvCxnSpPr/>
          <p:nvPr/>
        </p:nvCxnSpPr>
        <p:spPr>
          <a:xfrm>
            <a:off x="48463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32" name="Google Shape;632;p15"/>
          <p:cNvCxnSpPr/>
          <p:nvPr/>
        </p:nvCxnSpPr>
        <p:spPr>
          <a:xfrm>
            <a:off x="55321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33" name="Google Shape;633;p15"/>
          <p:cNvCxnSpPr/>
          <p:nvPr/>
        </p:nvCxnSpPr>
        <p:spPr>
          <a:xfrm>
            <a:off x="62179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34" name="Google Shape;634;p15"/>
          <p:cNvCxnSpPr/>
          <p:nvPr/>
        </p:nvCxnSpPr>
        <p:spPr>
          <a:xfrm>
            <a:off x="69037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35" name="Google Shape;635;p15"/>
          <p:cNvCxnSpPr/>
          <p:nvPr/>
        </p:nvCxnSpPr>
        <p:spPr>
          <a:xfrm>
            <a:off x="75895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36" name="Google Shape;636;p15"/>
          <p:cNvCxnSpPr/>
          <p:nvPr/>
        </p:nvCxnSpPr>
        <p:spPr>
          <a:xfrm>
            <a:off x="82753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37" name="Google Shape;637;p15"/>
          <p:cNvCxnSpPr/>
          <p:nvPr/>
        </p:nvCxnSpPr>
        <p:spPr>
          <a:xfrm>
            <a:off x="89611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38" name="Google Shape;638;p15"/>
          <p:cNvCxnSpPr/>
          <p:nvPr/>
        </p:nvCxnSpPr>
        <p:spPr>
          <a:xfrm>
            <a:off x="96469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39" name="Google Shape;639;p15"/>
          <p:cNvCxnSpPr/>
          <p:nvPr/>
        </p:nvCxnSpPr>
        <p:spPr>
          <a:xfrm>
            <a:off x="10332720" y="5106924"/>
            <a:ext cx="0" cy="425196"/>
          </a:xfrm>
          <a:prstGeom prst="straightConnector1">
            <a:avLst/>
          </a:prstGeom>
          <a:noFill/>
          <a:ln w="9525" cap="flat" cmpd="sng">
            <a:solidFill>
              <a:srgbClr val="D4E2DC"/>
            </a:solidFill>
            <a:prstDash val="solid"/>
            <a:round/>
            <a:headEnd type="none" w="sm" len="sm"/>
            <a:tailEnd type="none" w="sm" len="sm"/>
          </a:ln>
        </p:spPr>
      </p:cxnSp>
      <p:cxnSp>
        <p:nvCxnSpPr>
          <p:cNvPr id="640" name="Google Shape;640;p15"/>
          <p:cNvCxnSpPr/>
          <p:nvPr/>
        </p:nvCxnSpPr>
        <p:spPr>
          <a:xfrm>
            <a:off x="11018520" y="5106924"/>
            <a:ext cx="0" cy="425196"/>
          </a:xfrm>
          <a:prstGeom prst="straightConnector1">
            <a:avLst/>
          </a:prstGeom>
          <a:noFill/>
          <a:ln w="9525" cap="flat" cmpd="sng">
            <a:solidFill>
              <a:srgbClr val="D4E2DC"/>
            </a:solidFill>
            <a:prstDash val="solid"/>
            <a:round/>
            <a:headEnd type="none" w="sm" len="sm"/>
            <a:tailEnd type="none" w="sm" len="sm"/>
          </a:ln>
        </p:spPr>
      </p:cxnSp>
      <p:sp>
        <p:nvSpPr>
          <p:cNvPr id="641" name="Google Shape;641;p15"/>
          <p:cNvSpPr/>
          <p:nvPr/>
        </p:nvSpPr>
        <p:spPr>
          <a:xfrm>
            <a:off x="9674352" y="5180076"/>
            <a:ext cx="2002536" cy="278892"/>
          </a:xfrm>
          <a:prstGeom prst="roundRect">
            <a:avLst>
              <a:gd name="adj" fmla="val 11475"/>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5"/>
          <p:cNvSpPr/>
          <p:nvPr/>
        </p:nvSpPr>
        <p:spPr>
          <a:xfrm>
            <a:off x="3474720" y="1280160"/>
            <a:ext cx="8229600" cy="4251960"/>
          </a:xfrm>
          <a:prstGeom prst="rect">
            <a:avLst/>
          </a:prstGeom>
          <a:noFill/>
          <a:ln w="12700" cap="flat" cmpd="sng">
            <a:solidFill>
              <a:srgbClr val="D4E2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5"/>
          <p:cNvSpPr/>
          <p:nvPr/>
        </p:nvSpPr>
        <p:spPr>
          <a:xfrm>
            <a:off x="457200" y="5623560"/>
            <a:ext cx="11277295"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ABA2"/>
              </a:buClr>
              <a:buSzPts val="900"/>
              <a:buFont typeface="Calibri"/>
              <a:buNone/>
            </a:pPr>
            <a:endParaRPr sz="9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8"/>
        <p:cNvGrpSpPr/>
        <p:nvPr/>
      </p:nvGrpSpPr>
      <p:grpSpPr>
        <a:xfrm>
          <a:off x="0" y="0"/>
          <a:ext cx="0" cy="0"/>
          <a:chOff x="0" y="0"/>
          <a:chExt cx="0" cy="0"/>
        </a:xfrm>
      </p:grpSpPr>
      <p:sp>
        <p:nvSpPr>
          <p:cNvPr id="2" name="TextBox 1"/>
          <p:cNvSpPr txBox="1"/>
          <p:nvPr/>
        </p:nvSpPr>
        <p:spPr>
          <a:xfrm>
            <a:off x="347199" y="408388"/>
            <a:ext cx="3657600" cy="384048"/>
          </a:xfrm>
          <a:prstGeom prst="rect">
            <a:avLst/>
          </a:prstGeom>
          <a:noFill/>
        </p:spPr>
        <p:txBody>
          <a:bodyPr wrap="none" lIns="18288" tIns="18288" rIns="18288" bIns="18288" anchor="t">
            <a:spAutoFit/>
          </a:bodyPr>
          <a:lstStyle/>
          <a:p>
            <a:pPr algn="l"/>
            <a:r>
              <a:rPr sz="2500" b="1" i="0" dirty="0">
                <a:solidFill>
                  <a:srgbClr val="164D3C"/>
                </a:solidFill>
                <a:latin typeface="Georgia"/>
              </a:rPr>
              <a:t>REFERENCES</a:t>
            </a:r>
          </a:p>
        </p:txBody>
      </p:sp>
      <p:sp>
        <p:nvSpPr>
          <p:cNvPr id="4" name="Rectangle 3"/>
          <p:cNvSpPr/>
          <p:nvPr/>
        </p:nvSpPr>
        <p:spPr>
          <a:xfrm>
            <a:off x="292608" y="994519"/>
            <a:ext cx="11612880" cy="10972"/>
          </a:xfrm>
          <a:prstGeom prst="rect">
            <a:avLst/>
          </a:prstGeom>
          <a:solidFill>
            <a:srgbClr val="B48A22"/>
          </a:solidFill>
          <a:ln>
            <a:solidFill>
              <a:srgbClr val="B48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92608" y="1380744"/>
            <a:ext cx="11612880" cy="244144"/>
          </a:xfrm>
          <a:prstGeom prst="roundRect">
            <a:avLst/>
          </a:prstGeom>
          <a:solidFill>
            <a:srgbClr val="FFFFFF"/>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 y="1394460"/>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[1]</a:t>
            </a:r>
          </a:p>
        </p:txBody>
      </p:sp>
      <p:sp>
        <p:nvSpPr>
          <p:cNvPr id="10" name="TextBox 9"/>
          <p:cNvSpPr txBox="1"/>
          <p:nvPr/>
        </p:nvSpPr>
        <p:spPr>
          <a:xfrm>
            <a:off x="877824" y="1391716"/>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A. Ramesh and S. Rao, “AI-Based Career Guidance Using Student Academic Data,” International Journal of Computer Applications, vol. 178, no. 7, pp. 10–15, 2019.</a:t>
            </a:r>
          </a:p>
        </p:txBody>
      </p:sp>
      <p:sp>
        <p:nvSpPr>
          <p:cNvPr id="11" name="Rounded Rectangle 10"/>
          <p:cNvSpPr/>
          <p:nvPr/>
        </p:nvSpPr>
        <p:spPr>
          <a:xfrm>
            <a:off x="292608" y="1635861"/>
            <a:ext cx="11612880" cy="244144"/>
          </a:xfrm>
          <a:prstGeom prst="roundRect">
            <a:avLst/>
          </a:prstGeom>
          <a:solidFill>
            <a:srgbClr val="EEF6F2"/>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 y="1649577"/>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[2]</a:t>
            </a:r>
          </a:p>
        </p:txBody>
      </p:sp>
      <p:sp>
        <p:nvSpPr>
          <p:cNvPr id="13" name="TextBox 12"/>
          <p:cNvSpPr txBox="1"/>
          <p:nvPr/>
        </p:nvSpPr>
        <p:spPr>
          <a:xfrm>
            <a:off x="877824" y="1646834"/>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P. Kumar and R. Singh, “Predictive Analytics for Campus Placement Using Machine Learning,” Journal of Emerging Technologies in Learning, vol. 15, no. 6, pp. 85–92, 2020.</a:t>
            </a:r>
          </a:p>
        </p:txBody>
      </p:sp>
      <p:sp>
        <p:nvSpPr>
          <p:cNvPr id="14" name="Rounded Rectangle 13"/>
          <p:cNvSpPr/>
          <p:nvPr/>
        </p:nvSpPr>
        <p:spPr>
          <a:xfrm>
            <a:off x="292608" y="1890979"/>
            <a:ext cx="11612880" cy="244144"/>
          </a:xfrm>
          <a:prstGeom prst="roundRect">
            <a:avLst/>
          </a:prstGeom>
          <a:solidFill>
            <a:srgbClr val="FFFFFF"/>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8912" y="1904695"/>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[3]</a:t>
            </a:r>
          </a:p>
        </p:txBody>
      </p:sp>
      <p:sp>
        <p:nvSpPr>
          <p:cNvPr id="16" name="TextBox 15"/>
          <p:cNvSpPr txBox="1"/>
          <p:nvPr/>
        </p:nvSpPr>
        <p:spPr>
          <a:xfrm>
            <a:off x="877824" y="1901952"/>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V. Sharma and M. Gupta, “Natural Language Processing in Resume Screening and Job Matching,” IEEE Access, vol. 9, pp. 55678–55686, 2021.</a:t>
            </a:r>
          </a:p>
        </p:txBody>
      </p:sp>
      <p:sp>
        <p:nvSpPr>
          <p:cNvPr id="17" name="Rounded Rectangle 16"/>
          <p:cNvSpPr/>
          <p:nvPr/>
        </p:nvSpPr>
        <p:spPr>
          <a:xfrm>
            <a:off x="292608" y="2146096"/>
            <a:ext cx="11612880" cy="244144"/>
          </a:xfrm>
          <a:prstGeom prst="roundRect">
            <a:avLst/>
          </a:prstGeom>
          <a:solidFill>
            <a:srgbClr val="EEF6F2"/>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 y="2159812"/>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[4]</a:t>
            </a:r>
          </a:p>
        </p:txBody>
      </p:sp>
      <p:sp>
        <p:nvSpPr>
          <p:cNvPr id="19" name="TextBox 18"/>
          <p:cNvSpPr txBox="1"/>
          <p:nvPr/>
        </p:nvSpPr>
        <p:spPr>
          <a:xfrm>
            <a:off x="877824" y="2157069"/>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T. Desai and H. Joshi, “AI-Driven Recommendation Systems for Career Counseling in Higher Education,” Education and Information Technologies, vol. 27, pp. 8921–8938, 2022.</a:t>
            </a:r>
          </a:p>
        </p:txBody>
      </p:sp>
      <p:sp>
        <p:nvSpPr>
          <p:cNvPr id="20" name="Rounded Rectangle 19"/>
          <p:cNvSpPr/>
          <p:nvPr/>
        </p:nvSpPr>
        <p:spPr>
          <a:xfrm>
            <a:off x="292608" y="2401214"/>
            <a:ext cx="11612880" cy="244144"/>
          </a:xfrm>
          <a:prstGeom prst="roundRect">
            <a:avLst/>
          </a:prstGeom>
          <a:solidFill>
            <a:srgbClr val="FFFFFF"/>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8912" y="2414930"/>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[5]</a:t>
            </a:r>
          </a:p>
        </p:txBody>
      </p:sp>
      <p:sp>
        <p:nvSpPr>
          <p:cNvPr id="22" name="TextBox 21"/>
          <p:cNvSpPr txBox="1"/>
          <p:nvPr/>
        </p:nvSpPr>
        <p:spPr>
          <a:xfrm>
            <a:off x="877824" y="2412187"/>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S. Ali and D. Banerjee, “Ethical Challenges in AI-Based Student Placement Systems,” ACM Transactions on Computing Education, vol. 23, no. 1, pp. 1–23, 2023.</a:t>
            </a:r>
          </a:p>
        </p:txBody>
      </p:sp>
      <p:sp>
        <p:nvSpPr>
          <p:cNvPr id="23" name="Rounded Rectangle 22"/>
          <p:cNvSpPr/>
          <p:nvPr/>
        </p:nvSpPr>
        <p:spPr>
          <a:xfrm>
            <a:off x="292608" y="2656332"/>
            <a:ext cx="11612880" cy="244144"/>
          </a:xfrm>
          <a:prstGeom prst="roundRect">
            <a:avLst/>
          </a:prstGeom>
          <a:solidFill>
            <a:srgbClr val="EEF6F2"/>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8912" y="2670048"/>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[6]</a:t>
            </a:r>
          </a:p>
        </p:txBody>
      </p:sp>
      <p:sp>
        <p:nvSpPr>
          <p:cNvPr id="25" name="TextBox 24"/>
          <p:cNvSpPr txBox="1"/>
          <p:nvPr/>
        </p:nvSpPr>
        <p:spPr>
          <a:xfrm>
            <a:off x="877824" y="2667304"/>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M. Goyal and A. Kumar, “Machine Learning Algorithms for Placement Prediction,” Procedia Computer Science, vol. 172, pp. 1041–1046, 2020.</a:t>
            </a:r>
          </a:p>
        </p:txBody>
      </p:sp>
      <p:sp>
        <p:nvSpPr>
          <p:cNvPr id="26" name="Rounded Rectangle 25"/>
          <p:cNvSpPr/>
          <p:nvPr/>
        </p:nvSpPr>
        <p:spPr>
          <a:xfrm>
            <a:off x="292608" y="2911449"/>
            <a:ext cx="11612880" cy="244144"/>
          </a:xfrm>
          <a:prstGeom prst="roundRect">
            <a:avLst/>
          </a:prstGeom>
          <a:solidFill>
            <a:srgbClr val="FFFFFF"/>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8912" y="2925165"/>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[7]</a:t>
            </a:r>
          </a:p>
        </p:txBody>
      </p:sp>
      <p:sp>
        <p:nvSpPr>
          <p:cNvPr id="28" name="TextBox 27"/>
          <p:cNvSpPr txBox="1"/>
          <p:nvPr/>
        </p:nvSpPr>
        <p:spPr>
          <a:xfrm>
            <a:off x="877824" y="2922422"/>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J. Singh and R. Verma, “AI in Higher Education: Career Path Prediction Using Neural Networks,” International Journal of Advanced Computer Science and Applications, vol. 12, no. 3, pp. 111–117, 2021.</a:t>
            </a:r>
          </a:p>
        </p:txBody>
      </p:sp>
      <p:sp>
        <p:nvSpPr>
          <p:cNvPr id="29" name="Rounded Rectangle 28"/>
          <p:cNvSpPr/>
          <p:nvPr/>
        </p:nvSpPr>
        <p:spPr>
          <a:xfrm>
            <a:off x="292608" y="3166567"/>
            <a:ext cx="11612880" cy="244144"/>
          </a:xfrm>
          <a:prstGeom prst="roundRect">
            <a:avLst/>
          </a:prstGeom>
          <a:solidFill>
            <a:srgbClr val="EEF6F2"/>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8912" y="3180283"/>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[8]</a:t>
            </a:r>
          </a:p>
        </p:txBody>
      </p:sp>
      <p:sp>
        <p:nvSpPr>
          <p:cNvPr id="31" name="TextBox 30"/>
          <p:cNvSpPr txBox="1"/>
          <p:nvPr/>
        </p:nvSpPr>
        <p:spPr>
          <a:xfrm>
            <a:off x="877824" y="3177540"/>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P. Patil and M. Patil, “Resume Screening Using Natural Language Processing Techniques,” International Journal of Innovative Research in Computer and Communication Engineering, vol. 7, no. 5, pp. 2405–2410, 2019.</a:t>
            </a:r>
          </a:p>
        </p:txBody>
      </p:sp>
      <p:sp>
        <p:nvSpPr>
          <p:cNvPr id="32" name="Rounded Rectangle 31"/>
          <p:cNvSpPr/>
          <p:nvPr/>
        </p:nvSpPr>
        <p:spPr>
          <a:xfrm>
            <a:off x="292608" y="3421684"/>
            <a:ext cx="11612880" cy="244144"/>
          </a:xfrm>
          <a:prstGeom prst="roundRect">
            <a:avLst/>
          </a:prstGeom>
          <a:solidFill>
            <a:srgbClr val="FFFFFF"/>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8912" y="3435400"/>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[9]</a:t>
            </a:r>
          </a:p>
        </p:txBody>
      </p:sp>
      <p:sp>
        <p:nvSpPr>
          <p:cNvPr id="34" name="TextBox 33"/>
          <p:cNvSpPr txBox="1"/>
          <p:nvPr/>
        </p:nvSpPr>
        <p:spPr>
          <a:xfrm>
            <a:off x="877824" y="3432657"/>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Y. Zhang and L. Zhao, “A Personalized Career Recommendation System Based on Collaborative Filtering,” in Proc. IEEE International Conference on Big Data, pp. 456–462, 2018.</a:t>
            </a:r>
          </a:p>
        </p:txBody>
      </p:sp>
      <p:sp>
        <p:nvSpPr>
          <p:cNvPr id="35" name="Rounded Rectangle 34"/>
          <p:cNvSpPr/>
          <p:nvPr/>
        </p:nvSpPr>
        <p:spPr>
          <a:xfrm>
            <a:off x="292608" y="3676802"/>
            <a:ext cx="11612880" cy="244144"/>
          </a:xfrm>
          <a:prstGeom prst="roundRect">
            <a:avLst/>
          </a:prstGeom>
          <a:solidFill>
            <a:srgbClr val="EEF6F2"/>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8912" y="3690518"/>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[10]</a:t>
            </a:r>
          </a:p>
        </p:txBody>
      </p:sp>
      <p:sp>
        <p:nvSpPr>
          <p:cNvPr id="37" name="TextBox 36"/>
          <p:cNvSpPr txBox="1"/>
          <p:nvPr/>
        </p:nvSpPr>
        <p:spPr>
          <a:xfrm>
            <a:off x="877824" y="3687775"/>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S. Choudhary and K. Mehta, “Student Placement Prediction Using Supervised Learning,” in Proc. 5th International Conference on Communication and Electronics Systems (ICCES), IEEE, 2020.</a:t>
            </a:r>
          </a:p>
        </p:txBody>
      </p:sp>
      <p:sp>
        <p:nvSpPr>
          <p:cNvPr id="38" name="Rounded Rectangle 37"/>
          <p:cNvSpPr/>
          <p:nvPr/>
        </p:nvSpPr>
        <p:spPr>
          <a:xfrm>
            <a:off x="292608" y="3931920"/>
            <a:ext cx="11612880" cy="244144"/>
          </a:xfrm>
          <a:prstGeom prst="roundRect">
            <a:avLst/>
          </a:prstGeom>
          <a:solidFill>
            <a:srgbClr val="FFFFFF"/>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38912" y="3945635"/>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[11]</a:t>
            </a:r>
          </a:p>
        </p:txBody>
      </p:sp>
      <p:sp>
        <p:nvSpPr>
          <p:cNvPr id="40" name="TextBox 39"/>
          <p:cNvSpPr txBox="1"/>
          <p:nvPr/>
        </p:nvSpPr>
        <p:spPr>
          <a:xfrm>
            <a:off x="877824" y="3942892"/>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R. Jain and D. Bansal, “Predicting Career Success with AI: A Data-Driven Approach,” International Journal of Computer Sciences and Engineering, vol. 9, no. 10, pp. 130–136, 2021.</a:t>
            </a:r>
          </a:p>
        </p:txBody>
      </p:sp>
      <p:sp>
        <p:nvSpPr>
          <p:cNvPr id="41" name="Rounded Rectangle 40"/>
          <p:cNvSpPr/>
          <p:nvPr/>
        </p:nvSpPr>
        <p:spPr>
          <a:xfrm>
            <a:off x="292608" y="4187037"/>
            <a:ext cx="11612880" cy="244144"/>
          </a:xfrm>
          <a:prstGeom prst="roundRect">
            <a:avLst/>
          </a:prstGeom>
          <a:solidFill>
            <a:srgbClr val="EEF6F2"/>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8912" y="4200753"/>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[12]</a:t>
            </a:r>
          </a:p>
        </p:txBody>
      </p:sp>
      <p:sp>
        <p:nvSpPr>
          <p:cNvPr id="43" name="TextBox 42"/>
          <p:cNvSpPr txBox="1"/>
          <p:nvPr/>
        </p:nvSpPr>
        <p:spPr>
          <a:xfrm>
            <a:off x="877824" y="4198010"/>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A. Shukla and S. Prasad, “Deep Learning-Based Recommendation Engine for Student Counseling,” Procedia Computer Science, vol. 199, pp. 559–565, 2022.</a:t>
            </a:r>
          </a:p>
        </p:txBody>
      </p:sp>
      <p:sp>
        <p:nvSpPr>
          <p:cNvPr id="44" name="Rounded Rectangle 43"/>
          <p:cNvSpPr/>
          <p:nvPr/>
        </p:nvSpPr>
        <p:spPr>
          <a:xfrm>
            <a:off x="292608" y="4442155"/>
            <a:ext cx="11612880" cy="244144"/>
          </a:xfrm>
          <a:prstGeom prst="roundRect">
            <a:avLst/>
          </a:prstGeom>
          <a:solidFill>
            <a:srgbClr val="FFFFFF"/>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38912" y="4455871"/>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[13]</a:t>
            </a:r>
          </a:p>
        </p:txBody>
      </p:sp>
      <p:sp>
        <p:nvSpPr>
          <p:cNvPr id="46" name="TextBox 45"/>
          <p:cNvSpPr txBox="1"/>
          <p:nvPr/>
        </p:nvSpPr>
        <p:spPr>
          <a:xfrm>
            <a:off x="877824" y="4453128"/>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T. Mitra and A. Agarwal, “AI-Based Decision Support System for Educational and Career Counseling,” Journal of Artificial Intelligence Research Advances, vol. 6, no. 2, pp. 60–68, 2019.</a:t>
            </a:r>
          </a:p>
        </p:txBody>
      </p:sp>
      <p:sp>
        <p:nvSpPr>
          <p:cNvPr id="47" name="Rounded Rectangle 46"/>
          <p:cNvSpPr/>
          <p:nvPr/>
        </p:nvSpPr>
        <p:spPr>
          <a:xfrm>
            <a:off x="292608" y="4697272"/>
            <a:ext cx="11612880" cy="244144"/>
          </a:xfrm>
          <a:prstGeom prst="roundRect">
            <a:avLst/>
          </a:prstGeom>
          <a:solidFill>
            <a:srgbClr val="EEF6F2"/>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38912" y="4710988"/>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[14]</a:t>
            </a:r>
          </a:p>
        </p:txBody>
      </p:sp>
      <p:sp>
        <p:nvSpPr>
          <p:cNvPr id="49" name="TextBox 48"/>
          <p:cNvSpPr txBox="1"/>
          <p:nvPr/>
        </p:nvSpPr>
        <p:spPr>
          <a:xfrm>
            <a:off x="877824" y="4708245"/>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V. Varma and P. Raj, “Hybrid AI Models for Skill Gap Analysis and Role Mapping,” IEEE Transactions on Learning Technologies, vol. 13, no. 4, pp. 912–920, 2020.</a:t>
            </a:r>
          </a:p>
        </p:txBody>
      </p:sp>
      <p:sp>
        <p:nvSpPr>
          <p:cNvPr id="50" name="Rounded Rectangle 49"/>
          <p:cNvSpPr/>
          <p:nvPr/>
        </p:nvSpPr>
        <p:spPr>
          <a:xfrm>
            <a:off x="292608" y="4952390"/>
            <a:ext cx="11612880" cy="244144"/>
          </a:xfrm>
          <a:prstGeom prst="roundRect">
            <a:avLst/>
          </a:prstGeom>
          <a:solidFill>
            <a:srgbClr val="FFFFFF"/>
          </a:solidFill>
          <a:ln w="6985">
            <a:solidFill>
              <a:srgbClr val="C9D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38912" y="4966106"/>
            <a:ext cx="411480" cy="216712"/>
          </a:xfrm>
          <a:prstGeom prst="rect">
            <a:avLst/>
          </a:prstGeom>
          <a:noFill/>
        </p:spPr>
        <p:txBody>
          <a:bodyPr wrap="none" lIns="18288" tIns="18288" rIns="18288" bIns="18288" anchor="ctr">
            <a:spAutoFit/>
          </a:bodyPr>
          <a:lstStyle/>
          <a:p>
            <a:pPr algn="ctr"/>
            <a:r>
              <a:rPr sz="810" b="1" i="0">
                <a:solidFill>
                  <a:srgbClr val="26332F"/>
                </a:solidFill>
                <a:latin typeface="Aptos"/>
              </a:rPr>
              <a:t>[15]</a:t>
            </a:r>
          </a:p>
        </p:txBody>
      </p:sp>
      <p:sp>
        <p:nvSpPr>
          <p:cNvPr id="52" name="TextBox 51"/>
          <p:cNvSpPr txBox="1"/>
          <p:nvPr/>
        </p:nvSpPr>
        <p:spPr>
          <a:xfrm>
            <a:off x="877824" y="4963363"/>
            <a:ext cx="10808208" cy="222199"/>
          </a:xfrm>
          <a:prstGeom prst="rect">
            <a:avLst/>
          </a:prstGeom>
          <a:noFill/>
        </p:spPr>
        <p:txBody>
          <a:bodyPr wrap="none" lIns="18288" tIns="18288" rIns="18288" bIns="18288" anchor="ctr">
            <a:spAutoFit/>
          </a:bodyPr>
          <a:lstStyle/>
          <a:p>
            <a:pPr algn="l"/>
            <a:r>
              <a:rPr sz="700" b="0" i="0">
                <a:solidFill>
                  <a:srgbClr val="26332F"/>
                </a:solidFill>
                <a:latin typeface="Georgia"/>
              </a:rPr>
              <a:t>S. Bhattacharya and N. Srivastava, “Chatbots in Career Counseling: An AI Approach,” International Journal of Educational Technology in Higher Education, vol. 18, p. 54, 2021.</a:t>
            </a:r>
          </a:p>
        </p:txBody>
      </p:sp>
      <p:sp>
        <p:nvSpPr>
          <p:cNvPr id="55" name="TextBox 54"/>
          <p:cNvSpPr txBox="1"/>
          <p:nvPr/>
        </p:nvSpPr>
        <p:spPr>
          <a:xfrm>
            <a:off x="292608" y="6307979"/>
            <a:ext cx="501804" cy="136961"/>
          </a:xfrm>
          <a:prstGeom prst="rect">
            <a:avLst/>
          </a:prstGeom>
          <a:noFill/>
        </p:spPr>
        <p:txBody>
          <a:bodyPr wrap="none" lIns="18288" tIns="18288" rIns="18288" bIns="18288" anchor="ctr">
            <a:spAutoFit/>
          </a:bodyPr>
          <a:lstStyle/>
          <a:p>
            <a:pPr algn="l"/>
            <a:r>
              <a:rPr sz="650" b="0" i="0" dirty="0">
                <a:solidFill>
                  <a:srgbClr val="666666"/>
                </a:solidFill>
                <a:latin typeface="Aptos"/>
              </a:rPr>
              <a:t>[</a:t>
            </a:r>
            <a:r>
              <a:rPr lang="en-US" sz="650" dirty="0">
                <a:solidFill>
                  <a:srgbClr val="666666"/>
                </a:solidFill>
                <a:latin typeface="Aptos"/>
              </a:rPr>
              <a:t>30/09/2026</a:t>
            </a:r>
            <a:r>
              <a:rPr sz="650" b="0" i="0" dirty="0">
                <a:solidFill>
                  <a:srgbClr val="666666"/>
                </a:solidFill>
                <a:latin typeface="Aptos"/>
              </a:rPr>
              <a:t>]</a:t>
            </a:r>
          </a:p>
        </p:txBody>
      </p:sp>
      <p:sp>
        <p:nvSpPr>
          <p:cNvPr id="56" name="TextBox 55"/>
          <p:cNvSpPr txBox="1"/>
          <p:nvPr/>
        </p:nvSpPr>
        <p:spPr>
          <a:xfrm>
            <a:off x="4244340" y="6303308"/>
            <a:ext cx="3703320" cy="146304"/>
          </a:xfrm>
          <a:prstGeom prst="rect">
            <a:avLst/>
          </a:prstGeom>
          <a:noFill/>
        </p:spPr>
        <p:txBody>
          <a:bodyPr wrap="none" lIns="18288" tIns="18288" rIns="18288" bIns="18288" anchor="ctr">
            <a:spAutoFit/>
          </a:bodyPr>
          <a:lstStyle/>
          <a:p>
            <a:pPr algn="ctr"/>
            <a:r>
              <a:rPr sz="650" b="0" i="0">
                <a:solidFill>
                  <a:srgbClr val="333333"/>
                </a:solidFill>
                <a:latin typeface="Aptos"/>
              </a:rPr>
              <a:t>AI College Placement Intelligence Platform</a:t>
            </a:r>
          </a:p>
        </p:txBody>
      </p:sp>
      <p:sp>
        <p:nvSpPr>
          <p:cNvPr id="57" name="TextBox 56"/>
          <p:cNvSpPr txBox="1"/>
          <p:nvPr/>
        </p:nvSpPr>
        <p:spPr>
          <a:xfrm>
            <a:off x="11698224" y="6261205"/>
            <a:ext cx="201168" cy="155448"/>
          </a:xfrm>
          <a:prstGeom prst="rect">
            <a:avLst/>
          </a:prstGeom>
          <a:noFill/>
        </p:spPr>
        <p:txBody>
          <a:bodyPr wrap="none" lIns="18288" tIns="18288" rIns="18288" bIns="18288" anchor="ctr">
            <a:spAutoFit/>
          </a:bodyPr>
          <a:lstStyle/>
          <a:p>
            <a:pPr algn="r"/>
            <a:r>
              <a:rPr sz="700" b="1" i="0">
                <a:solidFill>
                  <a:srgbClr val="333333"/>
                </a:solidFill>
                <a:latin typeface="Apto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2"/>
        <p:cNvGrpSpPr/>
        <p:nvPr/>
      </p:nvGrpSpPr>
      <p:grpSpPr>
        <a:xfrm>
          <a:off x="0" y="0"/>
          <a:ext cx="0" cy="0"/>
          <a:chOff x="0" y="0"/>
          <a:chExt cx="0" cy="0"/>
        </a:xfrm>
      </p:grpSpPr>
      <p:sp>
        <p:nvSpPr>
          <p:cNvPr id="683" name="Google Shape;683;p17"/>
          <p:cNvSpPr/>
          <p:nvPr/>
        </p:nvSpPr>
        <p:spPr>
          <a:xfrm>
            <a:off x="0" y="0"/>
            <a:ext cx="12191695" cy="201168"/>
          </a:xfrm>
          <a:prstGeom prst="rect">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4" name="Google Shape;684;p17" descr="SRIT__logo.png"/>
          <p:cNvPicPr preferRelativeResize="0"/>
          <p:nvPr/>
        </p:nvPicPr>
        <p:blipFill rotWithShape="1">
          <a:blip r:embed="rId3">
            <a:alphaModFix/>
          </a:blip>
          <a:srcRect/>
          <a:stretch/>
        </p:blipFill>
        <p:spPr>
          <a:xfrm>
            <a:off x="4998568" y="1325880"/>
            <a:ext cx="822960" cy="822960"/>
          </a:xfrm>
          <a:prstGeom prst="rect">
            <a:avLst/>
          </a:prstGeom>
          <a:noFill/>
          <a:ln>
            <a:noFill/>
          </a:ln>
        </p:spPr>
      </p:pic>
      <p:pic>
        <p:nvPicPr>
          <p:cNvPr id="685" name="Google Shape;685;p17" descr="SNR_tRUST_logo.png"/>
          <p:cNvPicPr preferRelativeResize="0"/>
          <p:nvPr/>
        </p:nvPicPr>
        <p:blipFill rotWithShape="1">
          <a:blip r:embed="rId4">
            <a:alphaModFix/>
          </a:blip>
          <a:srcRect/>
          <a:stretch/>
        </p:blipFill>
        <p:spPr>
          <a:xfrm>
            <a:off x="6370168" y="1325880"/>
            <a:ext cx="822960" cy="822960"/>
          </a:xfrm>
          <a:prstGeom prst="rect">
            <a:avLst/>
          </a:prstGeom>
          <a:noFill/>
          <a:ln>
            <a:noFill/>
          </a:ln>
        </p:spPr>
      </p:pic>
      <p:sp>
        <p:nvSpPr>
          <p:cNvPr id="686" name="Google Shape;686;p17"/>
          <p:cNvSpPr/>
          <p:nvPr/>
        </p:nvSpPr>
        <p:spPr>
          <a:xfrm>
            <a:off x="5986120" y="1024128"/>
            <a:ext cx="128016" cy="128016"/>
          </a:xfrm>
          <a:prstGeom prst="ellipse">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7"/>
          <p:cNvSpPr/>
          <p:nvPr/>
        </p:nvSpPr>
        <p:spPr>
          <a:xfrm>
            <a:off x="6132424" y="1024128"/>
            <a:ext cx="128016" cy="128016"/>
          </a:xfrm>
          <a:prstGeom prst="ellipse">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7"/>
          <p:cNvSpPr/>
          <p:nvPr/>
        </p:nvSpPr>
        <p:spPr>
          <a:xfrm>
            <a:off x="6059272" y="896112"/>
            <a:ext cx="128016" cy="128016"/>
          </a:xfrm>
          <a:prstGeom prst="ellipse">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7"/>
          <p:cNvSpPr/>
          <p:nvPr/>
        </p:nvSpPr>
        <p:spPr>
          <a:xfrm>
            <a:off x="6059272" y="1152144"/>
            <a:ext cx="128016" cy="128016"/>
          </a:xfrm>
          <a:prstGeom prst="ellipse">
            <a:avLst/>
          </a:prstGeom>
          <a:solidFill>
            <a:srgbClr val="C9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7"/>
          <p:cNvSpPr/>
          <p:nvPr/>
        </p:nvSpPr>
        <p:spPr>
          <a:xfrm>
            <a:off x="0" y="2395728"/>
            <a:ext cx="12191695"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4A3A"/>
              </a:buClr>
              <a:buSzPts val="4800"/>
              <a:buFont typeface="Cambria"/>
              <a:buNone/>
            </a:pPr>
            <a:r>
              <a:rPr lang="en-US" sz="4800" b="1">
                <a:solidFill>
                  <a:srgbClr val="1F4A3A"/>
                </a:solidFill>
                <a:latin typeface="Cambria"/>
                <a:ea typeface="Cambria"/>
                <a:cs typeface="Cambria"/>
                <a:sym typeface="Cambria"/>
              </a:rPr>
              <a:t>THANK YOU</a:t>
            </a:r>
            <a:endParaRPr sz="4800">
              <a:solidFill>
                <a:schemeClr val="dk1"/>
              </a:solidFill>
              <a:latin typeface="Calibri"/>
              <a:ea typeface="Calibri"/>
              <a:cs typeface="Calibri"/>
              <a:sym typeface="Calibri"/>
            </a:endParaRPr>
          </a:p>
        </p:txBody>
      </p:sp>
      <p:sp>
        <p:nvSpPr>
          <p:cNvPr id="691" name="Google Shape;691;p17"/>
          <p:cNvSpPr/>
          <p:nvPr/>
        </p:nvSpPr>
        <p:spPr>
          <a:xfrm>
            <a:off x="0" y="3337560"/>
            <a:ext cx="12191695"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9A841"/>
              </a:buClr>
              <a:buSzPts val="1400"/>
              <a:buFont typeface="Calibri"/>
              <a:buNone/>
            </a:pPr>
            <a:r>
              <a:rPr lang="en-US" sz="1400" i="1">
                <a:solidFill>
                  <a:srgbClr val="C9A841"/>
                </a:solidFill>
                <a:latin typeface="Calibri"/>
                <a:ea typeface="Calibri"/>
                <a:cs typeface="Calibri"/>
                <a:sym typeface="Calibri"/>
              </a:rPr>
              <a:t>Questions, Comments &amp; Suggestions are Welcome</a:t>
            </a:r>
            <a:endParaRPr sz="1400">
              <a:solidFill>
                <a:schemeClr val="dk1"/>
              </a:solidFill>
              <a:latin typeface="Calibri"/>
              <a:ea typeface="Calibri"/>
              <a:cs typeface="Calibri"/>
              <a:sym typeface="Calibri"/>
            </a:endParaRPr>
          </a:p>
        </p:txBody>
      </p:sp>
      <p:cxnSp>
        <p:nvCxnSpPr>
          <p:cNvPr id="694" name="Google Shape;694;p17"/>
          <p:cNvCxnSpPr/>
          <p:nvPr/>
        </p:nvCxnSpPr>
        <p:spPr>
          <a:xfrm>
            <a:off x="457200" y="6400800"/>
            <a:ext cx="11277300" cy="0"/>
          </a:xfrm>
          <a:prstGeom prst="straightConnector1">
            <a:avLst/>
          </a:prstGeom>
          <a:noFill/>
          <a:ln w="9525" cap="flat" cmpd="sng">
            <a:solidFill>
              <a:srgbClr val="D4E2DC"/>
            </a:solidFill>
            <a:prstDash val="solid"/>
            <a:round/>
            <a:headEnd type="none" w="sm" len="sm"/>
            <a:tailEnd type="none" w="sm" len="sm"/>
          </a:ln>
        </p:spPr>
      </p:cxnSp>
      <p:sp>
        <p:nvSpPr>
          <p:cNvPr id="695" name="Google Shape;695;p17"/>
          <p:cNvSpPr/>
          <p:nvPr/>
        </p:nvSpPr>
        <p:spPr>
          <a:xfrm>
            <a:off x="457200" y="6455664"/>
            <a:ext cx="29260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B73"/>
              </a:buClr>
              <a:buSzPts val="900"/>
              <a:buFont typeface="Calibri"/>
              <a:buNone/>
            </a:pPr>
            <a:r>
              <a:rPr lang="en-US" sz="900" dirty="0">
                <a:solidFill>
                  <a:srgbClr val="6B7B73"/>
                </a:solidFill>
                <a:latin typeface="Calibri"/>
                <a:ea typeface="Calibri"/>
                <a:cs typeface="Calibri"/>
                <a:sym typeface="Calibri"/>
              </a:rPr>
              <a:t>[30/09/2026]</a:t>
            </a:r>
            <a:endParaRPr sz="900" dirty="0">
              <a:solidFill>
                <a:schemeClr val="dk1"/>
              </a:solidFill>
              <a:latin typeface="Calibri"/>
              <a:ea typeface="Calibri"/>
              <a:cs typeface="Calibri"/>
              <a:sym typeface="Calibri"/>
            </a:endParaRPr>
          </a:p>
        </p:txBody>
      </p:sp>
      <p:sp>
        <p:nvSpPr>
          <p:cNvPr id="696" name="Google Shape;696;p17"/>
          <p:cNvSpPr/>
          <p:nvPr/>
        </p:nvSpPr>
        <p:spPr>
          <a:xfrm>
            <a:off x="3474720" y="6455664"/>
            <a:ext cx="5239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B73"/>
              </a:buClr>
              <a:buSzPts val="900"/>
              <a:buFont typeface="Calibri"/>
              <a:buNone/>
            </a:pPr>
            <a:r>
              <a:rPr lang="en-US" sz="900">
                <a:solidFill>
                  <a:schemeClr val="dk1"/>
                </a:solidFill>
                <a:latin typeface="Calibri"/>
                <a:ea typeface="Calibri"/>
                <a:cs typeface="Calibri"/>
                <a:sym typeface="Calibri"/>
              </a:rPr>
              <a:t>AI College Placement Intelligence Platform</a:t>
            </a:r>
            <a:endParaRPr sz="900">
              <a:solidFill>
                <a:schemeClr val="dk1"/>
              </a:solidFill>
              <a:latin typeface="Calibri"/>
              <a:ea typeface="Calibri"/>
              <a:cs typeface="Calibri"/>
              <a:sym typeface="Calibri"/>
            </a:endParaRPr>
          </a:p>
        </p:txBody>
      </p:sp>
      <p:sp>
        <p:nvSpPr>
          <p:cNvPr id="697" name="Google Shape;697;p17"/>
          <p:cNvSpPr/>
          <p:nvPr/>
        </p:nvSpPr>
        <p:spPr>
          <a:xfrm>
            <a:off x="11277295" y="6455664"/>
            <a:ext cx="45720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4A3A"/>
              </a:buClr>
              <a:buSzPts val="900"/>
              <a:buFont typeface="Calibri"/>
              <a:buNone/>
            </a:pPr>
            <a:r>
              <a:rPr lang="en-US" sz="900" b="1">
                <a:solidFill>
                  <a:srgbClr val="1F4A3A"/>
                </a:solidFill>
                <a:latin typeface="Calibri"/>
                <a:ea typeface="Calibri"/>
                <a:cs typeface="Calibri"/>
                <a:sym typeface="Calibri"/>
              </a:rPr>
              <a:t>15</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3058</Words>
  <Application>Microsoft Office PowerPoint</Application>
  <PresentationFormat>Widescreen</PresentationFormat>
  <Paragraphs>397</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Cambria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Leenasri</dc:creator>
  <cp:lastModifiedBy>Loga Dharinish</cp:lastModifiedBy>
  <cp:revision>6</cp:revision>
  <dcterms:modified xsi:type="dcterms:W3CDTF">2026-10-06T06:18:17Z</dcterms:modified>
</cp:coreProperties>
</file>